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0–2 min: hlasování. Kde dnes držíte paměť: historie, summary, SQL, vektory, graf? Vyberte jednu zkušenost účastníka.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2–4 min: ukažte cestu událost → zápis → index → retrieval → prompt. V našem měření počítáme UTF‑8 bajty, nikoli tokeny. KV cache je jiná vrstva optimalizace.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4–6 min: preference uživatele patří do stavu, incident do epizody, závislost do vztahu. Stejný záznam lze indexovat několika způsoby. Procedurální paměť = ověřené postupy/runbooky; sémantická = fakta; epizodická = události.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6–8 min: dejte 30 sekund ve dvojicích. Jde o realistické, ale syntetické scénáře, nikoli záznamy skutečného incidentu. Každý typ má osm variant.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8–10 min: ukažte diagram svc-0 → db-0 → team-0. Druhá hrana neobsahuje svc-0; textová podobnost nemá důvod ji vrátit. GraphRAG je širší rodina postupů, ne synonymum pro každý graf.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10–15 min: A 90 s, B 90 s, skutečný kód 2 min (source-demo.html); C volitelně po meetingu. U B ukažte očekávané ID i chybějící ID. C není kompletní temporal engine: aktuální stav je ručně materializovaný. Nezavádějte žádné API klíče, vše běží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15–17 min: celé tělo textu je vraceno, žádné ořezávání do stejného budgetu. full má neomezený kontext. Dotazy sdílejí šablony: 24 není 24 nezávislých problémů. Latence neobsahuje LLM, síť, ingest ani klasifikaci dotazu.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17–19 min: ukažte graf a důkazy. Hybrid vrací asi o 96 % méně bajtů než full, ale data i routování jsou idealizované. Čísla nepřenášet na produkční vector DB / graph DB. Grafové cesty jsou dictionary lookup, vektory sparse exact cosine, ne ANN.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19–21 min: před odhalením tipněte, zda k=8 opraví B. Všechny hodnoty jsou skutečně změřené nad stejnými daty. Zvyšování k není náhradou za návaznost vztahů a časové filtry.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21–24 min: v našem hybridu známe intent a entity ze zadání. V produkci změřte chyby routeru, extrakce i entity resolution; graf nevymyslí chybějící hranu. Aktualizace vlastníka má uzavřít valid_to starého tvrzení, zachovat audit a invalidovat cache.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24–27 min: 2 min práce + 1 min dvě odpovědi. Očekávané řešení: preference přesný stav, incidenty epizody, vlastnictví verzované vztahy/stav. Test: historický vlastník k datu, nezáměnné identifikátory, konflikt zdrojů, tenant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27–30 min: 2 min otázky, 1 min závěr. Vyberte 20 skutečných dotazů vašeho týmu a porovnejte na stejném token budgetu: lexical, neural, SQL, graph a hybrid. Předem definujte gold, validitu, abstenci a náklady. Na 30 min skončete.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A9BBD6"/>
                </a:solidFill>
                <a:latin typeface="DejaVu Sans"/>
              </a:defRPr>
            </a:pPr>
            <a:r>
              <a:t>LLM MEMORY LAB · 01/12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>
                <a:solidFill>
                  <a:srgbClr val="F0F4FF"/>
                </a:solidFill>
                <a:latin typeface="DejaVu Sans"/>
              </a:defRPr>
            </a:pPr>
            <a:r>
              <a:t>Paměť agenta: co uložit, co vybavit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75DFC8"/>
                </a:solidFill>
                <a:latin typeface="DejaVu Sans"/>
              </a:defRPr>
            </a:pPr>
            <a:r>
              <a:t>30 minut • workshop pro vývojáře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Cíl: zvolit strukturu podle otázky a rozpočtu kontextu.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Budeme předpovídat výsledky, procházet důkazy a měnit top‑k.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Paměť zde = uložená data + pravidla zápisu + vybavení do promptu.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A9BBD6"/>
                </a:solidFill>
                <a:latin typeface="DejaVu Sans"/>
              </a:defRPr>
            </a:pPr>
            <a:r>
              <a:t>LLM MEMORY LAB · 02/12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>
                <a:solidFill>
                  <a:srgbClr val="F0F4FF"/>
                </a:solidFill>
                <a:latin typeface="DejaVu Sans"/>
              </a:defRPr>
            </a:pPr>
            <a:r>
              <a:t>Tři různé rozpočty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75DFC8"/>
                </a:solidFill>
                <a:latin typeface="DejaVu Sans"/>
              </a:defRPr>
            </a:pPr>
            <a:r>
              <a:t>Nezaměňujme kontext, úložiště a 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Kontext LLM: tokeny vybraných důkazů a instrukcí.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Úložiště: původní text + metadata + embeddingy / hrany.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RAM a latence: index, cache, retrieval, případně model.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Menší retrieval neznamená automaticky správnější odpověď.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A9BBD6"/>
                </a:solidFill>
                <a:latin typeface="DejaVu Sans"/>
              </a:defRPr>
            </a:pPr>
            <a:r>
              <a:t>LLM MEMORY LAB · 03/12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>
                <a:solidFill>
                  <a:srgbClr val="F0F4FF"/>
                </a:solidFill>
                <a:latin typeface="DejaVu Sans"/>
              </a:defRPr>
            </a:pPr>
            <a:r>
              <a:t>Menu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75DFC8"/>
                </a:solidFill>
                <a:latin typeface="DejaVu Sans"/>
              </a:defRPr>
            </a:pPr>
            <a:r>
              <a:t>Paměť není jen databáze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Okno historie: přesné nedávné události; staré informace vypadnou.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Summary: krátký přehled; při kompresi může zmizet podmínka či zdroj.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JSON / SQL: aktuální stav, preference, verze a přesné filtry.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Episody + vektory: podobné zkušenosti a neformální text.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Knowledge Graph: entity, typované vztahy, cesty a provenience.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A9BBD6"/>
                </a:solidFill>
                <a:latin typeface="DejaVu Sans"/>
              </a:defRPr>
            </a:pPr>
            <a:r>
              <a:t>LLM MEMORY LAB · 04/12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>
                <a:solidFill>
                  <a:srgbClr val="F0F4FF"/>
                </a:solidFill>
                <a:latin typeface="DejaVu Sans"/>
              </a:defRPr>
            </a:pPr>
            <a:r>
              <a:t>Stejná data, jiné otázky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75DFC8"/>
                </a:solidFill>
                <a:latin typeface="DejaVu Sans"/>
              </a:defRPr>
            </a:pPr>
            <a:r>
              <a:t>Tři provozní úlohy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A • Jak se řešil podobný connection-pool timeout?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B • Na čem svc-0 závisí a který tým eskalovat?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C • Kdo je aktuální vlastník svc-0 po migraci?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Tipněte si: vektor, graf, nebo přesný stav?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A9BBD6"/>
                </a:solidFill>
                <a:latin typeface="DejaVu Sans"/>
              </a:defRPr>
            </a:pPr>
            <a:r>
              <a:t>LLM MEMORY LAB · 05/12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>
                <a:solidFill>
                  <a:srgbClr val="F0F4FF"/>
                </a:solidFill>
                <a:latin typeface="DejaVu Sans"/>
              </a:defRPr>
            </a:pPr>
            <a:r>
              <a:t>Knowledge Graph × vektorový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75DFC8"/>
                </a:solidFill>
                <a:latin typeface="DejaVu Sans"/>
              </a:defRPr>
            </a:pPr>
            <a:r>
              <a:t>Podobnost není vztah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Vektor: dotaz → podobné texty → top‑k. Přirozený text, parafráze, epizody.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Graf: entita → typované hrany → sousedé / cesty. Vazby, dopady, zdroje.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Vektor potřebuje metadata pro čas, tenant a autoritu.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Graf potřebuje extrakci, sjednocení entit a správné směry hran.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Obě varianty mohou používat stejné SQL úložiště.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A9BBD6"/>
                </a:solidFill>
                <a:latin typeface="DejaVu Sans"/>
              </a:defRPr>
            </a:pPr>
            <a:r>
              <a:t>LLM MEMORY LAB · 06/12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>
                <a:solidFill>
                  <a:srgbClr val="F0F4FF"/>
                </a:solidFill>
                <a:latin typeface="DejaVu Sans"/>
              </a:defRPr>
            </a:pPr>
            <a:r>
              <a:t>Živá ukázka: najdi chybějící hranu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75DFC8"/>
                </a:solidFill>
                <a:latin typeface="DejaVu Sans"/>
              </a:defRPr>
            </a:pPr>
            <a:r>
              <a:t>Nejdřív tip, potom důkazy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Otevřete ukázku níže nebo demo.html.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Zvolte B a porovnejte vector s graph.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Zvolte A: samotný graf nemá vyhledávač epizod.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Skutečný kód: source-demo.html — import → reexport → normalize.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A9BBD6"/>
                </a:solidFill>
                <a:latin typeface="DejaVu Sans"/>
              </a:defRPr>
            </a:pPr>
            <a:r>
              <a:t>LLM MEMORY LAB · 07/12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>
                <a:solidFill>
                  <a:srgbClr val="F0F4FF"/>
                </a:solidFill>
                <a:latin typeface="DejaVu Sans"/>
              </a:defRPr>
            </a:pPr>
            <a:r>
              <a:t>Jak jsme měřili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75DFC8"/>
                </a:solidFill>
                <a:latin typeface="DejaVu Sans"/>
              </a:defRPr>
            </a:pPr>
            <a:r>
              <a:t>Retrieval, nikoli inteligenci agenta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48 dokumentů • 24 dotazů • top‑k = 2 • 50 opakování/dotaz.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Gold = ručně určená ID potřebných důkazů.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Úplnost = vráceny všechny gold dokumenty; recall = podíl gold.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Precision = podíl relevantních dokumentů mezi vrácenými.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Kontext = UTF‑8 bajty; čas = warm retrieval v procesu.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A9BBD6"/>
                </a:solidFill>
                <a:latin typeface="DejaVu Sans"/>
              </a:defRPr>
            </a:pPr>
            <a:r>
              <a:t>LLM MEMORY LAB · 08/12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>
                <a:solidFill>
                  <a:srgbClr val="F0F4FF"/>
                </a:solidFill>
                <a:latin typeface="DejaVu Sans"/>
              </a:defRPr>
            </a:pPr>
            <a:r>
              <a:t>Vlastní výsledky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75DFC8"/>
                </a:solidFill>
                <a:latin typeface="DejaVu Sans"/>
              </a:defRPr>
            </a:pPr>
            <a:r>
              <a:t>Jeden běh; reprodukovatelné v results.json</a:t>
            </a:r>
          </a:p>
        </p:txBody>
      </p:sp>
      <p:pic>
        <p:nvPicPr>
          <p:cNvPr id="5" name="Picture 4" descr="results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60320"/>
            <a:ext cx="10607040" cy="33749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A9BBD6"/>
                </a:solidFill>
                <a:latin typeface="DejaVu Sans"/>
              </a:defRPr>
            </a:pPr>
            <a:r>
              <a:t>LLM MEMORY LAB · 09/12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>
                <a:solidFill>
                  <a:srgbClr val="F0F4FF"/>
                </a:solidFill>
                <a:latin typeface="DejaVu Sans"/>
              </a:defRPr>
            </a:pPr>
            <a:r>
              <a:t>Změňme top‑k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75DFC8"/>
                </a:solidFill>
                <a:latin typeface="DejaVu Sans"/>
              </a:defRPr>
            </a:pPr>
            <a:r>
              <a:t>Více textu může pomoci, ale také zaplnit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k=1: úplné důkazy 16/24 · 98 B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k=2: úplné důkazy 16/24 · 196 B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k=4: úplné důkazy 16/24 · 407 B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k=8: úplné důkazy 16/24 · 803 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A9BBD6"/>
                </a:solidFill>
                <a:latin typeface="DejaVu Sans"/>
              </a:defRPr>
            </a:pPr>
            <a:r>
              <a:t>LLM MEMORY LAB · 10/12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>
                <a:solidFill>
                  <a:srgbClr val="F0F4FF"/>
                </a:solidFill>
                <a:latin typeface="DejaVu Sans"/>
              </a:defRPr>
            </a:pPr>
            <a:r>
              <a:t>Hybrid: oddělte text, stav a vazby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75DFC8"/>
                </a:solidFill>
                <a:latin typeface="DejaVu Sans"/>
              </a:defRPr>
            </a:pPr>
            <a:r>
              <a:t>Orchestrace je část ceny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Ulož událost se source_id, entity_id, valid_from/to a autoritou.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SQL / JSON: aktuální stav; graf: vztahy; vektory: epizody.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Dotaz → intent + entity → retrieval → deduplikace → budget.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Ke každému důkazu připoj zdroj, čas a verzi.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Při konfliktu zdrojů ukaž nejistotu, nedělej tichý overwrite.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A9BBD6"/>
                </a:solidFill>
                <a:latin typeface="DejaVu Sans"/>
              </a:defRPr>
            </a:pPr>
            <a:r>
              <a:t>LLM MEMORY LAB · 11/12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>
                <a:solidFill>
                  <a:srgbClr val="F0F4FF"/>
                </a:solidFill>
                <a:latin typeface="DejaVu Sans"/>
              </a:defRPr>
            </a:pPr>
            <a:r>
              <a:t>Cvičení: návrh paměti pro vašeho agenta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75DFC8"/>
                </a:solidFill>
                <a:latin typeface="DejaVu Sans"/>
              </a:defRPr>
            </a:pPr>
            <a:r>
              <a:t>Dvě minuty ve dvojicích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Agent si pamatuje preference, incidenty a vlastníky služeb.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Má vracet nejvýše 1 000 tokenů důkazů.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Navrhněte zápis, retrieval a chování při změně vlastníka.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Jakým dotazem zjistíte, že návrh selhal?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A9BBD6"/>
                </a:solidFill>
                <a:latin typeface="DejaVu Sans"/>
              </a:defRPr>
            </a:pPr>
            <a:r>
              <a:t>LLM MEMORY LAB · 12/12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200">
                <a:solidFill>
                  <a:srgbClr val="F0F4FF"/>
                </a:solidFill>
                <a:latin typeface="DejaVu Sans"/>
              </a:defRPr>
            </a:pPr>
            <a:r>
              <a:t>Rozhodnutí a další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75DFC8"/>
                </a:solidFill>
                <a:latin typeface="DejaVu Sans"/>
              </a:defRPr>
            </a:pPr>
            <a:r>
              <a:t>Začněte otázkami, které agent musí zvládnout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Podobné zkušenosti → textové / vektorové hledání.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Přesná fakta a aktuální hodnoty → SQL / JSON + časové filtry.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Více vazeb a dopady → graf, pokud máte kvalitní entity a hrany.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Kombinujte jen tam, kde testy ukážou přínos.</a:t>
            </a:r>
          </a:p>
          <a:p>
            <a:pPr>
              <a:spcAft>
                <a:spcPts val="1400"/>
              </a:spcAft>
              <a:defRPr sz="2300">
                <a:solidFill>
                  <a:srgbClr val="F0F4FF"/>
                </a:solidFill>
                <a:latin typeface="DejaVu Sans"/>
              </a:defRPr>
            </a:pPr>
            <a:r>
              <a:t>• Produkčně měřte odpovědi, tokeny, p95, ingest a cenu aktualizací.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