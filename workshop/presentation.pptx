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0–2 min</a:t>
            </a:r>
          </a:p>
          <a:p/>
          <a:p>
            <a:r>
              <a:t>Cíl slidu</a:t>
            </a:r>
          </a:p>
          <a:p>
            <a:r>
              <a:t>Vysvětlit princip paměti na modelové platformě podpory burzovních obchodníků.</a:t>
            </a:r>
          </a:p>
          <a:p/>
          <a:p>
            <a:r>
              <a:t>Co říct nahlas (lze přečíst)</a:t>
            </a:r>
          </a:p>
          <a:p>
            <a:r>
              <a:t>„Dnes použijeme příklady blízké naší podpůrné platformě pro obchodníky na burze. Agent má vysvětlit, odkud report čerpá data, co se změní při nové funkci a jak se dnes počítá finanční zdraví klienta. U každé otázky si ukážeme, proč nestačí najít text se správnými slovy. Potřebujeme dohledat skutečné zdroje a vazby a rozlišit platnou verzi od starého dokumentu. Nepracujeme s naším produkčním kódem ani skutečným klientem. Je to malá spustitelná modelová platforma, na které lze princip ověřit.“</a:t>
            </a:r>
          </a:p>
          <a:p/>
          <a:p>
            <a:r>
              <a:t>Co udělat</a:t>
            </a:r>
          </a:p>
          <a:p>
            <a:r>
              <a:t>Zeptejte se: „Která z těchto tří otázek nám dnes zabere nejvíc času?“ Vyžádejte jednu odpověď, nejvýše 30 sekund.</a:t>
            </a:r>
          </a:p>
          <a:p/>
          <a:p>
            <a:r>
              <a:t>Očekávaná odpověď / výsledek</a:t>
            </a:r>
          </a:p>
          <a:p>
            <a:r>
              <a:t>Libovolná z trojice je v pořádku. Připomeňte, že cílem je vysvětlit postup vybavení důkazů, ne zavádět nový produkt.</a:t>
            </a:r>
          </a:p>
          <a:p/>
          <a:p>
            <a:r>
              <a:t>Přechod na další slide</a:t>
            </a:r>
          </a:p>
          <a:p>
            <a:r>
              <a:t>Pojďme stejný princip ověřit v dalším kroku.</a:t>
            </a:r>
          </a:p>
          <a:p/>
          <a:p>
            <a:r>
              <a:t>Na co si dát pozor</a:t>
            </a:r>
          </a:p>
          <a:p>
            <a:r>
              <a:t>Nikdy neříkejte, že modelová formule je skutečný bankovní scoring nebo že graf zachycuje vaši produkci.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2–4 min</a:t>
            </a:r>
          </a:p>
          <a:p/>
          <a:p>
            <a:r>
              <a:t>Cíl slidu</a:t>
            </a:r>
          </a:p>
          <a:p>
            <a:r>
              <a:t>Zabránit záměně menšího promptu, menší databáze a menší RAM.</a:t>
            </a:r>
          </a:p>
          <a:p/>
          <a:p>
            <a:r>
              <a:t>Co říct nahlas (lze přečíst)</a:t>
            </a:r>
          </a:p>
          <a:p>
            <a:r>
              <a:t>„Představte si knihovnu. V regálech může být tisíc knih, ale pro jednu odpověď otevřeme jen několik stránek. Regály odpovídají úložišti a vybrané stránky kontextu modelu. Vytvořit index nám pomůže stránky najít, ale index sám zabere další místo. Proto graf ani vektorová databáze automaticky nezmenšují celou paměť systému. Často šetří hlavně to, co předáváme modelu. Token je jednotka textu používaná modelem, přibližně část slova. My zde počítáme bajty textu: snadno je změříme, ale nejsou totéž co tokeny.“</a:t>
            </a:r>
          </a:p>
          <a:p/>
          <a:p>
            <a:r>
              <a:t>Co udělat</a:t>
            </a:r>
          </a:p>
          <a:p>
            <a:r>
              <a:t>Ukažte postup „uložené zdroje → vyhledání → několik důkazů → model“. Zeptejte se: „Když přidáme index, musí se zmenšit databáze?“</a:t>
            </a:r>
          </a:p>
          <a:p/>
          <a:p>
            <a:r>
              <a:t>Očekávaná odpověď / výsledek</a:t>
            </a:r>
          </a:p>
          <a:p>
            <a:r>
              <a:t>Ne. Index může úložiště i RAM zvětšit, přesto zmenšit vrácený kontext.</a:t>
            </a:r>
          </a:p>
          <a:p/>
          <a:p>
            <a:r>
              <a:t>Přechod na další slide</a:t>
            </a:r>
          </a:p>
          <a:p>
            <a:r>
              <a:t>„Teď se podíváme na několik způsobů, jak ty regály a kartotéku uspořádat.“</a:t>
            </a:r>
          </a:p>
          <a:p/>
          <a:p>
            <a:r>
              <a:t>Na co si dát pozor</a:t>
            </a:r>
          </a:p>
          <a:p>
            <a:r>
              <a:t>Úspora bajtů v našich výsledcích není změřená úspora RAM, tokenů ani finančních nákladů.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4–6 min</a:t>
            </a:r>
          </a:p>
          <a:p/>
          <a:p>
            <a:r>
              <a:t>Cíl slidu</a:t>
            </a:r>
          </a:p>
          <a:p>
            <a:r>
              <a:t>Ukázat, že graf a vektory nejsou jediné možnosti.</a:t>
            </a:r>
          </a:p>
          <a:p/>
          <a:p>
            <a:r>
              <a:t>Co říct nahlas (lze přečíst)</a:t>
            </a:r>
          </a:p>
          <a:p>
            <a:r>
              <a:t>„Historie je nejjednodušší: uchováme, co se stalo. Čím je delší, tím obtížněji ji celou předáváme modelu. Souhrn pomůže, ale třeba vypustí větu, že určitý postup neplatí pro produkci. Přesné nastavení, jako měna reportu, je obvykle lepší uložit do pojmenovaného pole nebo tabulky. Incident je naproti tomu příběh s příznaky a řešením, takže se hodí text. A pokud potřebujeme vědět, které služby závisejí na které databázi, pomůže explicitní síť vztahů. Nemusíme vybrat jedinou strukturu pro všechno. Jedna událost může mít textový originál i strukturované údaje.“</a:t>
            </a:r>
          </a:p>
          <a:p/>
          <a:p>
            <a:r>
              <a:t>Co udělat</a:t>
            </a:r>
          </a:p>
          <a:p>
            <a:r>
              <a:t>Požádejte jednoho účastníka, aby zařadil informaci „report klienta je v EUR“. Potom informaci „timeout jsme vyřešili omezením souběžných požadavků“.</a:t>
            </a:r>
          </a:p>
          <a:p/>
          <a:p>
            <a:r>
              <a:t>Očekávaná odpověď / výsledek</a:t>
            </a:r>
          </a:p>
          <a:p>
            <a:r>
              <a:t>Jazyk: přesný stav v JSON/SQL. Postup řešení incidentu: textová zkušenost, případně ověřený návod.</a:t>
            </a:r>
          </a:p>
          <a:p/>
          <a:p>
            <a:r>
              <a:t>Přechod na další slide</a:t>
            </a:r>
          </a:p>
          <a:p>
            <a:r>
              <a:t>„Na stejných datech si ukážeme tři otázky, které potřebují různé druhy paměti.“</a:t>
            </a:r>
          </a:p>
          <a:p/>
          <a:p>
            <a:r>
              <a:t>Na co si dát pozor</a:t>
            </a:r>
          </a:p>
          <a:p>
            <a:r>
              <a:t>Souhrn, SQL a graf mohou být stejně užitečné. Nevytvářejte dojem, že graf je automaticky nejpokročilejší správné řešení.</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6–8 min</a:t>
            </a:r>
          </a:p>
          <a:p/>
          <a:p>
            <a:r>
              <a:t>Cíl slidu</a:t>
            </a:r>
          </a:p>
          <a:p>
            <a:r>
              <a:t>Vysvětlit princip paměti na modelové platformě podpory burzovních obchodníků.</a:t>
            </a:r>
          </a:p>
          <a:p/>
          <a:p>
            <a:r>
              <a:t>Co říct nahlas (lze přečíst)</a:t>
            </a:r>
          </a:p>
          <a:p>
            <a:r>
              <a:t>„První otázka začíná výsledkem, tedy reportem, a jde zpět ke zdrojům. Druhá začíná změnou funkce a jde opačně k místům, která funkci používají. Třetí potřebuje zjistit nejen vzorec v kódu, ale i to, která verze a váhy jsou skutečně nasazené. Dokument s názvem současný výpočet může být jen návrh. Tyto otázky jsou záměrně o vazbách a platnosti. Výsledky nám proto neřeknou, jak dobře bychom našli podobný incident nebo parafrázi v dokumentech.“</a:t>
            </a:r>
          </a:p>
          <a:p/>
          <a:p>
            <a:r>
              <a:t>Co udělat</a:t>
            </a:r>
          </a:p>
          <a:p>
            <a:r>
              <a:t>Dejte dvojicím 30 sekund. Potom vysvětlete: report má lineage; feature má call graph; mechanismus má deployment registry a kód. Call graph znamená graf, kdo kterou funkci volá.</a:t>
            </a:r>
          </a:p>
          <a:p/>
          <a:p>
            <a:r>
              <a:t>Očekávaná odpověď / výsledek</a:t>
            </a:r>
          </a:p>
          <a:p>
            <a:r>
              <a:t>A: nestačí uživatelský popis reportu. B: nestačí návrh nové feature. C: nestačí staré pravidlo ani nenasazený draft.</a:t>
            </a:r>
          </a:p>
          <a:p/>
          <a:p>
            <a:r>
              <a:t>Přechod na další slide</a:t>
            </a:r>
          </a:p>
          <a:p>
            <a:r>
              <a:t>Pojďme stejný princip ověřit v dalším kroku.</a:t>
            </a:r>
          </a:p>
          <a:p/>
          <a:p>
            <a:r>
              <a:t>Na co si dát pozor</a:t>
            </a:r>
          </a:p>
          <a:p>
            <a:r>
              <a:t>Tři otázky nejsou reprezentativní test všech možností paměti. Záměrně odpovídají potřebám podpůrné platformy.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8–10 min</a:t>
            </a:r>
          </a:p>
          <a:p/>
          <a:p>
            <a:r>
              <a:t>Cíl slidu</a:t>
            </a:r>
          </a:p>
          <a:p>
            <a:r>
              <a:t>Vysvětlit princip paměti na modelové platformě podpory burzovních obchodníků.</a:t>
            </a:r>
          </a:p>
          <a:p/>
          <a:p>
            <a:r>
              <a:t>Co říct nahlas (lze přečíst)</a:t>
            </a:r>
          </a:p>
          <a:p>
            <a:r>
              <a:t>„Vlevo je textový vyhledávač. Najde například popis reportu, protože se velmi podobá otázce. To nám pomůže se zorientovat, ale ještě z toho nevíme, odkud přichází každé číslo. Vpravo je graf vytvořený ze skutečných volání v našem modelovém kódu a deklarací datových zdrojů. Z reportu přejdeme k PnL a finančnímu zdraví a dál ke zdrojům. Skóre podobnosti je číslo, ne pravděpodobnost pravdivosti. Oranžový dokument není nutně chybný: prostě neposkytuje potřebný důkaz. V ukázce známe počáteční funkci předem, což je důležitá výhoda grafového postupu.“</a:t>
            </a:r>
          </a:p>
          <a:p/>
          <a:p>
            <a:r>
              <a:t>Co udělat</a:t>
            </a:r>
          </a:p>
          <a:p>
            <a:r>
              <a:t>V HTML nechte otázku A (report) a top-k 4. Klikněte Uložení, Otázka, Hledání, Důkazy. Na každý krok 15–20 sekund. Ukažte vlevo doc-weekly-report, vpravo návaznost k datovým zdrojům. V PDF/PPTX je zobrazený konečný stav.</a:t>
            </a:r>
          </a:p>
          <a:p/>
          <a:p>
            <a:r>
              <a:t>Očekávaná odpověď / výsledek</a:t>
            </a:r>
          </a:p>
          <a:p>
            <a:r>
              <a:t>Vektor@4 má 0/9 definovaných důkazů lineage; strukturovaný průchod 9/9. Popis reportu se neshoduje se seznamem kódu a zdrojů, který potřebujeme.</a:t>
            </a:r>
          </a:p>
          <a:p/>
          <a:p>
            <a:r>
              <a:t>Přechod na další slide</a:t>
            </a:r>
          </a:p>
          <a:p>
            <a:r>
              <a:t>„Teď začneme naopak od místa, které chceme změnit, a potom se podíváme na platnou verzi výpočtu.“</a:t>
            </a:r>
          </a:p>
          <a:p/>
          <a:p>
            <a:r>
              <a:t>Na co si dát pozor</a:t>
            </a:r>
          </a:p>
          <a:p>
            <a:r>
              <a:t>Vektorový baseline je TF-IDF nad českými otázkami a převážně anglickým kódem. Nejde o test neuronových embeddingů. S devíti potřebnými důkazy nemůže top-4 vytvořit úplnou sadu; tento fakt vyslovte.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10–15 min</a:t>
            </a:r>
          </a:p>
          <a:p/>
          <a:p>
            <a:r>
              <a:t>Cíl slidu</a:t>
            </a:r>
          </a:p>
          <a:p>
            <a:r>
              <a:t>Vysvětlit princip paměti na modelové platformě podpory burzovních obchodníků.</a:t>
            </a:r>
          </a:p>
          <a:p/>
          <a:p>
            <a:r>
              <a:t>Co říct nahlas (lze přečíst)</a:t>
            </a:r>
          </a:p>
          <a:p>
            <a:r>
              <a:t>„Při feature what-if margin chceme změnit výpočet maržové rezervy. Nestačí najít návrh této feature. Potřebujeme vědět, že funkci volá výpočet finančního zdraví a ten dále používá report i dashboard obchodníka. U mechanismu skóre zase vybíráme nejprve nasazenou verzi z registru. Historická v1 a budoucí návrh v3 jsou v paměti, ale nepředstavují současný stav. Nasazená v2 kombinuje likviditu, maržovou rezervu a diverzifikaci. Výsledné číslo je pouze modelová ukázka: neznáme skutečné pravidlo naší banky.“</a:t>
            </a:r>
          </a:p>
          <a:p/>
          <a:p>
            <a:r>
              <a:t>Co udělat</a:t>
            </a:r>
          </a:p>
          <a:p>
            <a:r>
              <a:t>10:00–12:00 — Otevřete bank-visual.html. Vyberte B (what-if margin), top-k 4. Nechte tipnout dvě dotčená místa. Klikněte na Hledání a Důkazy. Ukažte šipky od calculate_margin_buffer přes calculate_financial_health do reportu a dashboardu.</a:t>
            </a:r>
          </a:p>
          <a:p>
            <a:r>
              <a:t>12:00–14:00 — Vyberte C (současný mechanismus). Klikněte Otázka, Hledání, Důkazy. Vlevo ukažte historický dokument a draft. Vpravo porovnejte stav v1, nasazené v2 a nenasazené v3.</a:t>
            </a:r>
          </a:p>
          <a:p>
            <a:r>
              <a:t>14:00–15:00 — Přečtěte skóre 54,67. Řekněte, že kód byl skutečně spuštěn, ne že odpověděl LLM. Vraťte se na prezentaci. Python není potřeba spouštět během meetingu.</a:t>
            </a:r>
          </a:p>
          <a:p/>
          <a:p>
            <a:r>
              <a:t>Očekávaná odpověď / výsledek</a:t>
            </a:r>
          </a:p>
          <a:p>
            <a:r>
              <a:t>B/vector@4: 1/3 důkazů dopadu; graf: 3/3. C/vector@4: 0/6 potřebných důkazů mechanismu; registr + graf: 6/6. generate_weekly_report má PnL 460 EUR a skóre 54,67, verzi health-v2.</a:t>
            </a:r>
          </a:p>
          <a:p/>
          <a:p>
            <a:r>
              <a:t>Přechod na další slide</a:t>
            </a:r>
          </a:p>
          <a:p>
            <a:r>
              <a:t>Pojďme stejný princip ověřit v dalším kroku.</a:t>
            </a:r>
          </a:p>
          <a:p/>
          <a:p>
            <a:r>
              <a:t>Na co si dát pozor</a:t>
            </a:r>
          </a:p>
          <a:p>
            <a:r>
              <a:t>Šipky u dopadů jsou směr analýzy od změny k volajícím, opačný než původní CALLS. Stará verze i draft mohou být užitečné pro jiné otázky; pro dnešní mechanismus ale nestačí.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15–17 min</a:t>
            </a:r>
          </a:p>
          <a:p/>
          <a:p>
            <a:r>
              <a:t>Cíl slidu</a:t>
            </a:r>
          </a:p>
          <a:p>
            <a:r>
              <a:t>Vysvětlit princip paměti na modelové platformě podpory burzovních obchodníků.</a:t>
            </a:r>
          </a:p>
          <a:p/>
          <a:p>
            <a:r>
              <a:t>Co říct nahlas (lze přečíst)</a:t>
            </a:r>
          </a:p>
          <a:p>
            <a:r>
              <a:t>„Máme tři konkrétní otázky. Pro každou jsme určili, které zdroje musí odpověď doložit. U reportu je to devět důkazů lineage, u feature tři dotčená místa a u mechanismu šest zdrojů pravidla. Gold je název tohoto očekávaného seznamu. Sledujeme, zda se podařilo najít vše, a kolik textu vracíme. Strukturovaný postup prochází skutečný AST graf modelového kódu. AST je struktura programu přečtená parserem. U současného mechanismu navíc přesně filtruje registr verzí. Výběr počátečního symbolu a typu otázky máme zadaný předem.“</a:t>
            </a:r>
          </a:p>
          <a:p/>
          <a:p>
            <a:r>
              <a:t>Co udělat</a:t>
            </a:r>
          </a:p>
          <a:p>
            <a:r>
              <a:t>Ukažte příklad 1/3 u feature. Zeptejte se: „Stačí to pro seznam všech dopadů?“ Pak vysvětlete, že čas hledání se opakoval 50krát a nezahrnuje ingest ani rozpoznání otázky.</a:t>
            </a:r>
          </a:p>
          <a:p/>
          <a:p>
            <a:r>
              <a:t>Očekávaná odpověď / výsledek</a:t>
            </a:r>
          </a:p>
          <a:p>
            <a:r>
              <a:t>Nestačí. Chybí dvě používaná místa. Nalezené dokumenty ani úplná sada samy nedokazují správnou odpověď LLM.</a:t>
            </a:r>
          </a:p>
          <a:p/>
          <a:p>
            <a:r>
              <a:t>Přechod na další slide</a:t>
            </a:r>
          </a:p>
          <a:p>
            <a:r>
              <a:t>Pojďme stejný princip ověřit v dalším kroku.</a:t>
            </a:r>
          </a:p>
          <a:p/>
          <a:p>
            <a:r>
              <a:t>Na co si dát pozor</a:t>
            </a:r>
          </a:p>
          <a:p>
            <a:r>
              <a:t>Budget není stejný: top-4 versus plný průchod. Český dotaz/anglický kód znevýhodňuje slovní baseline. Výsledky nelze přenést na neural RAG, Graphify nebo produkční banku.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17–19 min</a:t>
            </a:r>
          </a:p>
          <a:p/>
          <a:p>
            <a:r>
              <a:t>Cíl slidu</a:t>
            </a:r>
          </a:p>
          <a:p>
            <a:r>
              <a:t>Přečíst skutečné výsledky a jejich omezení.</a:t>
            </a:r>
          </a:p>
          <a:p/>
          <a:p>
            <a:r>
              <a:t>Co říct nahlas (lze přečíst)</a:t>
            </a:r>
          </a:p>
          <a:p>
            <a:r>
              <a:t>„Celý archiv obsahuje všechny podklady, takže má úplnost tři ze tří, ale posílá 5 885 bajtů textu. Vektorový top-4 vrací průměrně 1 089 bajtů a pro naše tři strukturované otázky nemá úplnou sadu. Graf s registrem má úplné sady pro tři otázky a vrací průměrně 2 650 bajtů. Tedy není nejmenší: vrací i zdroje, které potřebujeme. Oproti celému archivu omezí text asi o 55 procent. To podporuje názornou myšlenku vybavení podle vazeb, ale není to obecný důkaz vítězství grafů. Úlohy jsme zvolili podle potřeb platformy a rozpočty strategií nejsou stejné.“</a:t>
            </a:r>
          </a:p>
          <a:p/>
          <a:p>
            <a:r>
              <a:t>Co udělat</a:t>
            </a:r>
          </a:p>
          <a:p>
            <a:r>
              <a:t>Ukažte vlevo úplnost, vpravo velikost textu. Porovnejte nejprve full/structure, potom vector/structure. Nečtěte drobné časy.</a:t>
            </a:r>
          </a:p>
          <a:p/>
          <a:p>
            <a:r>
              <a:t>Očekávaná odpověď / výsledek</a:t>
            </a:r>
          </a:p>
          <a:p>
            <a:r>
              <a:t>full 3/3; vector 0/3; structure 3/3. Context 5 885, 1 089 a 2 650 B. Méně textu není výhra, pokud chybí důkaz.</a:t>
            </a:r>
          </a:p>
          <a:p/>
          <a:p>
            <a:r>
              <a:t>Přechod na další slide</a:t>
            </a:r>
          </a:p>
          <a:p>
            <a:r>
              <a:t>„Které nástroje takové vazby umějí zprostředkovat agentovi?“</a:t>
            </a:r>
          </a:p>
          <a:p/>
          <a:p>
            <a:r>
              <a:t>Na co si dát pozor</a:t>
            </a:r>
          </a:p>
          <a:p>
            <a:r>
              <a:t>Důvody omezení: tři otázky, modelová data, TF-IDF, české dotazy a anglický kód, známý router/symbol, různý budget. Chyby extrakce a skutečné LLM odpovědi je potřeba měřit zvlášť.</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19–21 min</a:t>
            </a:r>
          </a:p>
          <a:p/>
          <a:p>
            <a:r>
              <a:t>Cíl slidu</a:t>
            </a:r>
          </a:p>
          <a:p>
            <a:r>
              <a:t>Představit výběr nástrojů bez potřeby znát jejich instalaci či architekturu.</a:t>
            </a:r>
          </a:p>
          <a:p/>
          <a:p>
            <a:r>
              <a:t>Co říct nahlas (lze přečíst)</a:t>
            </a:r>
          </a:p>
          <a:p>
            <a:r>
              <a:t>„Názvy nástrojů berte jako kandidáty pro různé úlohy. Graphify a GitNexus jsou nejbližší naší ukázce dopadů what-if margin: pomáhají agentovi orientovat se ve struktuře repozitáře. Graphify zde označuje Graphify-Labs a používá grafové vybavení; GitNexus nabízí i kombinaci textových signálů. Graphiti se zaměřuje na fakta s časovou platností. Cognee a Mem0 jsou kandidáti pro paměť znalostí a interakcí, ale záleží na konkrétní verzi a nasazení. LightRAG a GraphRAG míří na otázky nad dokumenty. Jejich vlastnosti jsme ověřili v dokumentaci, tyto produkty jsme však v našem měření nespouštěli.“</a:t>
            </a:r>
          </a:p>
          <a:p/>
          <a:p>
            <a:r>
              <a:t>Co udělat</a:t>
            </a:r>
          </a:p>
          <a:p>
            <a:r>
              <a:t>Volitelně otevřete tools-comparison.html, první nástroj Graphify, druhý GitNexus. Ukažte řádky „Vhodné použití“ a „Co ověřit“. Nečtěte všech sedm nástrojů ani neinstalujte software. Při nedostatku času zůstaňte na slidu.</a:t>
            </a:r>
          </a:p>
          <a:p/>
          <a:p>
            <a:r>
              <a:t>Očekávaná odpověď / výsledek</a:t>
            </a:r>
          </a:p>
          <a:p>
            <a:r>
              <a:t>Pro dopady funkce se nejprve nabízí Graphify/GitNexus; pro časovou historii Graphiti a SQL baseline. Volba není pořadí kvality.</a:t>
            </a:r>
          </a:p>
          <a:p/>
          <a:p>
            <a:r>
              <a:t>Přechod na další slide</a:t>
            </a:r>
          </a:p>
          <a:p>
            <a:r>
              <a:t>„Ať vybereme kterýkoli nástroj, musíme navrhnout, co se při změně informace stane.“</a:t>
            </a:r>
          </a:p>
          <a:p/>
          <a:p>
            <a:r>
              <a:t>Na co si dát pozor</a:t>
            </a:r>
          </a:p>
          <a:p>
            <a:r>
              <a:t>Graphify není Graphiti. OSS je otevřená varianta softwaru; hosted Platform je spravovaná služba, jejíž vlastnosti mohou být jiné. Aktuální primární zdroje a rozdíly jsou v tools-comparison.md.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21–24 min</a:t>
            </a:r>
          </a:p>
          <a:p/>
          <a:p>
            <a:r>
              <a:t>Cíl slidu</a:t>
            </a:r>
          </a:p>
          <a:p>
            <a:r>
              <a:t>Vysvětlit princip paměti na modelové platformě podpory burzovních obchodníků.</a:t>
            </a:r>
          </a:p>
          <a:p/>
          <a:p>
            <a:r>
              <a:t>Co říct nahlas (lze přečíst)</a:t>
            </a:r>
          </a:p>
          <a:p>
            <a:r>
              <a:t>„Na otázku současný mechanismus nestačí odpovědět vzorcem nalezeným v dokumentaci. Musíme doložit verzi, která je nasazená k danému datu, její váhy a kód, který je používá. V modelové v2 je likvidita dostupná hotovost dělená očekávaným odtokem a potom dvěma, omezená na nula až jedna. Maržová komponenta je rezerva nad initial margin v poměru k equity, dělená půlkou, také omezená. Diverzifikace je jedna minus podíl největší pozice. Vážené komponenty vynásobíme stem. Výpočet zde slouží pro ilustraci vysvětlení původu čísla; nehodnotíme bonitu ani nepředstavujeme pravidlo naší banky.“</a:t>
            </a:r>
          </a:p>
          <a:p/>
          <a:p>
            <a:r>
              <a:t>Co udělat</a:t>
            </a:r>
          </a:p>
          <a:p>
            <a:r>
              <a:t>Ukažte registry verze v1/v2/v3, pak tři komponenty a výsledek. Pokud je formule příliš detailní, stačí číst váhy a říct, že způsob normalizace je ve zdrojovém kódu. Zeptejte se: „Co by chybělo v odpovědi, kdybychom neuvedli verzi?“</a:t>
            </a:r>
          </a:p>
          <a:p/>
          <a:p>
            <a:r>
              <a:t>Očekávaná odpověď / výsledek</a:t>
            </a:r>
          </a:p>
          <a:p>
            <a:r>
              <a:t>Nevíme, zda jsou pravidlo a váhy aktuální. 13. 10. 2026 vybere modelový registry health-v2; v3-draft není nasazený ani po svém navrženém datu.</a:t>
            </a:r>
          </a:p>
          <a:p/>
          <a:p>
            <a:r>
              <a:t>Přechod na další slide</a:t>
            </a:r>
          </a:p>
          <a:p>
            <a:r>
              <a:t>Pojďme stejný princip ověřit v dalším kroku.</a:t>
            </a:r>
          </a:p>
          <a:p/>
          <a:p>
            <a:r>
              <a:t>Na co si dát pozor</a:t>
            </a:r>
          </a:p>
          <a:p>
            <a:r>
              <a:t>Žádné produkční prahy nebo schvalovací rozhodnutí nejsou součástí modelu. Při historické otázce se mění váhy podle datové platnosti, ne podle názvu dokumentu.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24–27 min</a:t>
            </a:r>
          </a:p>
          <a:p/>
          <a:p>
            <a:r>
              <a:t>Cíl slidu</a:t>
            </a:r>
          </a:p>
          <a:p>
            <a:r>
              <a:t>Vysvětlit princip paměti na modelové platformě podpory burzovních obchodníků.</a:t>
            </a:r>
          </a:p>
          <a:p/>
          <a:p>
            <a:r>
              <a:t>Co říct nahlas (lze přečíst)</a:t>
            </a:r>
          </a:p>
          <a:p>
            <a:r>
              <a:t>„Ve dvojicích navrhněte paměť pro asistenta podpory obchodníků. Má odpovídat na tři dnešní otázky a vejít podklady do tisíce tokenů. Nevybírejte hned značku databáze. Řekněte, které důkazy potřebujete, jak se k nim dostanete a jak poznáte platnou verzi. Přidejte test, který by chybný návrh odhalil. Například nový draft nesmí změnit odpověď na současný mechanismus. Máte dvě minuty, potom uslyšíme dvě třicetisekundové odpovědi.“</a:t>
            </a:r>
          </a:p>
          <a:p/>
          <a:p>
            <a:r>
              <a:t>Co udělat</a:t>
            </a:r>
          </a:p>
          <a:p>
            <a:r>
              <a:t>24:00–26:00 práce dvojic, 26:00–27:00 dvě odpovědi. Při tichu nabídněte rozdělení text / graf / registry a zeptejte se na draft.</a:t>
            </a:r>
          </a:p>
          <a:p/>
          <a:p>
            <a:r>
              <a:t>Očekávaná odpověď / výsledek</a:t>
            </a:r>
          </a:p>
          <a:p>
            <a:r>
              <a:t>Lineage přes datové vazby, dopady přes volající funkce, mechanismus přes platnou verzi a kód. Text pomáhá s popisy a zkušenostmi. Přijměte SQL joiny jako strukturovanou alternativu.</a:t>
            </a:r>
          </a:p>
          <a:p/>
          <a:p>
            <a:r>
              <a:t>Přechod na další slide</a:t>
            </a:r>
          </a:p>
          <a:p>
            <a:r>
              <a:t>Pojďme stejný princip ověřit v dalším kroku.</a:t>
            </a:r>
          </a:p>
          <a:p/>
          <a:p>
            <a:r>
              <a:t>Na co si dát pozor</a:t>
            </a:r>
          </a:p>
          <a:p>
            <a:r>
              <a:t>Graf musí zachytit čerstvý commit; pro dynamické volání mohou být nutné testy. Nejde jen o výběr úložiště.</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Čas: 27–30 min</a:t>
            </a:r>
          </a:p>
          <a:p/>
          <a:p>
            <a:r>
              <a:t>Cíl slidu</a:t>
            </a:r>
          </a:p>
          <a:p>
            <a:r>
              <a:t>Uzavřít bez tvrzení, že jedna struktura řeší všechny paměťové problémy.</a:t>
            </a:r>
          </a:p>
          <a:p/>
          <a:p>
            <a:r>
              <a:t>Co říct nahlas (lze přečíst)</a:t>
            </a:r>
          </a:p>
          <a:p>
            <a:r>
              <a:t>„Dnes jsme viděli, že podobnost textu, přesná hodnota a vztah mezi objekty jsou různé potřeby. U podobného incidentu může stačit textové hledání. U verze mechanismu potřebujeme platný stav a u lineage reportu konkrétní návaznost. Kombinace může zmenšit kontext, ale přináší také práci s extrakcí, aktualizacemi a výběrem správné cesty. Proto bych jako další krok nevolil okamžitě migraci na nový nástroj. Vybral bych skutečný report, jednu feature a několik časových otázek našeho týmu, určil potřebné důkazy a na nich porovnal jednoduchou variantu s kandidáty. Při výběru se ptejme nejen, zda systém něco našel, ale zda našel to, co odpověď potřebuje.“</a:t>
            </a:r>
          </a:p>
          <a:p/>
          <a:p>
            <a:r>
              <a:t>Co udělat</a:t>
            </a:r>
          </a:p>
          <a:p>
            <a:r>
              <a:t>27:00–29:00: dvě otázky z publika, případně z připraveného FAQ. 29:00–30:00: přečtěte závěrečný odstavec a ukažte odkaz na podklady. Ve 30:00 skončete.</a:t>
            </a:r>
          </a:p>
          <a:p/>
          <a:p>
            <a:r>
              <a:t>Očekávaná odpověď / výsledek</a:t>
            </a:r>
          </a:p>
          <a:p>
            <a:r>
              <a:t>Účastníci by měli umět rozlišit tři úlohy, popsat přínos struktury a vědět, že naše výsledky mají omezený rozsah.</a:t>
            </a:r>
          </a:p>
          <a:p/>
          <a:p>
            <a:r>
              <a:t>Přechod na další slide</a:t>
            </a:r>
          </a:p>
          <a:p>
            <a:r>
              <a:t>„Podklady, zdrojový kód a měření jsou v repozitáři; detailní otázky můžeme rozebrat po meetingu.“</a:t>
            </a:r>
          </a:p>
          <a:p/>
          <a:p>
            <a:r>
              <a:t>Na co si dát pozor</a:t>
            </a:r>
          </a:p>
          <a:p>
            <a:r>
              <a:t>Na otázku, kterou neumíte zodpovědět, použijte: „Tohle jsme v ukázce neměřili; ověřme konkrétní verzi a přidejme test.“ Neimprovizujte produktové sliby.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548640" y="182880"/>
            <a:ext cx="10972800" cy="365760"/>
          </a:xfrm>
          <a:prstGeom prst="rect">
            <a:avLst/>
          </a:prstGeom>
          <a:noFill/>
        </p:spPr>
        <p:txBody>
          <a:bodyPr wrap="square">
            <a:spAutoFit/>
          </a:bodyPr>
          <a:lstStyle/>
          <a:p>
            <a:pPr>
              <a:spcAft>
                <a:spcPts val="1400"/>
              </a:spcAft>
              <a:defRPr sz="1200">
                <a:solidFill>
                  <a:srgbClr val="A9BBD6"/>
                </a:solidFill>
                <a:latin typeface="DejaVu Sans"/>
              </a:defRPr>
            </a:pPr>
            <a:r>
              <a:t>LLM MEMORY LAB · 01/12</a:t>
            </a:r>
          </a:p>
        </p:txBody>
      </p:sp>
      <p:sp>
        <p:nvSpPr>
          <p:cNvPr id="3" name="TextBox 2"/>
          <p:cNvSpPr txBox="1"/>
          <p:nvPr/>
        </p:nvSpPr>
        <p:spPr>
          <a:xfrm>
            <a:off x="548640" y="731520"/>
            <a:ext cx="10972800" cy="1005840"/>
          </a:xfrm>
          <a:prstGeom prst="rect">
            <a:avLst/>
          </a:prstGeom>
          <a:noFill/>
        </p:spPr>
        <p:txBody>
          <a:bodyPr wrap="square">
            <a:spAutoFit/>
          </a:bodyPr>
          <a:lstStyle/>
          <a:p>
            <a:pPr>
              <a:spcAft>
                <a:spcPts val="1400"/>
              </a:spcAft>
              <a:defRPr sz="3200">
                <a:solidFill>
                  <a:srgbClr val="F0F4FF"/>
                </a:solidFill>
                <a:latin typeface="DejaVu Sans"/>
              </a:defRPr>
            </a:pPr>
            <a:r>
              <a:t>Paměť agenta pro podporu obchodníků</a:t>
            </a:r>
          </a:p>
        </p:txBody>
      </p:sp>
      <p:sp>
        <p:nvSpPr>
          <p:cNvPr id="4" name="TextBox 3"/>
          <p:cNvSpPr txBox="1"/>
          <p:nvPr/>
        </p:nvSpPr>
        <p:spPr>
          <a:xfrm>
            <a:off x="548640" y="1783080"/>
            <a:ext cx="10972800" cy="548640"/>
          </a:xfrm>
          <a:prstGeom prst="rect">
            <a:avLst/>
          </a:prstGeom>
          <a:noFill/>
        </p:spPr>
        <p:txBody>
          <a:bodyPr wrap="square">
            <a:spAutoFit/>
          </a:bodyPr>
          <a:lstStyle/>
          <a:p>
            <a:pPr>
              <a:spcAft>
                <a:spcPts val="1400"/>
              </a:spcAft>
              <a:defRPr sz="2100">
                <a:solidFill>
                  <a:srgbClr val="75DFC8"/>
                </a:solidFill>
                <a:latin typeface="DejaVu Sans"/>
              </a:defRPr>
            </a:pPr>
            <a:r>
              <a:t>30 minut · od dat reportu až k mechanismu výpočtu</a:t>
            </a:r>
          </a:p>
        </p:txBody>
      </p:sp>
      <p:sp>
        <p:nvSpPr>
          <p:cNvPr id="5" name="TextBox 4"/>
          <p:cNvSpPr txBox="1"/>
          <p:nvPr/>
        </p:nvSpPr>
        <p:spPr>
          <a:xfrm>
            <a:off x="640080" y="2560320"/>
            <a:ext cx="10972800" cy="3200400"/>
          </a:xfrm>
          <a:prstGeom prst="rect">
            <a:avLst/>
          </a:prstGeom>
          <a:noFill/>
        </p:spPr>
        <p:txBody>
          <a:bodyPr wrap="square">
            <a:spAutoFit/>
          </a:bodyPr>
          <a:lstStyle/>
          <a:p>
            <a:pPr>
              <a:spcAft>
                <a:spcPts val="1400"/>
              </a:spcAft>
              <a:defRPr sz="2000">
                <a:solidFill>
                  <a:srgbClr val="F0F4FF"/>
                </a:solidFill>
                <a:latin typeface="DejaVu Sans"/>
              </a:defRPr>
            </a:pPr>
            <a:r>
              <a:t>• Agent má vysvětlit report, dopady změny kódu a aktuální výpočet skóre.</a:t>
            </a:r>
          </a:p>
          <a:p>
            <a:pPr>
              <a:spcAft>
                <a:spcPts val="1400"/>
              </a:spcAft>
              <a:defRPr sz="2000">
                <a:solidFill>
                  <a:srgbClr val="F0F4FF"/>
                </a:solidFill>
                <a:latin typeface="DejaVu Sans"/>
              </a:defRPr>
            </a:pPr>
            <a:r>
              <a:t>• Nestačí podobný dokument: potřebujeme zdroje, vazby a správnou verzi.</a:t>
            </a:r>
          </a:p>
          <a:p>
            <a:pPr>
              <a:spcAft>
                <a:spcPts val="1400"/>
              </a:spcAft>
              <a:defRPr sz="2000">
                <a:solidFill>
                  <a:srgbClr val="F0F4FF"/>
                </a:solidFill>
                <a:latin typeface="DejaVu Sans"/>
              </a:defRPr>
            </a:pPr>
            <a:r>
              <a:t>• Ukážeme stejné otázky přes textové hledání a přes strukturovanou paměť.</a:t>
            </a:r>
          </a:p>
          <a:p>
            <a:pPr>
              <a:spcAft>
                <a:spcPts val="1400"/>
              </a:spcAft>
              <a:defRPr sz="2000">
                <a:solidFill>
                  <a:srgbClr val="F0F4FF"/>
                </a:solidFill>
                <a:latin typeface="DejaVu Sans"/>
              </a:defRPr>
            </a:pPr>
            <a:r>
              <a:t>• Platforma i klient jsou modeloví; kód a naměřené výsledky jsou přiložené.</a:t>
            </a:r>
          </a:p>
        </p:txBody>
      </p:sp>
      <p:sp>
        <p:nvSpPr>
          <p:cNvPr id="6" name="TextBox 5"/>
          <p:cNvSpPr txBox="1"/>
          <p:nvPr/>
        </p:nvSpPr>
        <p:spPr>
          <a:xfrm>
            <a:off x="640080" y="5806440"/>
            <a:ext cx="10972800" cy="868680"/>
          </a:xfrm>
          <a:prstGeom prst="rect">
            <a:avLst/>
          </a:prstGeom>
          <a:noFill/>
        </p:spPr>
        <p:txBody>
          <a:bodyPr wrap="square">
            <a:spAutoFit/>
          </a:bodyPr>
          <a:lstStyle/>
          <a:p>
            <a:pPr>
              <a:spcAft>
                <a:spcPts val="1400"/>
              </a:spcAft>
              <a:defRPr sz="1600">
                <a:solidFill>
                  <a:srgbClr val="75DFC8"/>
                </a:solidFill>
                <a:latin typeface="DejaVu Sans"/>
              </a:defRPr>
            </a:pPr>
            <a:r>
              <a:t>Tři otázky: původ dat → dopady feature → aktuální mechanismus finančního zdraví.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548640" y="182880"/>
            <a:ext cx="10972800" cy="365760"/>
          </a:xfrm>
          <a:prstGeom prst="rect">
            <a:avLst/>
          </a:prstGeom>
          <a:noFill/>
        </p:spPr>
        <p:txBody>
          <a:bodyPr wrap="square">
            <a:spAutoFit/>
          </a:bodyPr>
          <a:lstStyle/>
          <a:p>
            <a:pPr>
              <a:spcAft>
                <a:spcPts val="1400"/>
              </a:spcAft>
              <a:defRPr sz="1200">
                <a:solidFill>
                  <a:srgbClr val="A9BBD6"/>
                </a:solidFill>
                <a:latin typeface="DejaVu Sans"/>
              </a:defRPr>
            </a:pPr>
            <a:r>
              <a:t>LLM MEMORY LAB · 02/12</a:t>
            </a:r>
          </a:p>
        </p:txBody>
      </p:sp>
      <p:sp>
        <p:nvSpPr>
          <p:cNvPr id="3" name="TextBox 2"/>
          <p:cNvSpPr txBox="1"/>
          <p:nvPr/>
        </p:nvSpPr>
        <p:spPr>
          <a:xfrm>
            <a:off x="548640" y="731520"/>
            <a:ext cx="10972800" cy="1005840"/>
          </a:xfrm>
          <a:prstGeom prst="rect">
            <a:avLst/>
          </a:prstGeom>
          <a:noFill/>
        </p:spPr>
        <p:txBody>
          <a:bodyPr wrap="square">
            <a:spAutoFit/>
          </a:bodyPr>
          <a:lstStyle/>
          <a:p>
            <a:pPr>
              <a:spcAft>
                <a:spcPts val="1400"/>
              </a:spcAft>
              <a:defRPr sz="3200">
                <a:solidFill>
                  <a:srgbClr val="F0F4FF"/>
                </a:solidFill>
                <a:latin typeface="DejaVu Sans"/>
              </a:defRPr>
            </a:pPr>
            <a:r>
              <a:t>Co vlastně šetříme?</a:t>
            </a:r>
          </a:p>
        </p:txBody>
      </p:sp>
      <p:sp>
        <p:nvSpPr>
          <p:cNvPr id="4" name="TextBox 3"/>
          <p:cNvSpPr txBox="1"/>
          <p:nvPr/>
        </p:nvSpPr>
        <p:spPr>
          <a:xfrm>
            <a:off x="548640" y="1783080"/>
            <a:ext cx="10972800" cy="548640"/>
          </a:xfrm>
          <a:prstGeom prst="rect">
            <a:avLst/>
          </a:prstGeom>
          <a:noFill/>
        </p:spPr>
        <p:txBody>
          <a:bodyPr wrap="square">
            <a:spAutoFit/>
          </a:bodyPr>
          <a:lstStyle/>
          <a:p>
            <a:pPr>
              <a:spcAft>
                <a:spcPts val="1400"/>
              </a:spcAft>
              <a:defRPr sz="2100">
                <a:solidFill>
                  <a:srgbClr val="75DFC8"/>
                </a:solidFill>
                <a:latin typeface="DejaVu Sans"/>
              </a:defRPr>
            </a:pPr>
            <a:r>
              <a:t>Kontext modelu, úložiště a RAM jsou různé věci</a:t>
            </a:r>
          </a:p>
        </p:txBody>
      </p:sp>
      <p:sp>
        <p:nvSpPr>
          <p:cNvPr id="5" name="TextBox 4"/>
          <p:cNvSpPr txBox="1"/>
          <p:nvPr/>
        </p:nvSpPr>
        <p:spPr>
          <a:xfrm>
            <a:off x="640080" y="2560320"/>
            <a:ext cx="10972800" cy="3200400"/>
          </a:xfrm>
          <a:prstGeom prst="rect">
            <a:avLst/>
          </a:prstGeom>
          <a:noFill/>
        </p:spPr>
        <p:txBody>
          <a:bodyPr wrap="square">
            <a:spAutoFit/>
          </a:bodyPr>
          <a:lstStyle/>
          <a:p>
            <a:pPr>
              <a:spcAft>
                <a:spcPts val="1400"/>
              </a:spcAft>
              <a:defRPr sz="2000">
                <a:solidFill>
                  <a:srgbClr val="F0F4FF"/>
                </a:solidFill>
                <a:latin typeface="DejaVu Sans"/>
              </a:defRPr>
            </a:pPr>
            <a:r>
              <a:t>• Kontext je text poslaný modelu; delší zadání spotřebuje více tokenů.</a:t>
            </a:r>
          </a:p>
          <a:p>
            <a:pPr>
              <a:spcAft>
                <a:spcPts val="1400"/>
              </a:spcAft>
              <a:defRPr sz="2000">
                <a:solidFill>
                  <a:srgbClr val="F0F4FF"/>
                </a:solidFill>
                <a:latin typeface="DejaVu Sans"/>
              </a:defRPr>
            </a:pPr>
            <a:r>
              <a:t>• Úložiště drží všechny zdroje a indexy, i když je model právě nevidí.</a:t>
            </a:r>
          </a:p>
          <a:p>
            <a:pPr>
              <a:spcAft>
                <a:spcPts val="1400"/>
              </a:spcAft>
              <a:defRPr sz="2000">
                <a:solidFill>
                  <a:srgbClr val="F0F4FF"/>
                </a:solidFill>
                <a:latin typeface="DejaVu Sans"/>
              </a:defRPr>
            </a:pPr>
            <a:r>
              <a:t>• RAM je pracovní paměť běžícího systému; latence je čas do výsledku.</a:t>
            </a:r>
          </a:p>
          <a:p>
            <a:pPr>
              <a:spcAft>
                <a:spcPts val="1400"/>
              </a:spcAft>
              <a:defRPr sz="2000">
                <a:solidFill>
                  <a:srgbClr val="F0F4FF"/>
                </a:solidFill>
                <a:latin typeface="DejaVu Sans"/>
              </a:defRPr>
            </a:pPr>
            <a:r>
              <a:t>• V ukázce měříme délku vybraného textu v bajtech a úplnost důkazů.</a:t>
            </a:r>
          </a:p>
        </p:txBody>
      </p:sp>
      <p:sp>
        <p:nvSpPr>
          <p:cNvPr id="6" name="TextBox 5"/>
          <p:cNvSpPr txBox="1"/>
          <p:nvPr/>
        </p:nvSpPr>
        <p:spPr>
          <a:xfrm>
            <a:off x="640080" y="5806440"/>
            <a:ext cx="10972800" cy="868680"/>
          </a:xfrm>
          <a:prstGeom prst="rect">
            <a:avLst/>
          </a:prstGeom>
          <a:noFill/>
        </p:spPr>
        <p:txBody>
          <a:bodyPr wrap="square">
            <a:spAutoFit/>
          </a:bodyPr>
          <a:lstStyle/>
          <a:p>
            <a:pPr>
              <a:spcAft>
                <a:spcPts val="1400"/>
              </a:spcAft>
              <a:defRPr sz="1600">
                <a:solidFill>
                  <a:srgbClr val="75DFC8"/>
                </a:solidFill>
                <a:latin typeface="DejaVu Sans"/>
              </a:defRPr>
            </a:pPr>
            <a:r>
              <a:t>Archiv dokumentů zůstává v úložišti; model má dostat jen ověřené podklady ke konkrétnímu reportu.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548640" y="182880"/>
            <a:ext cx="10972800" cy="365760"/>
          </a:xfrm>
          <a:prstGeom prst="rect">
            <a:avLst/>
          </a:prstGeom>
          <a:noFill/>
        </p:spPr>
        <p:txBody>
          <a:bodyPr wrap="square">
            <a:spAutoFit/>
          </a:bodyPr>
          <a:lstStyle/>
          <a:p>
            <a:pPr>
              <a:spcAft>
                <a:spcPts val="1400"/>
              </a:spcAft>
              <a:defRPr sz="1200">
                <a:solidFill>
                  <a:srgbClr val="A9BBD6"/>
                </a:solidFill>
                <a:latin typeface="DejaVu Sans"/>
              </a:defRPr>
            </a:pPr>
            <a:r>
              <a:t>LLM MEMORY LAB · 03/12</a:t>
            </a:r>
          </a:p>
        </p:txBody>
      </p:sp>
      <p:sp>
        <p:nvSpPr>
          <p:cNvPr id="3" name="TextBox 2"/>
          <p:cNvSpPr txBox="1"/>
          <p:nvPr/>
        </p:nvSpPr>
        <p:spPr>
          <a:xfrm>
            <a:off x="548640" y="731520"/>
            <a:ext cx="10972800" cy="1005840"/>
          </a:xfrm>
          <a:prstGeom prst="rect">
            <a:avLst/>
          </a:prstGeom>
          <a:noFill/>
        </p:spPr>
        <p:txBody>
          <a:bodyPr wrap="square">
            <a:spAutoFit/>
          </a:bodyPr>
          <a:lstStyle/>
          <a:p>
            <a:pPr>
              <a:spcAft>
                <a:spcPts val="1400"/>
              </a:spcAft>
              <a:defRPr sz="3200">
                <a:solidFill>
                  <a:srgbClr val="F0F4FF"/>
                </a:solidFill>
                <a:latin typeface="DejaVu Sans"/>
              </a:defRPr>
            </a:pPr>
            <a:r>
              <a:t>Pět způsobů uložení</a:t>
            </a:r>
          </a:p>
        </p:txBody>
      </p:sp>
      <p:sp>
        <p:nvSpPr>
          <p:cNvPr id="4" name="TextBox 3"/>
          <p:cNvSpPr txBox="1"/>
          <p:nvPr/>
        </p:nvSpPr>
        <p:spPr>
          <a:xfrm>
            <a:off x="548640" y="1783080"/>
            <a:ext cx="10972800" cy="548640"/>
          </a:xfrm>
          <a:prstGeom prst="rect">
            <a:avLst/>
          </a:prstGeom>
          <a:noFill/>
        </p:spPr>
        <p:txBody>
          <a:bodyPr wrap="square">
            <a:spAutoFit/>
          </a:bodyPr>
          <a:lstStyle/>
          <a:p>
            <a:pPr>
              <a:spcAft>
                <a:spcPts val="1400"/>
              </a:spcAft>
              <a:defRPr sz="2100">
                <a:solidFill>
                  <a:srgbClr val="75DFC8"/>
                </a:solidFill>
                <a:latin typeface="DejaVu Sans"/>
              </a:defRPr>
            </a:pPr>
            <a:r>
              <a:t>Každá struktura zachovává jiný druh informace</a:t>
            </a:r>
          </a:p>
        </p:txBody>
      </p:sp>
      <p:sp>
        <p:nvSpPr>
          <p:cNvPr id="5" name="TextBox 4"/>
          <p:cNvSpPr txBox="1"/>
          <p:nvPr/>
        </p:nvSpPr>
        <p:spPr>
          <a:xfrm>
            <a:off x="640080" y="2560320"/>
            <a:ext cx="10972800" cy="3200400"/>
          </a:xfrm>
          <a:prstGeom prst="rect">
            <a:avLst/>
          </a:prstGeom>
          <a:noFill/>
        </p:spPr>
        <p:txBody>
          <a:bodyPr wrap="square">
            <a:spAutoFit/>
          </a:bodyPr>
          <a:lstStyle/>
          <a:p>
            <a:pPr>
              <a:spcAft>
                <a:spcPts val="1400"/>
              </a:spcAft>
              <a:defRPr sz="2000">
                <a:solidFill>
                  <a:srgbClr val="F0F4FF"/>
                </a:solidFill>
                <a:latin typeface="DejaVu Sans"/>
              </a:defRPr>
            </a:pPr>
            <a:r>
              <a:t>• Historie uchová původní zprávy; souhrn je zkrátí, ale může ztratit výjimku.</a:t>
            </a:r>
          </a:p>
          <a:p>
            <a:pPr>
              <a:spcAft>
                <a:spcPts val="1400"/>
              </a:spcAft>
              <a:defRPr sz="2000">
                <a:solidFill>
                  <a:srgbClr val="F0F4FF"/>
                </a:solidFill>
                <a:latin typeface="DejaVu Sans"/>
              </a:defRPr>
            </a:pPr>
            <a:r>
              <a:t>• JSON nebo SQL drží přesné hodnoty, například jazyk uživatele a verzi vlastníka.</a:t>
            </a:r>
          </a:p>
          <a:p>
            <a:pPr>
              <a:spcAft>
                <a:spcPts val="1400"/>
              </a:spcAft>
              <a:defRPr sz="2000">
                <a:solidFill>
                  <a:srgbClr val="F0F4FF"/>
                </a:solidFill>
                <a:latin typeface="DejaVu Sans"/>
              </a:defRPr>
            </a:pPr>
            <a:r>
              <a:t>• Textové epizody popisují zkušenosti; vektory pomohou najít podobný záznam.</a:t>
            </a:r>
          </a:p>
          <a:p>
            <a:pPr>
              <a:spcAft>
                <a:spcPts val="1400"/>
              </a:spcAft>
              <a:defRPr sz="2000">
                <a:solidFill>
                  <a:srgbClr val="F0F4FF"/>
                </a:solidFill>
                <a:latin typeface="DejaVu Sans"/>
              </a:defRPr>
            </a:pPr>
            <a:r>
              <a:t>• Knowledge Graph propojuje entity vztahy, například služba → databáze → tým.</a:t>
            </a:r>
          </a:p>
        </p:txBody>
      </p:sp>
      <p:sp>
        <p:nvSpPr>
          <p:cNvPr id="6" name="TextBox 5"/>
          <p:cNvSpPr txBox="1"/>
          <p:nvPr/>
        </p:nvSpPr>
        <p:spPr>
          <a:xfrm>
            <a:off x="640080" y="5806440"/>
            <a:ext cx="10972800" cy="868680"/>
          </a:xfrm>
          <a:prstGeom prst="rect">
            <a:avLst/>
          </a:prstGeom>
          <a:noFill/>
        </p:spPr>
        <p:txBody>
          <a:bodyPr wrap="square">
            <a:spAutoFit/>
          </a:bodyPr>
          <a:lstStyle/>
          <a:p>
            <a:pPr>
              <a:spcAft>
                <a:spcPts val="1400"/>
              </a:spcAft>
              <a:defRPr sz="1600">
                <a:solidFill>
                  <a:srgbClr val="75DFC8"/>
                </a:solidFill>
                <a:latin typeface="DejaVu Sans"/>
              </a:defRPr>
            </a:pPr>
            <a:r>
              <a:t>Profil klienta = přesný stav; incident reportu = zkušenost; report → výpočet → datový zdroj = vztahy.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548640" y="182880"/>
            <a:ext cx="10972800" cy="365760"/>
          </a:xfrm>
          <a:prstGeom prst="rect">
            <a:avLst/>
          </a:prstGeom>
          <a:noFill/>
        </p:spPr>
        <p:txBody>
          <a:bodyPr wrap="square">
            <a:spAutoFit/>
          </a:bodyPr>
          <a:lstStyle/>
          <a:p>
            <a:pPr>
              <a:spcAft>
                <a:spcPts val="1400"/>
              </a:spcAft>
              <a:defRPr sz="1200">
                <a:solidFill>
                  <a:srgbClr val="A9BBD6"/>
                </a:solidFill>
                <a:latin typeface="DejaVu Sans"/>
              </a:defRPr>
            </a:pPr>
            <a:r>
              <a:t>LLM MEMORY LAB · 04/12</a:t>
            </a:r>
          </a:p>
        </p:txBody>
      </p:sp>
      <p:sp>
        <p:nvSpPr>
          <p:cNvPr id="3" name="TextBox 2"/>
          <p:cNvSpPr txBox="1"/>
          <p:nvPr/>
        </p:nvSpPr>
        <p:spPr>
          <a:xfrm>
            <a:off x="548640" y="731520"/>
            <a:ext cx="10972800" cy="1005840"/>
          </a:xfrm>
          <a:prstGeom prst="rect">
            <a:avLst/>
          </a:prstGeom>
          <a:noFill/>
        </p:spPr>
        <p:txBody>
          <a:bodyPr wrap="square">
            <a:spAutoFit/>
          </a:bodyPr>
          <a:lstStyle/>
          <a:p>
            <a:pPr>
              <a:spcAft>
                <a:spcPts val="1400"/>
              </a:spcAft>
              <a:defRPr sz="3200">
                <a:solidFill>
                  <a:srgbClr val="F0F4FF"/>
                </a:solidFill>
                <a:latin typeface="DejaVu Sans"/>
              </a:defRPr>
            </a:pPr>
            <a:r>
              <a:t>Tři otázky z podpory tradingu</a:t>
            </a:r>
          </a:p>
        </p:txBody>
      </p:sp>
      <p:sp>
        <p:nvSpPr>
          <p:cNvPr id="4" name="TextBox 3"/>
          <p:cNvSpPr txBox="1"/>
          <p:nvPr/>
        </p:nvSpPr>
        <p:spPr>
          <a:xfrm>
            <a:off x="548640" y="1783080"/>
            <a:ext cx="10972800" cy="548640"/>
          </a:xfrm>
          <a:prstGeom prst="rect">
            <a:avLst/>
          </a:prstGeom>
          <a:noFill/>
        </p:spPr>
        <p:txBody>
          <a:bodyPr wrap="square">
            <a:spAutoFit/>
          </a:bodyPr>
          <a:lstStyle/>
          <a:p>
            <a:pPr>
              <a:spcAft>
                <a:spcPts val="1400"/>
              </a:spcAft>
              <a:defRPr sz="2100">
                <a:solidFill>
                  <a:srgbClr val="75DFC8"/>
                </a:solidFill>
                <a:latin typeface="DejaVu Sans"/>
              </a:defRPr>
            </a:pPr>
            <a:r>
              <a:t>Každá otázka potřebuje jiný pohled na platformu</a:t>
            </a:r>
          </a:p>
        </p:txBody>
      </p:sp>
      <p:sp>
        <p:nvSpPr>
          <p:cNvPr id="5" name="TextBox 4"/>
          <p:cNvSpPr txBox="1"/>
          <p:nvPr/>
        </p:nvSpPr>
        <p:spPr>
          <a:xfrm>
            <a:off x="640080" y="2560320"/>
            <a:ext cx="10972800" cy="3200400"/>
          </a:xfrm>
          <a:prstGeom prst="rect">
            <a:avLst/>
          </a:prstGeom>
          <a:noFill/>
        </p:spPr>
        <p:txBody>
          <a:bodyPr wrap="square">
            <a:spAutoFit/>
          </a:bodyPr>
          <a:lstStyle/>
          <a:p>
            <a:pPr>
              <a:spcAft>
                <a:spcPts val="1400"/>
              </a:spcAft>
              <a:defRPr sz="2000">
                <a:solidFill>
                  <a:srgbClr val="F0F4FF"/>
                </a:solidFill>
                <a:latin typeface="DejaVu Sans"/>
              </a:defRPr>
            </a:pPr>
            <a:r>
              <a:t>• A: „Odkud se berou data pro týdenní report?“ Sledujeme datovou lineage.</a:t>
            </a:r>
          </a:p>
          <a:p>
            <a:pPr>
              <a:spcAft>
                <a:spcPts val="1400"/>
              </a:spcAft>
              <a:defRPr sz="2000">
                <a:solidFill>
                  <a:srgbClr val="F0F4FF"/>
                </a:solidFill>
                <a:latin typeface="DejaVu Sans"/>
              </a:defRPr>
            </a:pPr>
            <a:r>
              <a:t>• B: „Co ovlivní feature what-if margin?“ Hledáme přímé i nepřímé volající.</a:t>
            </a:r>
          </a:p>
          <a:p>
            <a:pPr>
              <a:spcAft>
                <a:spcPts val="1400"/>
              </a:spcAft>
              <a:defRPr sz="2000">
                <a:solidFill>
                  <a:srgbClr val="F0F4FF"/>
                </a:solidFill>
                <a:latin typeface="DejaVu Sans"/>
              </a:defRPr>
            </a:pPr>
            <a:r>
              <a:t>• C: „Jaký je současný výpočet finančního zdraví?“ Potřebujeme kód i platnou konfiguraci.</a:t>
            </a:r>
          </a:p>
          <a:p>
            <a:pPr>
              <a:spcAft>
                <a:spcPts val="1400"/>
              </a:spcAft>
              <a:defRPr sz="2000">
                <a:solidFill>
                  <a:srgbClr val="F0F4FF"/>
                </a:solidFill>
                <a:latin typeface="DejaVu Sans"/>
              </a:defRPr>
            </a:pPr>
            <a:r>
              <a:t>• Ve dvojici tipněte: jaký důkaz by vám k odpovědi nestačil?</a:t>
            </a:r>
          </a:p>
        </p:txBody>
      </p:sp>
      <p:sp>
        <p:nvSpPr>
          <p:cNvPr id="6" name="TextBox 5"/>
          <p:cNvSpPr txBox="1"/>
          <p:nvPr/>
        </p:nvSpPr>
        <p:spPr>
          <a:xfrm>
            <a:off x="640080" y="5806440"/>
            <a:ext cx="10972800" cy="868680"/>
          </a:xfrm>
          <a:prstGeom prst="rect">
            <a:avLst/>
          </a:prstGeom>
          <a:noFill/>
        </p:spPr>
        <p:txBody>
          <a:bodyPr wrap="square">
            <a:spAutoFit/>
          </a:bodyPr>
          <a:lstStyle/>
          <a:p>
            <a:pPr>
              <a:spcAft>
                <a:spcPts val="1400"/>
              </a:spcAft>
              <a:defRPr sz="1600">
                <a:solidFill>
                  <a:srgbClr val="75DFC8"/>
                </a:solidFill>
                <a:latin typeface="DejaVu Sans"/>
              </a:defRPr>
            </a:pPr>
            <a:r>
              <a:t>Lineage = cesta původu dat. Dopad feature = cesta od měněné funkce k jejím uživatelům.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457200" y="164592"/>
            <a:ext cx="10972800" cy="274320"/>
          </a:xfrm>
          <a:prstGeom prst="rect">
            <a:avLst/>
          </a:prstGeom>
          <a:noFill/>
        </p:spPr>
        <p:txBody>
          <a:bodyPr wrap="square">
            <a:spAutoFit/>
          </a:bodyPr>
          <a:lstStyle/>
          <a:p>
            <a:pPr>
              <a:spcAft>
                <a:spcPts val="1400"/>
              </a:spcAft>
              <a:defRPr sz="1000">
                <a:solidFill>
                  <a:srgbClr val="A9BBD6"/>
                </a:solidFill>
                <a:latin typeface="DejaVu Sans"/>
              </a:defRPr>
            </a:pPr>
            <a:r>
              <a:t>LLM MEMORY LAB · 05/12 · MODELOVÁ BANKOVNÍ PLATFORMA</a:t>
            </a:r>
          </a:p>
        </p:txBody>
      </p:sp>
      <p:sp>
        <p:nvSpPr>
          <p:cNvPr id="3" name="TextBox 2"/>
          <p:cNvSpPr txBox="1"/>
          <p:nvPr/>
        </p:nvSpPr>
        <p:spPr>
          <a:xfrm>
            <a:off x="457200" y="566928"/>
            <a:ext cx="10972800" cy="457200"/>
          </a:xfrm>
          <a:prstGeom prst="rect">
            <a:avLst/>
          </a:prstGeom>
          <a:noFill/>
        </p:spPr>
        <p:txBody>
          <a:bodyPr wrap="square">
            <a:spAutoFit/>
          </a:bodyPr>
          <a:lstStyle/>
          <a:p>
            <a:pPr>
              <a:spcAft>
                <a:spcPts val="1400"/>
              </a:spcAft>
              <a:defRPr sz="2700">
                <a:solidFill>
                  <a:srgbClr val="F0F4FF"/>
                </a:solidFill>
                <a:latin typeface="DejaVu Sans"/>
              </a:defRPr>
            </a:pPr>
            <a:r>
              <a:t>Vektory versus grafy: odkud jsou data?</a:t>
            </a:r>
          </a:p>
        </p:txBody>
      </p:sp>
      <p:sp>
        <p:nvSpPr>
          <p:cNvPr id="4" name="TextBox 3"/>
          <p:cNvSpPr txBox="1"/>
          <p:nvPr/>
        </p:nvSpPr>
        <p:spPr>
          <a:xfrm>
            <a:off x="457200" y="1060704"/>
            <a:ext cx="10972800" cy="365760"/>
          </a:xfrm>
          <a:prstGeom prst="rect">
            <a:avLst/>
          </a:prstGeom>
          <a:noFill/>
        </p:spPr>
        <p:txBody>
          <a:bodyPr wrap="square">
            <a:spAutoFit/>
          </a:bodyPr>
          <a:lstStyle/>
          <a:p>
            <a:pPr>
              <a:spcAft>
                <a:spcPts val="1400"/>
              </a:spcAft>
              <a:defRPr sz="1600">
                <a:solidFill>
                  <a:srgbClr val="75DFC8"/>
                </a:solidFill>
                <a:latin typeface="DejaVu Sans"/>
              </a:defRPr>
            </a:pPr>
            <a:r>
              <a:t>Postupně odhalte rozdíl mezi podobností a návazností</a:t>
            </a:r>
          </a:p>
        </p:txBody>
      </p:sp>
      <p:pic>
        <p:nvPicPr>
          <p:cNvPr id="5" name="Picture 4" descr="bank-report-evidence.png"/>
          <p:cNvPicPr>
            <a:picLocks noChangeAspect="1"/>
          </p:cNvPicPr>
          <p:nvPr/>
        </p:nvPicPr>
        <p:blipFill>
          <a:blip r:embed="rId2"/>
          <a:stretch>
            <a:fillRect/>
          </a:stretch>
        </p:blipFill>
        <p:spPr>
          <a:xfrm>
            <a:off x="457200" y="1508760"/>
            <a:ext cx="11247120" cy="5303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457200" y="164592"/>
            <a:ext cx="10972800" cy="274320"/>
          </a:xfrm>
          <a:prstGeom prst="rect">
            <a:avLst/>
          </a:prstGeom>
          <a:noFill/>
        </p:spPr>
        <p:txBody>
          <a:bodyPr wrap="square">
            <a:spAutoFit/>
          </a:bodyPr>
          <a:lstStyle/>
          <a:p>
            <a:pPr>
              <a:spcAft>
                <a:spcPts val="1400"/>
              </a:spcAft>
              <a:defRPr sz="1000">
                <a:solidFill>
                  <a:srgbClr val="A9BBD6"/>
                </a:solidFill>
                <a:latin typeface="DejaVu Sans"/>
              </a:defRPr>
            </a:pPr>
            <a:r>
              <a:t>LLM MEMORY LAB · 06/12 · MODELOVÁ BANKOVNÍ PLATFORMA</a:t>
            </a:r>
          </a:p>
        </p:txBody>
      </p:sp>
      <p:sp>
        <p:nvSpPr>
          <p:cNvPr id="3" name="TextBox 2"/>
          <p:cNvSpPr txBox="1"/>
          <p:nvPr/>
        </p:nvSpPr>
        <p:spPr>
          <a:xfrm>
            <a:off x="457200" y="566928"/>
            <a:ext cx="10972800" cy="457200"/>
          </a:xfrm>
          <a:prstGeom prst="rect">
            <a:avLst/>
          </a:prstGeom>
          <a:noFill/>
        </p:spPr>
        <p:txBody>
          <a:bodyPr wrap="square">
            <a:spAutoFit/>
          </a:bodyPr>
          <a:lstStyle/>
          <a:p>
            <a:pPr>
              <a:spcAft>
                <a:spcPts val="1400"/>
              </a:spcAft>
              <a:defRPr sz="2700">
                <a:solidFill>
                  <a:srgbClr val="F0F4FF"/>
                </a:solidFill>
                <a:latin typeface="DejaVu Sans"/>
              </a:defRPr>
            </a:pPr>
            <a:r>
              <a:t>Feature a aktuální mechanismus</a:t>
            </a:r>
          </a:p>
        </p:txBody>
      </p:sp>
      <p:sp>
        <p:nvSpPr>
          <p:cNvPr id="4" name="TextBox 3"/>
          <p:cNvSpPr txBox="1"/>
          <p:nvPr/>
        </p:nvSpPr>
        <p:spPr>
          <a:xfrm>
            <a:off x="457200" y="1060704"/>
            <a:ext cx="10972800" cy="365760"/>
          </a:xfrm>
          <a:prstGeom prst="rect">
            <a:avLst/>
          </a:prstGeom>
          <a:noFill/>
        </p:spPr>
        <p:txBody>
          <a:bodyPr wrap="square">
            <a:spAutoFit/>
          </a:bodyPr>
          <a:lstStyle/>
          <a:p>
            <a:pPr>
              <a:spcAft>
                <a:spcPts val="1400"/>
              </a:spcAft>
              <a:defRPr sz="1600">
                <a:solidFill>
                  <a:srgbClr val="75DFC8"/>
                </a:solidFill>
                <a:latin typeface="DejaVu Sans"/>
              </a:defRPr>
            </a:pPr>
            <a:r>
              <a:t>Dva další průchody nad stejnou modelovou platformou</a:t>
            </a:r>
          </a:p>
        </p:txBody>
      </p:sp>
      <p:pic>
        <p:nvPicPr>
          <p:cNvPr id="5" name="Picture 4" descr="bank-feature-evidence.png"/>
          <p:cNvPicPr>
            <a:picLocks noChangeAspect="1"/>
          </p:cNvPicPr>
          <p:nvPr/>
        </p:nvPicPr>
        <p:blipFill>
          <a:blip r:embed="rId2"/>
          <a:stretch>
            <a:fillRect/>
          </a:stretch>
        </p:blipFill>
        <p:spPr>
          <a:xfrm>
            <a:off x="457200" y="1508760"/>
            <a:ext cx="11247120" cy="5303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548640" y="182880"/>
            <a:ext cx="10972800" cy="365760"/>
          </a:xfrm>
          <a:prstGeom prst="rect">
            <a:avLst/>
          </a:prstGeom>
          <a:noFill/>
        </p:spPr>
        <p:txBody>
          <a:bodyPr wrap="square">
            <a:spAutoFit/>
          </a:bodyPr>
          <a:lstStyle/>
          <a:p>
            <a:pPr>
              <a:spcAft>
                <a:spcPts val="1400"/>
              </a:spcAft>
              <a:defRPr sz="1200">
                <a:solidFill>
                  <a:srgbClr val="A9BBD6"/>
                </a:solidFill>
                <a:latin typeface="DejaVu Sans"/>
              </a:defRPr>
            </a:pPr>
            <a:r>
              <a:t>LLM MEMORY LAB · 07/12</a:t>
            </a:r>
          </a:p>
        </p:txBody>
      </p:sp>
      <p:sp>
        <p:nvSpPr>
          <p:cNvPr id="3" name="TextBox 2"/>
          <p:cNvSpPr txBox="1"/>
          <p:nvPr/>
        </p:nvSpPr>
        <p:spPr>
          <a:xfrm>
            <a:off x="548640" y="731520"/>
            <a:ext cx="10972800" cy="1005840"/>
          </a:xfrm>
          <a:prstGeom prst="rect">
            <a:avLst/>
          </a:prstGeom>
          <a:noFill/>
        </p:spPr>
        <p:txBody>
          <a:bodyPr wrap="square">
            <a:spAutoFit/>
          </a:bodyPr>
          <a:lstStyle/>
          <a:p>
            <a:pPr>
              <a:spcAft>
                <a:spcPts val="1400"/>
              </a:spcAft>
              <a:defRPr sz="3200">
                <a:solidFill>
                  <a:srgbClr val="F0F4FF"/>
                </a:solidFill>
                <a:latin typeface="DejaVu Sans"/>
              </a:defRPr>
            </a:pPr>
            <a:r>
              <a:t>Co jsme opravdu měřili?</a:t>
            </a:r>
          </a:p>
        </p:txBody>
      </p:sp>
      <p:sp>
        <p:nvSpPr>
          <p:cNvPr id="4" name="TextBox 3"/>
          <p:cNvSpPr txBox="1"/>
          <p:nvPr/>
        </p:nvSpPr>
        <p:spPr>
          <a:xfrm>
            <a:off x="548640" y="1783080"/>
            <a:ext cx="10972800" cy="548640"/>
          </a:xfrm>
          <a:prstGeom prst="rect">
            <a:avLst/>
          </a:prstGeom>
          <a:noFill/>
        </p:spPr>
        <p:txBody>
          <a:bodyPr wrap="square">
            <a:spAutoFit/>
          </a:bodyPr>
          <a:lstStyle/>
          <a:p>
            <a:pPr>
              <a:spcAft>
                <a:spcPts val="1400"/>
              </a:spcAft>
              <a:defRPr sz="2100">
                <a:solidFill>
                  <a:srgbClr val="75DFC8"/>
                </a:solidFill>
                <a:latin typeface="DejaVu Sans"/>
              </a:defRPr>
            </a:pPr>
            <a:r>
              <a:t>Tři bankovní otázky nad spustitelným modelovým kódem</a:t>
            </a:r>
          </a:p>
        </p:txBody>
      </p:sp>
      <p:sp>
        <p:nvSpPr>
          <p:cNvPr id="5" name="TextBox 4"/>
          <p:cNvSpPr txBox="1"/>
          <p:nvPr/>
        </p:nvSpPr>
        <p:spPr>
          <a:xfrm>
            <a:off x="640080" y="2560320"/>
            <a:ext cx="10972800" cy="3200400"/>
          </a:xfrm>
          <a:prstGeom prst="rect">
            <a:avLst/>
          </a:prstGeom>
          <a:noFill/>
        </p:spPr>
        <p:txBody>
          <a:bodyPr wrap="square">
            <a:spAutoFit/>
          </a:bodyPr>
          <a:lstStyle/>
          <a:p>
            <a:pPr>
              <a:spcAft>
                <a:spcPts val="1400"/>
              </a:spcAft>
              <a:defRPr sz="2000">
                <a:solidFill>
                  <a:srgbClr val="F0F4FF"/>
                </a:solidFill>
                <a:latin typeface="DejaVu Sans"/>
              </a:defRPr>
            </a:pPr>
            <a:r>
              <a:t>• Gold je předem určený seznam kódu, konfigurace a zdrojů potřebných k odpovědi.</a:t>
            </a:r>
          </a:p>
          <a:p>
            <a:pPr>
              <a:spcAft>
                <a:spcPts val="1400"/>
              </a:spcAft>
              <a:defRPr sz="2000">
                <a:solidFill>
                  <a:srgbClr val="F0F4FF"/>
                </a:solidFill>
                <a:latin typeface="DejaVu Sans"/>
              </a:defRPr>
            </a:pPr>
            <a:r>
              <a:t>• Úplnost = všechny důkazy; recall = podíl nalezených potřebných důkazů.</a:t>
            </a:r>
          </a:p>
          <a:p>
            <a:pPr>
              <a:spcAft>
                <a:spcPts val="1400"/>
              </a:spcAft>
              <a:defRPr sz="2000">
                <a:solidFill>
                  <a:srgbClr val="F0F4FF"/>
                </a:solidFill>
                <a:latin typeface="DejaVu Sans"/>
              </a:defRPr>
            </a:pPr>
            <a:r>
              <a:t>• Srovnáváme celý archiv, TF-IDF top-4 a graf s registrem nasazené verze.</a:t>
            </a:r>
          </a:p>
          <a:p>
            <a:pPr>
              <a:spcAft>
                <a:spcPts val="1400"/>
              </a:spcAft>
              <a:defRPr sz="2000">
                <a:solidFill>
                  <a:srgbClr val="F0F4FF"/>
                </a:solidFill>
                <a:latin typeface="DejaVu Sans"/>
              </a:defRPr>
            </a:pPr>
            <a:r>
              <a:t>• Měříme bajty podkladů a čas hledání; LLM ani produkty zde neběží.</a:t>
            </a:r>
          </a:p>
        </p:txBody>
      </p:sp>
      <p:sp>
        <p:nvSpPr>
          <p:cNvPr id="6" name="TextBox 5"/>
          <p:cNvSpPr txBox="1"/>
          <p:nvPr/>
        </p:nvSpPr>
        <p:spPr>
          <a:xfrm>
            <a:off x="640080" y="5806440"/>
            <a:ext cx="10972800" cy="868680"/>
          </a:xfrm>
          <a:prstGeom prst="rect">
            <a:avLst/>
          </a:prstGeom>
          <a:noFill/>
        </p:spPr>
        <p:txBody>
          <a:bodyPr wrap="square">
            <a:spAutoFit/>
          </a:bodyPr>
          <a:lstStyle/>
          <a:p>
            <a:pPr>
              <a:spcAft>
                <a:spcPts val="1400"/>
              </a:spcAft>
              <a:defRPr sz="1600">
                <a:solidFill>
                  <a:srgbClr val="75DFC8"/>
                </a:solidFill>
                <a:latin typeface="DejaVu Sans"/>
              </a:defRPr>
            </a:pPr>
            <a:r>
              <a:t>U dopadů feature potřebujeme 3 důkazy; 1 nalezený znamená recall 1/3 a neúplnou odpověď.</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548640" y="182880"/>
            <a:ext cx="10972800" cy="365760"/>
          </a:xfrm>
          <a:prstGeom prst="rect">
            <a:avLst/>
          </a:prstGeom>
          <a:noFill/>
        </p:spPr>
        <p:txBody>
          <a:bodyPr wrap="square">
            <a:spAutoFit/>
          </a:bodyPr>
          <a:lstStyle/>
          <a:p>
            <a:pPr>
              <a:spcAft>
                <a:spcPts val="1400"/>
              </a:spcAft>
              <a:defRPr sz="1200">
                <a:solidFill>
                  <a:srgbClr val="A9BBD6"/>
                </a:solidFill>
                <a:latin typeface="DejaVu Sans"/>
              </a:defRPr>
            </a:pPr>
            <a:r>
              <a:t>LLM MEMORY LAB · 08/12</a:t>
            </a:r>
          </a:p>
        </p:txBody>
      </p:sp>
      <p:sp>
        <p:nvSpPr>
          <p:cNvPr id="3" name="TextBox 2"/>
          <p:cNvSpPr txBox="1"/>
          <p:nvPr/>
        </p:nvSpPr>
        <p:spPr>
          <a:xfrm>
            <a:off x="548640" y="731520"/>
            <a:ext cx="10972800" cy="1005840"/>
          </a:xfrm>
          <a:prstGeom prst="rect">
            <a:avLst/>
          </a:prstGeom>
          <a:noFill/>
        </p:spPr>
        <p:txBody>
          <a:bodyPr wrap="square">
            <a:spAutoFit/>
          </a:bodyPr>
          <a:lstStyle/>
          <a:p>
            <a:pPr>
              <a:spcAft>
                <a:spcPts val="1400"/>
              </a:spcAft>
              <a:defRPr sz="3200">
                <a:solidFill>
                  <a:srgbClr val="F0F4FF"/>
                </a:solidFill>
                <a:latin typeface="DejaVu Sans"/>
              </a:defRPr>
            </a:pPr>
            <a:r>
              <a:t>Výsledky bankovní ukázky</a:t>
            </a:r>
          </a:p>
        </p:txBody>
      </p:sp>
      <p:sp>
        <p:nvSpPr>
          <p:cNvPr id="4" name="TextBox 3"/>
          <p:cNvSpPr txBox="1"/>
          <p:nvPr/>
        </p:nvSpPr>
        <p:spPr>
          <a:xfrm>
            <a:off x="548640" y="1783080"/>
            <a:ext cx="10972800" cy="548640"/>
          </a:xfrm>
          <a:prstGeom prst="rect">
            <a:avLst/>
          </a:prstGeom>
          <a:noFill/>
        </p:spPr>
        <p:txBody>
          <a:bodyPr wrap="square">
            <a:spAutoFit/>
          </a:bodyPr>
          <a:lstStyle/>
          <a:p>
            <a:pPr>
              <a:spcAft>
                <a:spcPts val="1400"/>
              </a:spcAft>
              <a:defRPr sz="2100">
                <a:solidFill>
                  <a:srgbClr val="75DFC8"/>
                </a:solidFill>
                <a:latin typeface="DejaVu Sans"/>
              </a:defRPr>
            </a:pPr>
            <a:r>
              <a:t>Tři diagnostické otázky · nejde o žebříček produktů</a:t>
            </a:r>
          </a:p>
        </p:txBody>
      </p:sp>
      <p:pic>
        <p:nvPicPr>
          <p:cNvPr id="5" name="Picture 4" descr="results-chart.png"/>
          <p:cNvPicPr>
            <a:picLocks noChangeAspect="1"/>
          </p:cNvPicPr>
          <p:nvPr/>
        </p:nvPicPr>
        <p:blipFill>
          <a:blip r:embed="rId2"/>
          <a:stretch>
            <a:fillRect/>
          </a:stretch>
        </p:blipFill>
        <p:spPr>
          <a:xfrm>
            <a:off x="731520" y="2560320"/>
            <a:ext cx="10607040" cy="3374967"/>
          </a:xfrm>
          <a:prstGeom prst="rect">
            <a:avLst/>
          </a:prstGeom>
        </p:spPr>
      </p:pic>
      <p:sp>
        <p:nvSpPr>
          <p:cNvPr id="6" name="TextBox 5"/>
          <p:cNvSpPr txBox="1"/>
          <p:nvPr/>
        </p:nvSpPr>
        <p:spPr>
          <a:xfrm>
            <a:off x="640080" y="5806440"/>
            <a:ext cx="10972800" cy="868680"/>
          </a:xfrm>
          <a:prstGeom prst="rect">
            <a:avLst/>
          </a:prstGeom>
          <a:noFill/>
        </p:spPr>
        <p:txBody>
          <a:bodyPr wrap="square">
            <a:spAutoFit/>
          </a:bodyPr>
          <a:lstStyle/>
          <a:p>
            <a:pPr>
              <a:spcAft>
                <a:spcPts val="1400"/>
              </a:spcAft>
              <a:defRPr sz="1600">
                <a:solidFill>
                  <a:srgbClr val="75DFC8"/>
                </a:solidFill>
                <a:latin typeface="DejaVu Sans"/>
              </a:defRPr>
            </a:pPr>
            <a:r>
              <a:t>Strukturované vybavení vrací více důkazů než top-4; poctivě porovnáváme i množství textu.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548640" y="182880"/>
            <a:ext cx="10972800" cy="365760"/>
          </a:xfrm>
          <a:prstGeom prst="rect">
            <a:avLst/>
          </a:prstGeom>
          <a:noFill/>
        </p:spPr>
        <p:txBody>
          <a:bodyPr wrap="square">
            <a:spAutoFit/>
          </a:bodyPr>
          <a:lstStyle/>
          <a:p>
            <a:pPr>
              <a:spcAft>
                <a:spcPts val="1400"/>
              </a:spcAft>
              <a:defRPr sz="1200">
                <a:solidFill>
                  <a:srgbClr val="A9BBD6"/>
                </a:solidFill>
                <a:latin typeface="DejaVu Sans"/>
              </a:defRPr>
            </a:pPr>
            <a:r>
              <a:t>LLM MEMORY LAB · 09/12</a:t>
            </a:r>
          </a:p>
        </p:txBody>
      </p:sp>
      <p:sp>
        <p:nvSpPr>
          <p:cNvPr id="3" name="TextBox 2"/>
          <p:cNvSpPr txBox="1"/>
          <p:nvPr/>
        </p:nvSpPr>
        <p:spPr>
          <a:xfrm>
            <a:off x="548640" y="731520"/>
            <a:ext cx="10972800" cy="1005840"/>
          </a:xfrm>
          <a:prstGeom prst="rect">
            <a:avLst/>
          </a:prstGeom>
          <a:noFill/>
        </p:spPr>
        <p:txBody>
          <a:bodyPr wrap="square">
            <a:spAutoFit/>
          </a:bodyPr>
          <a:lstStyle/>
          <a:p>
            <a:pPr>
              <a:spcAft>
                <a:spcPts val="1400"/>
              </a:spcAft>
              <a:defRPr sz="3200">
                <a:solidFill>
                  <a:srgbClr val="F0F4FF"/>
                </a:solidFill>
                <a:latin typeface="DejaVu Sans"/>
              </a:defRPr>
            </a:pPr>
            <a:r>
              <a:t>Jak se v nástrojích orientovat?</a:t>
            </a:r>
          </a:p>
        </p:txBody>
      </p:sp>
      <p:sp>
        <p:nvSpPr>
          <p:cNvPr id="4" name="TextBox 3"/>
          <p:cNvSpPr txBox="1"/>
          <p:nvPr/>
        </p:nvSpPr>
        <p:spPr>
          <a:xfrm>
            <a:off x="548640" y="1783080"/>
            <a:ext cx="10972800" cy="548640"/>
          </a:xfrm>
          <a:prstGeom prst="rect">
            <a:avLst/>
          </a:prstGeom>
          <a:noFill/>
        </p:spPr>
        <p:txBody>
          <a:bodyPr wrap="square">
            <a:spAutoFit/>
          </a:bodyPr>
          <a:lstStyle/>
          <a:p>
            <a:pPr>
              <a:spcAft>
                <a:spcPts val="1400"/>
              </a:spcAft>
              <a:defRPr sz="2100">
                <a:solidFill>
                  <a:srgbClr val="75DFC8"/>
                </a:solidFill>
                <a:latin typeface="DejaVu Sans"/>
              </a:defRPr>
            </a:pPr>
            <a:r>
              <a:t>Vybírejte podle otázky, kterou má agent zvládnout</a:t>
            </a:r>
          </a:p>
        </p:txBody>
      </p:sp>
      <p:sp>
        <p:nvSpPr>
          <p:cNvPr id="5" name="TextBox 4"/>
          <p:cNvSpPr txBox="1"/>
          <p:nvPr/>
        </p:nvSpPr>
        <p:spPr>
          <a:xfrm>
            <a:off x="640080" y="2560320"/>
            <a:ext cx="10972800" cy="3200400"/>
          </a:xfrm>
          <a:prstGeom prst="rect">
            <a:avLst/>
          </a:prstGeom>
          <a:noFill/>
        </p:spPr>
        <p:txBody>
          <a:bodyPr wrap="square">
            <a:spAutoFit/>
          </a:bodyPr>
          <a:lstStyle/>
          <a:p>
            <a:pPr>
              <a:spcAft>
                <a:spcPts val="1400"/>
              </a:spcAft>
              <a:defRPr sz="2000">
                <a:solidFill>
                  <a:srgbClr val="F0F4FF"/>
                </a:solidFill>
                <a:latin typeface="DejaVu Sans"/>
              </a:defRPr>
            </a:pPr>
            <a:r>
              <a:t>• Graphify a GitNexus mapují kód: kde je funkce a na čem závisí její použití?</a:t>
            </a:r>
          </a:p>
          <a:p>
            <a:pPr>
              <a:spcAft>
                <a:spcPts val="1400"/>
              </a:spcAft>
              <a:defRPr sz="2000">
                <a:solidFill>
                  <a:srgbClr val="F0F4FF"/>
                </a:solidFill>
                <a:latin typeface="DejaVu Sans"/>
              </a:defRPr>
            </a:pPr>
            <a:r>
              <a:t>• Graphiti řeší fakta měnící se v čase: kdo byl a kdo je vlastníkem?</a:t>
            </a:r>
          </a:p>
          <a:p>
            <a:pPr>
              <a:spcAft>
                <a:spcPts val="1400"/>
              </a:spcAft>
              <a:defRPr sz="2000">
                <a:solidFill>
                  <a:srgbClr val="F0F4FF"/>
                </a:solidFill>
                <a:latin typeface="DejaVu Sans"/>
              </a:defRPr>
            </a:pPr>
            <a:r>
              <a:t>• Cognee a Mem0 pomáhají s pamětí znalostí, konverzací a uživatelského kontextu.</a:t>
            </a:r>
          </a:p>
          <a:p>
            <a:pPr>
              <a:spcAft>
                <a:spcPts val="1400"/>
              </a:spcAft>
              <a:defRPr sz="2000">
                <a:solidFill>
                  <a:srgbClr val="F0F4FF"/>
                </a:solidFill>
                <a:latin typeface="DejaVu Sans"/>
              </a:defRPr>
            </a:pPr>
            <a:r>
              <a:t>• LightRAG a Microsoft GraphRAG propojují dokumenty; GraphRAG využívá i souhrny komunit.</a:t>
            </a:r>
          </a:p>
        </p:txBody>
      </p:sp>
      <p:sp>
        <p:nvSpPr>
          <p:cNvPr id="6" name="TextBox 5"/>
          <p:cNvSpPr txBox="1"/>
          <p:nvPr/>
        </p:nvSpPr>
        <p:spPr>
          <a:xfrm>
            <a:off x="640080" y="5806440"/>
            <a:ext cx="10972800" cy="868680"/>
          </a:xfrm>
          <a:prstGeom prst="rect">
            <a:avLst/>
          </a:prstGeom>
          <a:noFill/>
        </p:spPr>
        <p:txBody>
          <a:bodyPr wrap="square">
            <a:spAutoFit/>
          </a:bodyPr>
          <a:lstStyle/>
          <a:p>
            <a:pPr>
              <a:spcAft>
                <a:spcPts val="1400"/>
              </a:spcAft>
              <a:defRPr sz="1600">
                <a:solidFill>
                  <a:srgbClr val="75DFC8"/>
                </a:solidFill>
                <a:latin typeface="DejaVu Sans"/>
              </a:defRPr>
            </a:pPr>
            <a:r>
              <a:t>Repozitář a dopady feature → Graphify/GitNexus. Historie pravidel → Graphiti + verzovaný stav.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457200" y="164592"/>
            <a:ext cx="10972800" cy="274320"/>
          </a:xfrm>
          <a:prstGeom prst="rect">
            <a:avLst/>
          </a:prstGeom>
          <a:noFill/>
        </p:spPr>
        <p:txBody>
          <a:bodyPr wrap="square">
            <a:spAutoFit/>
          </a:bodyPr>
          <a:lstStyle/>
          <a:p>
            <a:pPr>
              <a:spcAft>
                <a:spcPts val="1400"/>
              </a:spcAft>
              <a:defRPr sz="1000">
                <a:solidFill>
                  <a:srgbClr val="A9BBD6"/>
                </a:solidFill>
                <a:latin typeface="DejaVu Sans"/>
              </a:defRPr>
            </a:pPr>
            <a:r>
              <a:t>LLM MEMORY LAB · 10/12 · MODELOVÁ BANKOVNÍ PLATFORMA</a:t>
            </a:r>
          </a:p>
        </p:txBody>
      </p:sp>
      <p:sp>
        <p:nvSpPr>
          <p:cNvPr id="3" name="TextBox 2"/>
          <p:cNvSpPr txBox="1"/>
          <p:nvPr/>
        </p:nvSpPr>
        <p:spPr>
          <a:xfrm>
            <a:off x="457200" y="566928"/>
            <a:ext cx="10972800" cy="457200"/>
          </a:xfrm>
          <a:prstGeom prst="rect">
            <a:avLst/>
          </a:prstGeom>
          <a:noFill/>
        </p:spPr>
        <p:txBody>
          <a:bodyPr wrap="square">
            <a:spAutoFit/>
          </a:bodyPr>
          <a:lstStyle/>
          <a:p>
            <a:pPr>
              <a:spcAft>
                <a:spcPts val="1400"/>
              </a:spcAft>
              <a:defRPr sz="2700">
                <a:solidFill>
                  <a:srgbClr val="F0F4FF"/>
                </a:solidFill>
                <a:latin typeface="DejaVu Sans"/>
              </a:defRPr>
            </a:pPr>
            <a:r>
              <a:t>Jak ověřit současný mechanismus?</a:t>
            </a:r>
          </a:p>
        </p:txBody>
      </p:sp>
      <p:sp>
        <p:nvSpPr>
          <p:cNvPr id="4" name="TextBox 3"/>
          <p:cNvSpPr txBox="1"/>
          <p:nvPr/>
        </p:nvSpPr>
        <p:spPr>
          <a:xfrm>
            <a:off x="457200" y="1060704"/>
            <a:ext cx="10972800" cy="365760"/>
          </a:xfrm>
          <a:prstGeom prst="rect">
            <a:avLst/>
          </a:prstGeom>
          <a:noFill/>
        </p:spPr>
        <p:txBody>
          <a:bodyPr wrap="square">
            <a:spAutoFit/>
          </a:bodyPr>
          <a:lstStyle/>
          <a:p>
            <a:pPr>
              <a:spcAft>
                <a:spcPts val="1400"/>
              </a:spcAft>
              <a:defRPr sz="1600">
                <a:solidFill>
                  <a:srgbClr val="75DFC8"/>
                </a:solidFill>
                <a:latin typeface="DejaVu Sans"/>
              </a:defRPr>
            </a:pPr>
            <a:r>
              <a:t>Registr platnosti + implementace + vstupy výpočtu</a:t>
            </a:r>
          </a:p>
        </p:txBody>
      </p:sp>
      <p:pic>
        <p:nvPicPr>
          <p:cNvPr id="5" name="Picture 4" descr="bank-health-evidence.png"/>
          <p:cNvPicPr>
            <a:picLocks noChangeAspect="1"/>
          </p:cNvPicPr>
          <p:nvPr/>
        </p:nvPicPr>
        <p:blipFill>
          <a:blip r:embed="rId2"/>
          <a:stretch>
            <a:fillRect/>
          </a:stretch>
        </p:blipFill>
        <p:spPr>
          <a:xfrm>
            <a:off x="457200" y="1508760"/>
            <a:ext cx="11247120" cy="53035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548640" y="182880"/>
            <a:ext cx="10972800" cy="365760"/>
          </a:xfrm>
          <a:prstGeom prst="rect">
            <a:avLst/>
          </a:prstGeom>
          <a:noFill/>
        </p:spPr>
        <p:txBody>
          <a:bodyPr wrap="square">
            <a:spAutoFit/>
          </a:bodyPr>
          <a:lstStyle/>
          <a:p>
            <a:pPr>
              <a:spcAft>
                <a:spcPts val="1400"/>
              </a:spcAft>
              <a:defRPr sz="1200">
                <a:solidFill>
                  <a:srgbClr val="A9BBD6"/>
                </a:solidFill>
                <a:latin typeface="DejaVu Sans"/>
              </a:defRPr>
            </a:pPr>
            <a:r>
              <a:t>LLM MEMORY LAB · 11/12</a:t>
            </a:r>
          </a:p>
        </p:txBody>
      </p:sp>
      <p:sp>
        <p:nvSpPr>
          <p:cNvPr id="3" name="TextBox 2"/>
          <p:cNvSpPr txBox="1"/>
          <p:nvPr/>
        </p:nvSpPr>
        <p:spPr>
          <a:xfrm>
            <a:off x="548640" y="731520"/>
            <a:ext cx="10972800" cy="1005840"/>
          </a:xfrm>
          <a:prstGeom prst="rect">
            <a:avLst/>
          </a:prstGeom>
          <a:noFill/>
        </p:spPr>
        <p:txBody>
          <a:bodyPr wrap="square">
            <a:spAutoFit/>
          </a:bodyPr>
          <a:lstStyle/>
          <a:p>
            <a:pPr>
              <a:spcAft>
                <a:spcPts val="1400"/>
              </a:spcAft>
              <a:defRPr sz="3200">
                <a:solidFill>
                  <a:srgbClr val="F0F4FF"/>
                </a:solidFill>
                <a:latin typeface="DejaVu Sans"/>
              </a:defRPr>
            </a:pPr>
            <a:r>
              <a:t>Cvičení: agent pro trading platformu</a:t>
            </a:r>
          </a:p>
        </p:txBody>
      </p:sp>
      <p:sp>
        <p:nvSpPr>
          <p:cNvPr id="4" name="TextBox 3"/>
          <p:cNvSpPr txBox="1"/>
          <p:nvPr/>
        </p:nvSpPr>
        <p:spPr>
          <a:xfrm>
            <a:off x="548640" y="1783080"/>
            <a:ext cx="10972800" cy="548640"/>
          </a:xfrm>
          <a:prstGeom prst="rect">
            <a:avLst/>
          </a:prstGeom>
          <a:noFill/>
        </p:spPr>
        <p:txBody>
          <a:bodyPr wrap="square">
            <a:spAutoFit/>
          </a:bodyPr>
          <a:lstStyle/>
          <a:p>
            <a:pPr>
              <a:spcAft>
                <a:spcPts val="1400"/>
              </a:spcAft>
              <a:defRPr sz="2100">
                <a:solidFill>
                  <a:srgbClr val="75DFC8"/>
                </a:solidFill>
                <a:latin typeface="DejaVu Sans"/>
              </a:defRPr>
            </a:pPr>
            <a:r>
              <a:t>Dvě minuty návrhu + dvě krátké odpovědi</a:t>
            </a:r>
          </a:p>
        </p:txBody>
      </p:sp>
      <p:sp>
        <p:nvSpPr>
          <p:cNvPr id="5" name="TextBox 4"/>
          <p:cNvSpPr txBox="1"/>
          <p:nvPr/>
        </p:nvSpPr>
        <p:spPr>
          <a:xfrm>
            <a:off x="640080" y="2560320"/>
            <a:ext cx="10972800" cy="3200400"/>
          </a:xfrm>
          <a:prstGeom prst="rect">
            <a:avLst/>
          </a:prstGeom>
          <a:noFill/>
        </p:spPr>
        <p:txBody>
          <a:bodyPr wrap="square">
            <a:spAutoFit/>
          </a:bodyPr>
          <a:lstStyle/>
          <a:p>
            <a:pPr>
              <a:spcAft>
                <a:spcPts val="1400"/>
              </a:spcAft>
              <a:defRPr sz="2000">
                <a:solidFill>
                  <a:srgbClr val="F0F4FF"/>
                </a:solidFill>
                <a:latin typeface="DejaVu Sans"/>
              </a:defRPr>
            </a:pPr>
            <a:r>
              <a:t>• Agent má vysvětlit původ dat reportu, dopady feature a aktuální mechanismus skóre.</a:t>
            </a:r>
          </a:p>
          <a:p>
            <a:pPr>
              <a:spcAft>
                <a:spcPts val="1400"/>
              </a:spcAft>
              <a:defRPr sz="2000">
                <a:solidFill>
                  <a:srgbClr val="F0F4FF"/>
                </a:solidFill>
                <a:latin typeface="DejaVu Sans"/>
              </a:defRPr>
            </a:pPr>
            <a:r>
              <a:t>• Pro každou otázku určete potřebné důkazy a způsob jejich vybavení.</a:t>
            </a:r>
          </a:p>
          <a:p>
            <a:pPr>
              <a:spcAft>
                <a:spcPts val="1400"/>
              </a:spcAft>
              <a:defRPr sz="2000">
                <a:solidFill>
                  <a:srgbClr val="F0F4FF"/>
                </a:solidFill>
                <a:latin typeface="DejaVu Sans"/>
              </a:defRPr>
            </a:pPr>
            <a:r>
              <a:t>• Přidejte test: nový draft nesmí přepsat platné nasazené pravidlo.</a:t>
            </a:r>
          </a:p>
          <a:p>
            <a:pPr>
              <a:spcAft>
                <a:spcPts val="1400"/>
              </a:spcAft>
              <a:defRPr sz="2000">
                <a:solidFill>
                  <a:srgbClr val="F0F4FF"/>
                </a:solidFill>
                <a:latin typeface="DejaVu Sans"/>
              </a:defRPr>
            </a:pPr>
            <a:r>
              <a:t>• Agent dostane nejvýše 1 000 tokenů podkladů; co zachováte a co vypustíte?</a:t>
            </a:r>
          </a:p>
        </p:txBody>
      </p:sp>
      <p:sp>
        <p:nvSpPr>
          <p:cNvPr id="6" name="TextBox 5"/>
          <p:cNvSpPr txBox="1"/>
          <p:nvPr/>
        </p:nvSpPr>
        <p:spPr>
          <a:xfrm>
            <a:off x="640080" y="5806440"/>
            <a:ext cx="10972800" cy="868680"/>
          </a:xfrm>
          <a:prstGeom prst="rect">
            <a:avLst/>
          </a:prstGeom>
          <a:noFill/>
        </p:spPr>
        <p:txBody>
          <a:bodyPr wrap="square">
            <a:spAutoFit/>
          </a:bodyPr>
          <a:lstStyle/>
          <a:p>
            <a:pPr>
              <a:spcAft>
                <a:spcPts val="1400"/>
              </a:spcAft>
              <a:defRPr sz="1600">
                <a:solidFill>
                  <a:srgbClr val="75DFC8"/>
                </a:solidFill>
                <a:latin typeface="DejaVu Sans"/>
              </a:defRPr>
            </a:pPr>
            <a:r>
              <a:t>Pomůcka: lineage a dopady v grafu; platnost v registru; popisy a podobné incidenty v textu.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728"/>
        </a:solidFill>
        <a:effectLst/>
      </p:bgPr>
    </p:bg>
    <p:spTree>
      <p:nvGrpSpPr>
        <p:cNvPr id="1" name=""/>
        <p:cNvGrpSpPr/>
        <p:nvPr/>
      </p:nvGrpSpPr>
      <p:grpSpPr/>
      <p:sp>
        <p:nvSpPr>
          <p:cNvPr id="2" name="TextBox 1"/>
          <p:cNvSpPr txBox="1"/>
          <p:nvPr/>
        </p:nvSpPr>
        <p:spPr>
          <a:xfrm>
            <a:off x="548640" y="182880"/>
            <a:ext cx="10972800" cy="365760"/>
          </a:xfrm>
          <a:prstGeom prst="rect">
            <a:avLst/>
          </a:prstGeom>
          <a:noFill/>
        </p:spPr>
        <p:txBody>
          <a:bodyPr wrap="square">
            <a:spAutoFit/>
          </a:bodyPr>
          <a:lstStyle/>
          <a:p>
            <a:pPr>
              <a:spcAft>
                <a:spcPts val="1400"/>
              </a:spcAft>
              <a:defRPr sz="1200">
                <a:solidFill>
                  <a:srgbClr val="A9BBD6"/>
                </a:solidFill>
                <a:latin typeface="DejaVu Sans"/>
              </a:defRPr>
            </a:pPr>
            <a:r>
              <a:t>LLM MEMORY LAB · 12/12</a:t>
            </a:r>
          </a:p>
        </p:txBody>
      </p:sp>
      <p:sp>
        <p:nvSpPr>
          <p:cNvPr id="3" name="TextBox 2"/>
          <p:cNvSpPr txBox="1"/>
          <p:nvPr/>
        </p:nvSpPr>
        <p:spPr>
          <a:xfrm>
            <a:off x="548640" y="731520"/>
            <a:ext cx="10972800" cy="1005840"/>
          </a:xfrm>
          <a:prstGeom prst="rect">
            <a:avLst/>
          </a:prstGeom>
          <a:noFill/>
        </p:spPr>
        <p:txBody>
          <a:bodyPr wrap="square">
            <a:spAutoFit/>
          </a:bodyPr>
          <a:lstStyle/>
          <a:p>
            <a:pPr>
              <a:spcAft>
                <a:spcPts val="1400"/>
              </a:spcAft>
              <a:defRPr sz="3200">
                <a:solidFill>
                  <a:srgbClr val="F0F4FF"/>
                </a:solidFill>
                <a:latin typeface="DejaVu Sans"/>
              </a:defRPr>
            </a:pPr>
            <a:r>
              <a:t>Co si odnést do dalšího návrhu?</a:t>
            </a:r>
          </a:p>
        </p:txBody>
      </p:sp>
      <p:sp>
        <p:nvSpPr>
          <p:cNvPr id="4" name="TextBox 3"/>
          <p:cNvSpPr txBox="1"/>
          <p:nvPr/>
        </p:nvSpPr>
        <p:spPr>
          <a:xfrm>
            <a:off x="548640" y="1783080"/>
            <a:ext cx="10972800" cy="548640"/>
          </a:xfrm>
          <a:prstGeom prst="rect">
            <a:avLst/>
          </a:prstGeom>
          <a:noFill/>
        </p:spPr>
        <p:txBody>
          <a:bodyPr wrap="square">
            <a:spAutoFit/>
          </a:bodyPr>
          <a:lstStyle/>
          <a:p>
            <a:pPr>
              <a:spcAft>
                <a:spcPts val="1400"/>
              </a:spcAft>
              <a:defRPr sz="2100">
                <a:solidFill>
                  <a:srgbClr val="75DFC8"/>
                </a:solidFill>
                <a:latin typeface="DejaVu Sans"/>
              </a:defRPr>
            </a:pPr>
            <a:r>
              <a:t>Nejdřív otázky a důkazy, potom nástroj</a:t>
            </a:r>
          </a:p>
        </p:txBody>
      </p:sp>
      <p:sp>
        <p:nvSpPr>
          <p:cNvPr id="5" name="TextBox 4"/>
          <p:cNvSpPr txBox="1"/>
          <p:nvPr/>
        </p:nvSpPr>
        <p:spPr>
          <a:xfrm>
            <a:off x="640080" y="2560320"/>
            <a:ext cx="10972800" cy="3200400"/>
          </a:xfrm>
          <a:prstGeom prst="rect">
            <a:avLst/>
          </a:prstGeom>
          <a:noFill/>
        </p:spPr>
        <p:txBody>
          <a:bodyPr wrap="square">
            <a:spAutoFit/>
          </a:bodyPr>
          <a:lstStyle/>
          <a:p>
            <a:pPr>
              <a:spcAft>
                <a:spcPts val="1400"/>
              </a:spcAft>
              <a:defRPr sz="2000">
                <a:solidFill>
                  <a:srgbClr val="F0F4FF"/>
                </a:solidFill>
                <a:latin typeface="DejaVu Sans"/>
              </a:defRPr>
            </a:pPr>
            <a:r>
              <a:t>• Podobná zkušenost: začněte hledáním v textu nebo vektorech.</a:t>
            </a:r>
          </a:p>
          <a:p>
            <a:pPr>
              <a:spcAft>
                <a:spcPts val="1400"/>
              </a:spcAft>
              <a:defRPr sz="2000">
                <a:solidFill>
                  <a:srgbClr val="F0F4FF"/>
                </a:solidFill>
                <a:latin typeface="DejaVu Sans"/>
              </a:defRPr>
            </a:pPr>
            <a:r>
              <a:t>• Přesná hodnota: použijte pojmenovaný stav a kontrolu platnosti.</a:t>
            </a:r>
          </a:p>
          <a:p>
            <a:pPr>
              <a:spcAft>
                <a:spcPts val="1400"/>
              </a:spcAft>
              <a:defRPr sz="2000">
                <a:solidFill>
                  <a:srgbClr val="F0F4FF"/>
                </a:solidFill>
                <a:latin typeface="DejaVu Sans"/>
              </a:defRPr>
            </a:pPr>
            <a:r>
              <a:t>• Návaznost objektů: použijte explicitní vztahy v grafu nebo tabulkové joiny.</a:t>
            </a:r>
          </a:p>
          <a:p>
            <a:pPr>
              <a:spcAft>
                <a:spcPts val="1400"/>
              </a:spcAft>
              <a:defRPr sz="2000">
                <a:solidFill>
                  <a:srgbClr val="F0F4FF"/>
                </a:solidFill>
                <a:latin typeface="DejaVu Sans"/>
              </a:defRPr>
            </a:pPr>
            <a:r>
              <a:t>• Kombinaci ověřte na vlastních úlohách: správnost, délka kontextu a cena změn.</a:t>
            </a:r>
          </a:p>
        </p:txBody>
      </p:sp>
      <p:sp>
        <p:nvSpPr>
          <p:cNvPr id="6" name="TextBox 5"/>
          <p:cNvSpPr txBox="1"/>
          <p:nvPr/>
        </p:nvSpPr>
        <p:spPr>
          <a:xfrm>
            <a:off x="640080" y="5806440"/>
            <a:ext cx="10972800" cy="868680"/>
          </a:xfrm>
          <a:prstGeom prst="rect">
            <a:avLst/>
          </a:prstGeom>
          <a:noFill/>
        </p:spPr>
        <p:txBody>
          <a:bodyPr wrap="square">
            <a:spAutoFit/>
          </a:bodyPr>
          <a:lstStyle/>
          <a:p>
            <a:pPr>
              <a:spcAft>
                <a:spcPts val="1400"/>
              </a:spcAft>
              <a:defRPr sz="1600">
                <a:solidFill>
                  <a:srgbClr val="75DFC8"/>
                </a:solidFill>
                <a:latin typeface="DejaVu Sans"/>
              </a:defRPr>
            </a:pPr>
            <a:r>
              <a:t>Další krok: skutečný report, jedna navržená feature a platný registry mechanismů z vašeho repozitáře.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