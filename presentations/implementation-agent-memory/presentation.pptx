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ac8d09ba854bd7" /><Relationship Type="http://schemas.openxmlformats.org/officeDocument/2006/relationships/extended-properties" Target="/docProps/app.xml" Id="Rffcf225aacbe4136" /><Relationship Type="http://schemas.openxmlformats.org/officeDocument/2006/relationships/officeDocument" Target="/ppt/presentation.xml" Id="R37f36da40e284160" /></Relationships>
</file>

<file path=ppt/presentation.xml><?xml version="1.0" encoding="utf-8"?>
<p:presentation xmlns:p="http://schemas.openxmlformats.org/presentationml/2006/main">
  <p:sldMasterIdLst>
    <p:sldMasterId xmlns:r="http://schemas.openxmlformats.org/officeDocument/2006/relationships" id="2147483648" r:id="Rcbc67ea0e1d94fcf"/>
  </p:sldMasterIdLst>
  <p:notesMasterIdLst>
    <p:notesMasterId xmlns:r="http://schemas.openxmlformats.org/officeDocument/2006/relationships" r:id="Rbd8309cf0fc7458e"/>
  </p:notesMasterIdLst>
  <p:sldIdLst>
    <p:sldId xmlns:r="http://schemas.openxmlformats.org/officeDocument/2006/relationships" id="256" r:id="Re825e91ab1f445a1"/>
    <p:sldId xmlns:r="http://schemas.openxmlformats.org/officeDocument/2006/relationships" id="257" r:id="R40a76388725a44d7"/>
    <p:sldId xmlns:r="http://schemas.openxmlformats.org/officeDocument/2006/relationships" id="258" r:id="R2b29b5f88fea4d6f"/>
    <p:sldId xmlns:r="http://schemas.openxmlformats.org/officeDocument/2006/relationships" id="259" r:id="R57677d5d38c14aeb"/>
    <p:sldId xmlns:r="http://schemas.openxmlformats.org/officeDocument/2006/relationships" id="260" r:id="Re9998e187c2b41fb"/>
    <p:sldId xmlns:r="http://schemas.openxmlformats.org/officeDocument/2006/relationships" id="261" r:id="R2ac9931c6af745f6"/>
    <p:sldId xmlns:r="http://schemas.openxmlformats.org/officeDocument/2006/relationships" id="262" r:id="R4f4af8f4d52c4e29"/>
    <p:sldId xmlns:r="http://schemas.openxmlformats.org/officeDocument/2006/relationships" id="263" r:id="R9607daab442549af"/>
    <p:sldId xmlns:r="http://schemas.openxmlformats.org/officeDocument/2006/relationships" id="264" r:id="R392fdbf953c1417f"/>
    <p:sldId xmlns:r="http://schemas.openxmlformats.org/officeDocument/2006/relationships" id="265" r:id="Rff72cfd9be8049b5"/>
    <p:sldId xmlns:r="http://schemas.openxmlformats.org/officeDocument/2006/relationships" id="266" r:id="R8c4eda18476543e6"/>
    <p:sldId xmlns:r="http://schemas.openxmlformats.org/officeDocument/2006/relationships" id="267" r:id="Ra2fd65d39cd244e5"/>
    <p:sldId xmlns:r="http://schemas.openxmlformats.org/officeDocument/2006/relationships" id="268" r:id="Rb48d04926a2f4da1"/>
    <p:sldId xmlns:r="http://schemas.openxmlformats.org/officeDocument/2006/relationships" id="269" r:id="R00e69e3dd02a4fa0"/>
    <p:sldId xmlns:r="http://schemas.openxmlformats.org/officeDocument/2006/relationships" id="270" r:id="R599e8868653f411b"/>
    <p:sldId xmlns:r="http://schemas.openxmlformats.org/officeDocument/2006/relationships" id="271" r:id="Ref21c8aa4a574ca6"/>
    <p:sldId xmlns:r="http://schemas.openxmlformats.org/officeDocument/2006/relationships" id="272" r:id="R199ad34e06c842f3"/>
    <p:sldId xmlns:r="http://schemas.openxmlformats.org/officeDocument/2006/relationships" id="273" r:id="R297e69bba900476e"/>
    <p:sldId xmlns:r="http://schemas.openxmlformats.org/officeDocument/2006/relationships" id="274" r:id="R96f0f67a174b4822"/>
    <p:sldId xmlns:r="http://schemas.openxmlformats.org/officeDocument/2006/relationships" id="275" r:id="R22ee84e7de144738"/>
    <p:sldId xmlns:r="http://schemas.openxmlformats.org/officeDocument/2006/relationships" id="276" r:id="Ra9df840a8aa043a8"/>
    <p:sldId xmlns:r="http://schemas.openxmlformats.org/officeDocument/2006/relationships" id="277" r:id="R7ac2ecd76ea54acf"/>
    <p:sldId xmlns:r="http://schemas.openxmlformats.org/officeDocument/2006/relationships" id="278" r:id="Rf89cc99ae2394f89"/>
    <p:sldId xmlns:r="http://schemas.openxmlformats.org/officeDocument/2006/relationships" id="279" r:id="R7cdaf2ef14084376"/>
    <p:sldId xmlns:r="http://schemas.openxmlformats.org/officeDocument/2006/relationships" id="280" r:id="R85fb4d47a0a741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f84e2aab8e4253" /><Relationship Type="http://schemas.openxmlformats.org/officeDocument/2006/relationships/slideMaster" Target="/ppt/slideMasters/slideMaster1.xml" Id="Rcbc67ea0e1d94fcf" /><Relationship Type="http://schemas.openxmlformats.org/officeDocument/2006/relationships/notesMaster" Target="/ppt/notesMasters/notesMaster1.xml" Id="Rbd8309cf0fc7458e" /><Relationship Type="http://schemas.openxmlformats.org/officeDocument/2006/relationships/presProps" Target="/ppt/presProps.xml" Id="Rc22c817454614319" /><Relationship Type="http://schemas.openxmlformats.org/officeDocument/2006/relationships/tableStyles" Target="/ppt/tableStyles.xml" Id="R1ac29ad7748f4591" /><Relationship Type="http://schemas.openxmlformats.org/officeDocument/2006/relationships/slide" Target="/ppt/slides/slide1.xml" Id="Re825e91ab1f445a1" /><Relationship Type="http://schemas.openxmlformats.org/officeDocument/2006/relationships/slide" Target="/ppt/slides/slide2.xml" Id="R40a76388725a44d7" /><Relationship Type="http://schemas.openxmlformats.org/officeDocument/2006/relationships/slide" Target="/ppt/slides/slide3.xml" Id="R2b29b5f88fea4d6f" /><Relationship Type="http://schemas.openxmlformats.org/officeDocument/2006/relationships/slide" Target="/ppt/slides/slide4.xml" Id="R57677d5d38c14aeb" /><Relationship Type="http://schemas.openxmlformats.org/officeDocument/2006/relationships/slide" Target="/ppt/slides/slide5.xml" Id="Re9998e187c2b41fb" /><Relationship Type="http://schemas.openxmlformats.org/officeDocument/2006/relationships/slide" Target="/ppt/slides/slide6.xml" Id="R2ac9931c6af745f6" /><Relationship Type="http://schemas.openxmlformats.org/officeDocument/2006/relationships/slide" Target="/ppt/slides/slide7.xml" Id="R4f4af8f4d52c4e29" /><Relationship Type="http://schemas.openxmlformats.org/officeDocument/2006/relationships/slide" Target="/ppt/slides/slide8.xml" Id="R9607daab442549af" /><Relationship Type="http://schemas.openxmlformats.org/officeDocument/2006/relationships/slide" Target="/ppt/slides/slide9.xml" Id="R392fdbf953c1417f" /><Relationship Type="http://schemas.openxmlformats.org/officeDocument/2006/relationships/slide" Target="/ppt/slides/slide10.xml" Id="Rff72cfd9be8049b5" /><Relationship Type="http://schemas.openxmlformats.org/officeDocument/2006/relationships/slide" Target="/ppt/slides/slide11.xml" Id="R8c4eda18476543e6" /><Relationship Type="http://schemas.openxmlformats.org/officeDocument/2006/relationships/slide" Target="/ppt/slides/slide12.xml" Id="Ra2fd65d39cd244e5" /><Relationship Type="http://schemas.openxmlformats.org/officeDocument/2006/relationships/slide" Target="/ppt/slides/slide13.xml" Id="Rb48d04926a2f4da1" /><Relationship Type="http://schemas.openxmlformats.org/officeDocument/2006/relationships/slide" Target="/ppt/slides/slide14.xml" Id="R00e69e3dd02a4fa0" /><Relationship Type="http://schemas.openxmlformats.org/officeDocument/2006/relationships/slide" Target="/ppt/slides/slide15.xml" Id="R599e8868653f411b" /><Relationship Type="http://schemas.openxmlformats.org/officeDocument/2006/relationships/slide" Target="/ppt/slides/slide16.xml" Id="Ref21c8aa4a574ca6" /><Relationship Type="http://schemas.openxmlformats.org/officeDocument/2006/relationships/slide" Target="/ppt/slides/slide17.xml" Id="R199ad34e06c842f3" /><Relationship Type="http://schemas.openxmlformats.org/officeDocument/2006/relationships/slide" Target="/ppt/slides/slide18.xml" Id="R297e69bba900476e" /><Relationship Type="http://schemas.openxmlformats.org/officeDocument/2006/relationships/slide" Target="/ppt/slides/slide19.xml" Id="R96f0f67a174b4822" /><Relationship Type="http://schemas.openxmlformats.org/officeDocument/2006/relationships/slide" Target="/ppt/slides/slide20.xml" Id="R22ee84e7de144738" /><Relationship Type="http://schemas.openxmlformats.org/officeDocument/2006/relationships/slide" Target="/ppt/slides/slide21.xml" Id="Ra9df840a8aa043a8" /><Relationship Type="http://schemas.openxmlformats.org/officeDocument/2006/relationships/slide" Target="/ppt/slides/slide22.xml" Id="R7ac2ecd76ea54acf" /><Relationship Type="http://schemas.openxmlformats.org/officeDocument/2006/relationships/slide" Target="/ppt/slides/slide23.xml" Id="Rf89cc99ae2394f89" /><Relationship Type="http://schemas.openxmlformats.org/officeDocument/2006/relationships/slide" Target="/ppt/slides/slide24.xml" Id="R7cdaf2ef14084376" /><Relationship Type="http://schemas.openxmlformats.org/officeDocument/2006/relationships/slide" Target="/ppt/slides/slide25.xml" Id="R85fb4d47a0a741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b7e561bb5644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37074818ea4918" /><Relationship Type="http://schemas.openxmlformats.org/officeDocument/2006/relationships/notesMaster" Target="/ppt/notesMasters/notesMaster1.xml" Id="R8b7da474e76445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28e0e0891640da" /><Relationship Type="http://schemas.openxmlformats.org/officeDocument/2006/relationships/notesMaster" Target="/ppt/notesMasters/notesMaster1.xml" Id="Re7338539ef064c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16d7ea48ec4799" /><Relationship Type="http://schemas.openxmlformats.org/officeDocument/2006/relationships/notesMaster" Target="/ppt/notesMasters/notesMaster1.xml" Id="R585d339755704e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fe6e2b1bd6473a" /><Relationship Type="http://schemas.openxmlformats.org/officeDocument/2006/relationships/notesMaster" Target="/ppt/notesMasters/notesMaster1.xml" Id="Ree0c5ef70a0b4b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57b16717864ca1" /><Relationship Type="http://schemas.openxmlformats.org/officeDocument/2006/relationships/notesMaster" Target="/ppt/notesMasters/notesMaster1.xml" Id="Re4199358a08f44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26d0d3de0743c3" /><Relationship Type="http://schemas.openxmlformats.org/officeDocument/2006/relationships/notesMaster" Target="/ppt/notesMasters/notesMaster1.xml" Id="R9c7a855b843e44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fca0b6605d4394" /><Relationship Type="http://schemas.openxmlformats.org/officeDocument/2006/relationships/notesMaster" Target="/ppt/notesMasters/notesMaster1.xml" Id="R5ccfa419a1424d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153f6c207e4d5c" /><Relationship Type="http://schemas.openxmlformats.org/officeDocument/2006/relationships/notesMaster" Target="/ppt/notesMasters/notesMaster1.xml" Id="Rcf188661944746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3a667855464790" /><Relationship Type="http://schemas.openxmlformats.org/officeDocument/2006/relationships/notesMaster" Target="/ppt/notesMasters/notesMaster1.xml" Id="R1244f02cfda64d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77b6bceed94a1f" /><Relationship Type="http://schemas.openxmlformats.org/officeDocument/2006/relationships/notesMaster" Target="/ppt/notesMasters/notesMaster1.xml" Id="Rd5654f108bd04c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6955763641478e" /><Relationship Type="http://schemas.openxmlformats.org/officeDocument/2006/relationships/notesMaster" Target="/ppt/notesMasters/notesMaster1.xml" Id="Rf5ce8292574f4f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4e9ff8e0b14836" /><Relationship Type="http://schemas.openxmlformats.org/officeDocument/2006/relationships/notesMaster" Target="/ppt/notesMasters/notesMaster1.xml" Id="Re7cf9e0795cf44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87e4ec9c764457" /><Relationship Type="http://schemas.openxmlformats.org/officeDocument/2006/relationships/notesMaster" Target="/ppt/notesMasters/notesMaster1.xml" Id="Re686ab2c2e5a48e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d9f32ae1a64238" /><Relationship Type="http://schemas.openxmlformats.org/officeDocument/2006/relationships/notesMaster" Target="/ppt/notesMasters/notesMaster1.xml" Id="Rb94992f9dfde4c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8ee7117dd3744b7" /><Relationship Type="http://schemas.openxmlformats.org/officeDocument/2006/relationships/notesMaster" Target="/ppt/notesMasters/notesMaster1.xml" Id="Rfd498954ffce42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853e882b254b22" /><Relationship Type="http://schemas.openxmlformats.org/officeDocument/2006/relationships/notesMaster" Target="/ppt/notesMasters/notesMaster1.xml" Id="Re11688534aea4e0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bd4f9b356c4016" /><Relationship Type="http://schemas.openxmlformats.org/officeDocument/2006/relationships/notesMaster" Target="/ppt/notesMasters/notesMaster1.xml" Id="R6627e8b864a04b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c3b79e5e57e4730" /><Relationship Type="http://schemas.openxmlformats.org/officeDocument/2006/relationships/notesMaster" Target="/ppt/notesMasters/notesMaster1.xml" Id="Rbd93160dd49b4bc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fea163c8d4d427c" /><Relationship Type="http://schemas.openxmlformats.org/officeDocument/2006/relationships/notesMaster" Target="/ppt/notesMasters/notesMaster1.xml" Id="R60d6a470a47744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96a23793364a84" /><Relationship Type="http://schemas.openxmlformats.org/officeDocument/2006/relationships/notesMaster" Target="/ppt/notesMasters/notesMaster1.xml" Id="Rdf231600e7e4434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b05b2519fd4436a" /><Relationship Type="http://schemas.openxmlformats.org/officeDocument/2006/relationships/notesMaster" Target="/ppt/notesMasters/notesMaster1.xml" Id="Re47f36033579434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d498c55ea0a4890" /><Relationship Type="http://schemas.openxmlformats.org/officeDocument/2006/relationships/notesMaster" Target="/ppt/notesMasters/notesMaster1.xml" Id="R62de55fd17f34e3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04c1f4b641d4932" /><Relationship Type="http://schemas.openxmlformats.org/officeDocument/2006/relationships/notesMaster" Target="/ppt/notesMasters/notesMaster1.xml" Id="R6dd3a95a42db46f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84c380cd78b4924" /><Relationship Type="http://schemas.openxmlformats.org/officeDocument/2006/relationships/notesMaster" Target="/ppt/notesMasters/notesMaster1.xml" Id="Rbded110e12964d4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be2227e29ea45f5" /><Relationship Type="http://schemas.openxmlformats.org/officeDocument/2006/relationships/notesMaster" Target="/ppt/notesMasters/notesMaster1.xml" Id="R7da644558e6745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0.0–0.5 min</a:t>
            </a:r>
          </a:p>
          <a:p xmlns:a="http://schemas.openxmlformats.org/drawingml/2006/main">
            <a:r>
              <a:t/>
            </a:r>
          </a:p>
          <a:p xmlns:a="http://schemas.openxmlformats.org/drawingml/2006/main">
            <a:r>
              <a:t>Cílem je vybrat paměťovou architekturu pro agenta, který čte a mění kód. Pamětí zde myslíme uchovávaný a vyhledávaný kontext, nikoli RAM nebo trénování vah modelu. Přednáška má 28 minut a 2 minuty na diskusi. Příklady jsou ilustrativní, nejsou analýzou konkrétního bankovního systému.</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0.5–1.0 min</a:t>
            </a:r>
          </a:p>
          <a:p xmlns:a="http://schemas.openxmlformats.org/drawingml/2006/main">
            <a:r>
              <a:t/>
            </a:r>
          </a:p>
          <a:p xmlns:a="http://schemas.openxmlformats.org/drawingml/2006/main">
            <a:r>
              <a:t>Do první části patří i úvod. Zaměříme se na návrh, který může fungovat v různých IDE a agentech. Důležitý je rozdíl mezi uložením dat a rozhodnutím, které informace poslat modelu.</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1.0–2.0 min</a:t>
            </a:r>
          </a:p>
          <a:p xmlns:a="http://schemas.openxmlformats.org/drawingml/2006/main">
            <a:r>
              <a:t/>
            </a:r>
          </a:p>
          <a:p xmlns:a="http://schemas.openxmlformats.org/drawingml/2006/main">
            <a:r>
              <a:t>Paměť nemusí být jeden produkt. Stav rozpracovaného úkolu potřebuje přesnou obnovu. Fakt o metodě potřebuje vazbu na konkrétní verzi kódu. Rozhodnutí má vlastní datum platnosti. Zkrácení historie je užitečné, ale shrnutí může ztratit důležitou podmínku. Ukládejme proto i odkazy na původní důkaz. Model sám vidí jen vybraný kontext, nikoli celou databázi.</a:t>
            </a:r>
          </a:p>
          <a:p xmlns:a="http://schemas.openxmlformats.org/drawingml/2006/main">
            <a:r>
              <a:t/>
            </a:r>
          </a:p>
          <a:p xmlns:a="http://schemas.openxmlformats.org/drawingml/2006/main">
            <a:r>
              <a:t>Zdroj (ověřeno 13. 10. 2026): https://docs.langchain.com/oss/python/concepts/memory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2.0–3.0 min</a:t>
            </a:r>
          </a:p>
          <a:p xmlns:a="http://schemas.openxmlformats.org/drawingml/2006/main">
            <a:r>
              <a:t/>
            </a:r>
          </a:p>
          <a:p xmlns:a="http://schemas.openxmlformats.org/drawingml/2006/main">
            <a:r>
              <a:t>Nezaměňujme baseline s karikaturou, která pokaždé pošle celý repozitář. Moderní agent běžně hledá soubory a pracuje s cache. Externí paměť má hodnotu, když sníží opakované objevování nebo počet chybných pokusů. V porovnání musíme nechat stejný model, nástroje, rozpočet a stejné úlohy. Pozdější model nákladů je záměrně čtecí, s velkým kumulativním vstupem.</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3.0–4.5 min</a:t>
            </a:r>
          </a:p>
          <a:p xmlns:a="http://schemas.openxmlformats.org/drawingml/2006/main">
            <a:r>
              <a:t/>
            </a:r>
          </a:p>
          <a:p xmlns:a="http://schemas.openxmlformats.org/drawingml/2006/main">
            <a:r>
              <a:t>Obyčejná databáze je často nejlevnější základ. Tabulky mohou uchovávat symboly, jejich zdrojový rozsah, build variantu i důkazy. SQL umí přesné dotazy a rekurzivní průchody. Samotné uložení do SQL ale nezaručí pravdivost: záleží na extraktoru a aktuálnosti. Fulltext pomůže s názvy a chybovými zprávami. Nevýhodou je potřeba schématu a horší hledání parafrází bez dalších indexů.</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4.5–6.0 min</a:t>
            </a:r>
          </a:p>
          <a:p xmlns:a="http://schemas.openxmlformats.org/drawingml/2006/main">
            <a:r>
              <a:t/>
            </a:r>
          </a:p>
          <a:p xmlns:a="http://schemas.openxmlformats.org/drawingml/2006/main">
            <a:r>
              <a:t>Dotaz může najít idempotenci, i když v něm není slovo idempotency. Dělení kódu podle funkcí a tříd obvykle zachová více smyslu než slepé bloky znaků. Uložme také signaturu, cestu a commit. Přesné identifikátory kombinujme s fulltextem. Přibližný index může minout relevantní výsledek, zejména po filtrování. Aktualizace vyžaduje přepočítat změněné embeddingy a odstranit zrušené položky.</a:t>
            </a:r>
          </a:p>
          <a:p xmlns:a="http://schemas.openxmlformats.org/drawingml/2006/main">
            <a:r>
              <a:t/>
            </a:r>
          </a:p>
          <a:p xmlns:a="http://schemas.openxmlformats.org/drawingml/2006/main">
            <a:r>
              <a:t>Zdroj (ověřeno 13. 10. 2026): https://github.com/pgvector/pgvector</a:t>
            </a:r>
          </a:p>
          <a:p xmlns:a="http://schemas.openxmlformats.org/drawingml/2006/main">
            <a:r>
              <a:t>Zdroj (ověřeno 13. 10. 2026): https://qdrant.tech/documentation/search/hybrid-queries/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6.0–7.0 min</a:t>
            </a:r>
          </a:p>
          <a:p xmlns:a="http://schemas.openxmlformats.org/drawingml/2006/main">
            <a:r>
              <a:t/>
            </a:r>
          </a:p>
          <a:p xmlns:a="http://schemas.openxmlformats.org/drawingml/2006/main">
            <a:r>
              <a:t>Knowledge graf je datový model, nikoli synonymum grafové databáze nebo LLM. Hrany lze získat parserem, kompilátorem, introspekcí nebo modelovým odhadem. Tree-sitter poskytuje syntaxi, ale sám neřeší celý classpath a runtime chování Springu. Statický call graph může nadhodnocovat cíle. Trace ukazuje skutečně pozorovanou cestu, ne všechny možné cesty. U každé hrany potřebujeme druh, zdroj a status vyřešení.</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7.0–8.0 min</a:t>
            </a:r>
          </a:p>
          <a:p xmlns:a="http://schemas.openxmlformats.org/drawingml/2006/main">
            <a:r>
              <a:t/>
            </a:r>
          </a:p>
          <a:p xmlns:a="http://schemas.openxmlformats.org/drawingml/2006/main">
            <a:r>
              <a:t>Struktury se nevylučují. Jedna PostgreSQL instance může kombinovat tabulky, fulltext a pgvector. Samostatná grafová databáze se vyplatí až podle složitosti průchodů, velikosti dat a provozních potřeb. Hierarchické shrnutí zrychluje orientaci, ale finální rozhodnutí musí být dohledatelné ke zdroji.</a:t>
            </a:r>
          </a:p>
          <a:p xmlns:a="http://schemas.openxmlformats.org/drawingml/2006/main">
            <a:r>
              <a:t/>
            </a:r>
          </a:p>
          <a:p xmlns:a="http://schemas.openxmlformats.org/drawingml/2006/main">
            <a:r>
              <a:t>Zdroj (ověřeno 13. 10. 2026): https://github.com/pgvector/pgvector</a:t>
            </a:r>
          </a:p>
          <a:p xmlns:a="http://schemas.openxmlformats.org/drawingml/2006/main">
            <a:r>
              <a:t>Zdroj (ověřeno 13. 10. 2026): https://microsoft.github.io/graphrag/query/overview/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8.0–9.5 min</a:t>
            </a:r>
          </a:p>
          <a:p xmlns:a="http://schemas.openxmlformats.org/drawingml/2006/main">
            <a:r>
              <a:t/>
            </a:r>
          </a:p>
          <a:p xmlns:a="http://schemas.openxmlformats.org/drawingml/2006/main">
            <a:r>
              <a:t>Toto je návrh architektury, nikoli funkce jednoho konkrétního produktu. Router vybere retrieval podle otázky. Nemá smysl vždy spustit všechny databáze. Na dotaz na konkrétní metodu stačí index symbolů. U změny napříč moduly rozšiřme okolí grafem. Při nulovém nebo nejistém výsledku musí agent umět přejít k původním souborům. Pro sdílený index používejme stabilní identitu symbolu a vazbu na commit.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9.5–11.0 min</a:t>
            </a:r>
          </a:p>
          <a:p xmlns:a="http://schemas.openxmlformats.org/drawingml/2006/main">
            <a:r>
              <a:t/>
            </a:r>
          </a:p>
          <a:p xmlns:a="http://schemas.openxmlformats.org/drawingml/2006/main">
            <a:r>
              <a:t>Představme si POST /payments. Sémantické hledání najde rozhodnutí o idempotency key. Symbolový graf vede od controlleru k service a JPA repository. Databázová evidence najde unikátní index a jeho migraci. Agent musí ověřit souběh dvou požadavků, rollback i chování při opakování po timeoutu. Testovací kód se vyhledává cíleně až jako důkaz pokrytí, ne jako produkční implementace.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11.0–12.5 min</a:t>
            </a:r>
          </a:p>
          <a:p xmlns:a="http://schemas.openxmlformats.org/drawingml/2006/main">
            <a:r>
              <a:t/>
            </a:r>
          </a:p>
          <a:p xmlns:a="http://schemas.openxmlformats.org/drawingml/2006/main">
            <a:r>
              <a:t>Zadání je změnit external_id na nullable nebo upravit jeho typ. Agent potřebuje rozlišit schéma odvozené z migrací a skutečné nasazené schéma. Není správné tvrdit, že neexistuje další použití jen proto, že ho index nenašel. Dynamické SQL musí zůstat označeno jako nevyřešené. Praktický výstup obsahuje seznam známých závislostí, neznámá místa a testovací plán. Šipky v tabulce představují vazby, nikoli skutečný pořadový tok.</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12.5–13.5 min</a:t>
            </a:r>
          </a:p>
          <a:p xmlns:a="http://schemas.openxmlformats.org/drawingml/2006/main">
            <a:r>
              <a:t/>
            </a:r>
          </a:p>
          <a:p xmlns:a="http://schemas.openxmlformats.org/drawingml/2006/main">
            <a:r>
              <a:t>Časová paměť se hodí pro ADR, incidenty a dohodnuté výjimky. Pouhé podobnostní hledání může vrátit staré rozhodnutí, protože je textově přesnější. Musíme filtrovat platnost nebo explicitně spojit nahrazující rozhodnutí. Graphiti je příkladem nástroje pro temporální vztahy. Pro několik desítek ADR může stačit obyčejná SQL tabulka.</a:t>
            </a:r>
          </a:p>
          <a:p xmlns:a="http://schemas.openxmlformats.org/drawingml/2006/main">
            <a:r>
              <a:t/>
            </a:r>
          </a:p>
          <a:p xmlns:a="http://schemas.openxmlformats.org/drawingml/2006/main">
            <a:r>
              <a:t>Zdroj (ověřeno 13. 10. 2026): https://github.com/getzep/graphiti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13.5–15.0 min</a:t>
            </a:r>
          </a:p>
          <a:p xmlns:a="http://schemas.openxmlformats.org/drawingml/2006/main">
            <a:r>
              <a:t/>
            </a:r>
          </a:p>
          <a:p xmlns:a="http://schemas.openxmlformats.org/drawingml/2006/main">
            <a:r>
              <a:t>Často používaný enum může být významný pro změnu číselníku, ale jeho degree není automaticky architektonická důležitost. Konfigurace je důležitá například pro výběr Spring profilu, jen nesmí být zaměněna za volání. Testy také nechceme zahodit: potřebujeme je v samostatném pohledu. Inkrementální aktualizace musí invalidovat i odvozené hrany sousedních symbolů a výstupy založené na změněném buildu.</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15.0–16.0 min</a:t>
            </a:r>
          </a:p>
          <a:p xmlns:a="http://schemas.openxmlformats.org/drawingml/2006/main">
            <a:r>
              <a:t/>
            </a:r>
          </a:p>
          <a:p xmlns:a="http://schemas.openxmlformats.org/drawingml/2006/main">
            <a:r>
              <a:t>Optimální počet tokenů není konstantní. Retrieval musí zachovat důležité signatury, kontrakty a chybová místa. Deduplikujme překrývající se úryvky. Není důvod v každém kroku vracet stejný log. Oddělme stabilní prefix pro případnou cache od dynamického výběru. Obsah dokumentů a paměti je vstupní evidence, nikoli oprávnění přepsat instrukce agenta.</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16.0–17.5 min</a:t>
            </a:r>
          </a:p>
          <a:p xmlns:a="http://schemas.openxmlformats.org/drawingml/2006/main">
            <a:r>
              <a:t/>
            </a:r>
          </a:p>
          <a:p xmlns:a="http://schemas.openxmlformats.org/drawingml/2006/main">
            <a:r>
              <a:t>Graphify zde znamená Graphify-Labs/graphify. Aktuální README deklaruje lokální deterministický AST průchod pro kód, sémantickou fázi pro dokumenty a značky EXTRACTED a INFERRED. Tyto značky nejsou důkaz runtime volání. Aider vybírá relevantní části mapy repozitáře do tokenového rozpočtu. Nejde o plnohodnotný historický graf rozhodnutí. Toto je porovnání mechanismů podle dokumentace, nikoli vlastní benchmark.</a:t>
            </a:r>
          </a:p>
          <a:p xmlns:a="http://schemas.openxmlformats.org/drawingml/2006/main">
            <a:r>
              <a:t/>
            </a:r>
          </a:p>
          <a:p xmlns:a="http://schemas.openxmlformats.org/drawingml/2006/main">
            <a:r>
              <a:t>Zdroj (ověřeno 13. 10. 2026): https://github.com/Graphify-Labs/graphify</a:t>
            </a:r>
          </a:p>
          <a:p xmlns:a="http://schemas.openxmlformats.org/drawingml/2006/main">
            <a:r>
              <a:t>Zdroj (ověřeno 13. 10. 2026): https://aider.chat/docs/repomap.html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17.5–19.0 min</a:t>
            </a:r>
          </a:p>
          <a:p xmlns:a="http://schemas.openxmlformats.org/drawingml/2006/main">
            <a:r>
              <a:t/>
            </a:r>
          </a:p>
          <a:p xmlns:a="http://schemas.openxmlformats.org/drawingml/2006/main">
            <a:r>
              <a:t>GraphRAG má local, global a další režimy hledání, proto nelze paušálně označit každý jeho dotaz za drahý. Graphiti uchovává časovou platnost a původ faktů a kombinuje více způsobů hledání. Zep je související produktová infrastruktura, Graphiti open-source engine. Mem0 se zaměřuje na extrakci a správu relevantních vzpomínek. Žádný z těchto mechanismů automaticky nenahradí Kotlin compiler analysis.</a:t>
            </a:r>
          </a:p>
          <a:p xmlns:a="http://schemas.openxmlformats.org/drawingml/2006/main">
            <a:r>
              <a:t/>
            </a:r>
          </a:p>
          <a:p xmlns:a="http://schemas.openxmlformats.org/drawingml/2006/main">
            <a:r>
              <a:t>Zdroj (ověřeno 13. 10. 2026): https://microsoft.github.io/graphrag/query/overview/</a:t>
            </a:r>
          </a:p>
          <a:p xmlns:a="http://schemas.openxmlformats.org/drawingml/2006/main">
            <a:r>
              <a:t>Zdroj (ověřeno 13. 10. 2026): https://github.com/getzep/graphiti</a:t>
            </a:r>
          </a:p>
          <a:p xmlns:a="http://schemas.openxmlformats.org/drawingml/2006/main">
            <a:r>
              <a:t>Zdroj (ověřeno 13. 10. 2026): https://github.com/mem0ai/mem0</a:t>
            </a:r>
          </a:p>
          <a:p xmlns:a="http://schemas.openxmlformats.org/drawingml/2006/main">
            <a:r>
              <a:t>Zdroj (ověřeno 13. 10. 2026): https://arxiv.org/abs/2504.19413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19.0–20.0 min</a:t>
            </a:r>
          </a:p>
          <a:p xmlns:a="http://schemas.openxmlformats.org/drawingml/2006/main">
            <a:r>
              <a:t/>
            </a:r>
          </a:p>
          <a:p xmlns:a="http://schemas.openxmlformats.org/drawingml/2006/main">
            <a:r>
              <a:t>Toto doporučení je architektonický úsudek pro backendový tým, ne univerzální vítězství jedné databáze. pgvector podporuje přesné i přibližné hledání. Qdrant nabízí hybridní dotazy a vícefázový retrieval. Pro složité grafové průchody lze přidat grafovou databázi až po měření. Pro malý lokální projekt může být jednodušší SQLite a souborový index.</a:t>
            </a:r>
          </a:p>
          <a:p xmlns:a="http://schemas.openxmlformats.org/drawingml/2006/main">
            <a:r>
              <a:t/>
            </a:r>
          </a:p>
          <a:p xmlns:a="http://schemas.openxmlformats.org/drawingml/2006/main">
            <a:r>
              <a:t>Zdroj (ověřeno 13. 10. 2026): https://github.com/pgvector/pgvector</a:t>
            </a:r>
          </a:p>
          <a:p xmlns:a="http://schemas.openxmlformats.org/drawingml/2006/main">
            <a:r>
              <a:t>Zdroj (ověřeno 13. 10. 2026): https://qdrant.tech/documentation/search/hybrid-queries/</a:t>
            </a:r>
          </a:p>
          <a:p xmlns:a="http://schemas.openxmlformats.org/drawingml/2006/main">
            <a:r>
              <a:t>Zdroj (ověřeno 13. 10. 2026): https://docs.langchain.com/oss/python/concepts/memory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20.0–21.0 min</a:t>
            </a:r>
          </a:p>
          <a:p xmlns:a="http://schemas.openxmlformats.org/drawingml/2006/main">
            <a:r>
              <a:t/>
            </a:r>
          </a:p>
          <a:p xmlns:a="http://schemas.openxmlformats.org/drawingml/2006/main">
            <a:r>
              <a:t>Mem0 paper reportuje úsporu tokenů přes 90 procent a snížení p95 latence o 91 procent proti full-context přístupu v experimentu s konverzační pamětí LOCOMO. Na snímku ponecháváme pouze tokeny, abychom nesměšovali metriky. Graphify README uvádí 80 procent pro Cloud jako dodavatelské tvrzení. Nepřenášejme ho na lokální OSS ani na Kotlin změny. Srovnatelné vlastní měření všech nástrojů zde nemáme.</a:t>
            </a:r>
          </a:p>
          <a:p xmlns:a="http://schemas.openxmlformats.org/drawingml/2006/main">
            <a:r>
              <a:t/>
            </a:r>
          </a:p>
          <a:p xmlns:a="http://schemas.openxmlformats.org/drawingml/2006/main">
            <a:r>
              <a:t>Zdroj (ověřeno 13. 10. 2026): https://arxiv.org/abs/2504.19413</a:t>
            </a:r>
          </a:p>
          <a:p xmlns:a="http://schemas.openxmlformats.org/drawingml/2006/main">
            <a:r>
              <a:t>Zdroj (ověřeno 13. 10. 2026): https://github.com/Graphify-Labs/graphify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21.0–22.5 min</a:t>
            </a:r>
          </a:p>
          <a:p xmlns:a="http://schemas.openxmlformats.org/drawingml/2006/main">
            <a:r>
              <a:t/>
            </a:r>
          </a:p>
          <a:p xmlns:a="http://schemas.openxmlformats.org/drawingml/2006/main">
            <a:r>
              <a:t>Kumulativní vstup se sčítá přes všechna volání, nejde o maximální velikost okna. Sazby 3 a 15 USD jsou zvolené modelové parametry, ne aktuální cena konkrétního modelu. Další tabulka drží výstup 30 tisíc tokenů a počet kroků fixní, aby izolovala změnu vstupu. Náklady na build a testy předpokládáme stejné. Pokud se změní, musíme připočítat rozdíl. Náklad na lidskou práci se objeví v návratnosti.</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22.5–24.0 min</a:t>
            </a:r>
          </a:p>
          <a:p xmlns:a="http://schemas.openxmlformats.org/drawingml/2006/main">
            <a:r>
              <a:t/>
            </a:r>
          </a:p>
          <a:p xmlns:a="http://schemas.openxmlformats.org/drawingml/2006/main">
            <a:r>
              <a:t>Výpočet je vstup v milionech krát 3 plus 0,03 krát 15 plus paměť. Například hybrid: 0,24×3 + 0,45 + 0,45 = 1,62 USD. Úspora je 1 minus náklad dělený 4,95. Pořadí není benchmark produktů ani záruka, že graf vždy porazí vektory. Pro jednoduchou opravu může být indexace dražší než grep. Částky nezahrnují jednorázové nasazení ani fixní hosting, které doplní další snímek.</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24.0–25.5 min</a:t>
            </a:r>
          </a:p>
          <a:p xmlns:a="http://schemas.openxmlformats.org/drawingml/2006/main">
            <a:r>
              <a:t/>
            </a:r>
          </a:p>
          <a:p xmlns:a="http://schemas.openxmlformats.org/drawingml/2006/main">
            <a:r>
              <a:t>Při 80 procent cache je efektivní sazba 0,2×3 + 0,8×0,3 = 0,84 USD za milion vstupních tokenů. Baseline 1,5×0,84+0,45=1,71. Hybrid 0,24×0,84+0,45+0,45=1,1016. Úspora 0,6084. Bez cache je úspora 3,33. Body zvratu jsou ceil(360/3,33)=109 a ceil(360/0,6084)=592. Jde o první měsíc. Obecně N&gt;(počáteční investice + fixní náklad období)/(baseline−varianta). Pokud jmenovatel není kladný, návratnost neexistuje. Reálná implementace může stát násobně více než modelových 300 USD.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25.5–27.0 min</a:t>
            </a:r>
          </a:p>
          <a:p xmlns:a="http://schemas.openxmlformats.org/drawingml/2006/main">
            <a:r>
              <a:t/>
            </a:r>
          </a:p>
          <a:p xmlns:a="http://schemas.openxmlformats.org/drawingml/2006/main">
            <a:r>
              <a:t>Úlohy rozdělme na lokální opravy, změny přes moduly, DB změny a rozhodování podle dokumentace. Měřme A bez paměti, B SQL a symboly, C s vektory a D s grafem. Cost per accepted change počítejme jako celkové náklady všech pokusů dělené počtem přijatých změn, včetně neúspěšných běhů a ceny indexace. Hlásíme medián, p95 i variabilitu a změnu úspěšnosti. Kritérium pilotu může být úspora alespoň 20 procent bez významného zhoršení kvality, ale je to navržená brána, nikoli výsledek.</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27.0–28.0 min</a:t>
            </a:r>
          </a:p>
          <a:p xmlns:a="http://schemas.openxmlformats.org/drawingml/2006/main">
            <a:r>
              <a:t/>
            </a:r>
          </a:p>
          <a:p xmlns:a="http://schemas.openxmlformats.org/drawingml/2006/main">
            <a:r>
              <a:t>Pro Kotlin a Spring má vysokou hodnotu kvalitní build model, source sety, symbol resolution a transparentní nevyřešené hrany. Graphify lze pilotovat pro navigaci, GraphRAG pro rozsáhlé dokumenty a Graphiti nebo Mem0 pro časovou či epizodickou paměť. Nemusíme nasadit všechny. Ptejte se publika, zda největší ztráta vzniká při hledání kódu, při dopadech změn nebo při zapomínání rozhodnutí. Diskuse má rezervované dvě minuty navíc.</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Příloha</a:t>
            </a:r>
          </a:p>
          <a:p xmlns:a="http://schemas.openxmlformats.org/drawingml/2006/main">
            <a:r>
              <a:t/>
            </a:r>
          </a:p>
          <a:p xmlns:a="http://schemas.openxmlformats.org/drawingml/2006/main">
            <a:r>
              <a:t>Společná identita propojí SQL, embedding a graf. U patchů kontrolujme commit i hash zdroje. Inkrementální aktualizace musí odstranit zaniklé symboly a odvozené vztahy. Pro multirepo doplňme vazbu mezi verzemi závislostí. Runtime důkaz přidejme s prostředím a časem pozorování.</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Příloha</a:t>
            </a:r>
          </a:p>
          <a:p xmlns:a="http://schemas.openxmlformats.org/drawingml/2006/main">
            <a:r>
              <a:t/>
            </a:r>
          </a:p>
          <a:p xmlns:a="http://schemas.openxmlformats.org/drawingml/2006/main">
            <a:r>
              <a:t>Veškeré porovnání nástrojů vychází z jejich primární dokumentace, nikoli ze spuštění na vlastním repozitáři. Nákladový model, SQL/grafové schéma a backendové scénáře jsou autorské ilustrace. Čísla úspor Mem0 a Graphify jsou tvrzení autorů či dodavatele a mají rozdílný rozsah. Odkazy: https://github.com/Graphify-Labs/graphify ; https://aider.chat/docs/repomap.html ; https://microsoft.github.io/graphrag/query/overview/ ; https://github.com/getzep/graphiti ; https://github.com/pgvector/pgvector ; https://qdrant.tech/documentation/search/hybrid-queries/ ; https://docs.langchain.com/oss/python/concepts/memory ; https://arxiv.org/abs/2504.19413</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20bdb86bc549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ecc4132e024f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702e9b044f84f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ff62389ff840e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a184f862714d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ee85019d6b4c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73FA65-C1FE-4907-9B4D-CC1D4BC97A4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CD4A36-90AC-4499-A625-9DBCD574B98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2C03133-5FBD-4223-81A2-70665CA7133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F9EBC7-5C23-44D7-B6D3-CEE334679E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1197C8C-BBF6-42EB-A040-E4279B66BB2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419C484-D6CE-4AE4-BEED-B84F4434AF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57C1E0-D382-40C6-A28D-E5610BE18B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6D7711-0226-4BCF-8B6C-E52EBCD23E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FE0CD1-145A-4847-AB24-EE12E4995B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55C347-FA87-4C5B-AEB6-28894E9DA2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64d9ff07e740e9" /><Relationship Type="http://schemas.openxmlformats.org/officeDocument/2006/relationships/slideLayout" Target="/ppt/slideLayouts/slideLayout1.xml" Id="R2cbce5117b264497" /><Relationship Type="http://schemas.openxmlformats.org/officeDocument/2006/relationships/slideLayout" Target="/ppt/slideLayouts/slideLayout2.xml" Id="R11d5e3c846ca46d8" /><Relationship Type="http://schemas.openxmlformats.org/officeDocument/2006/relationships/slideLayout" Target="/ppt/slideLayouts/slideLayout3.xml" Id="Rb65b8652912e4029" /><Relationship Type="http://schemas.openxmlformats.org/officeDocument/2006/relationships/slideLayout" Target="/ppt/slideLayouts/slideLayout4.xml" Id="R338e5bd9737d483d" /><Relationship Type="http://schemas.openxmlformats.org/officeDocument/2006/relationships/slideLayout" Target="/ppt/slideLayouts/slideLayout5.xml" Id="R7b33e4c8fbe84fe4" /><Relationship Type="http://schemas.openxmlformats.org/officeDocument/2006/relationships/slideLayout" Target="/ppt/slideLayouts/slideLayout6.xml" Id="R8fa993c4b2b641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bce5117b264497"/>
    <p:sldLayoutId xmlns:r="http://schemas.openxmlformats.org/officeDocument/2006/relationships" id="2147483650" r:id="R11d5e3c846ca46d8"/>
    <p:sldLayoutId xmlns:r="http://schemas.openxmlformats.org/officeDocument/2006/relationships" id="2147483651" r:id="Rb65b8652912e4029"/>
    <p:sldLayoutId xmlns:r="http://schemas.openxmlformats.org/officeDocument/2006/relationships" id="2147483652" r:id="R338e5bd9737d483d"/>
    <p:sldLayoutId xmlns:r="http://schemas.openxmlformats.org/officeDocument/2006/relationships" id="2147483653" r:id="R7b33e4c8fbe84fe4"/>
    <p:sldLayoutId xmlns:r="http://schemas.openxmlformats.org/officeDocument/2006/relationships" id="2147483654" r:id="R8fa993c4b2b641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223f26a3f34429" /><Relationship Type="http://schemas.openxmlformats.org/officeDocument/2006/relationships/notesSlide" Target="/ppt/notesSlides/notesSlide1.xml" Id="R9e392f12cef940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12aadc001604150" /><Relationship Type="http://schemas.openxmlformats.org/officeDocument/2006/relationships/notesSlide" Target="/ppt/notesSlides/notesSlide2.xml" Id="R6a92bbd7722b4f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6a63db92ad44452" /><Relationship Type="http://schemas.openxmlformats.org/officeDocument/2006/relationships/notesSlide" Target="/ppt/notesSlides/notesSlide3.xml" Id="Rc4e5a98e124c40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ce86a3523694c93" /><Relationship Type="http://schemas.openxmlformats.org/officeDocument/2006/relationships/notesSlide" Target="/ppt/notesSlides/notesSlide4.xml" Id="Rc4f2f947340547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74caeaea084b53" /><Relationship Type="http://schemas.openxmlformats.org/officeDocument/2006/relationships/notesSlide" Target="/ppt/notesSlides/notesSlide5.xml" Id="R07439746088c40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93649faa734454" /><Relationship Type="http://schemas.openxmlformats.org/officeDocument/2006/relationships/notesSlide" Target="/ppt/notesSlides/notesSlide6.xml" Id="R2f90907269c544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047a15cfc24130" /><Relationship Type="http://schemas.openxmlformats.org/officeDocument/2006/relationships/notesSlide" Target="/ppt/notesSlides/notesSlide7.xml" Id="R88134e4366f846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30964d1c46d40eb" /><Relationship Type="http://schemas.openxmlformats.org/officeDocument/2006/relationships/notesSlide" Target="/ppt/notesSlides/notesSlide8.xml" Id="R8788069085214c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9e5204d9a13418c" /><Relationship Type="http://schemas.openxmlformats.org/officeDocument/2006/relationships/notesSlide" Target="/ppt/notesSlides/notesSlide9.xml" Id="Re9f3f2289f6f4f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d5db92746fe475b" /><Relationship Type="http://schemas.openxmlformats.org/officeDocument/2006/relationships/notesSlide" Target="/ppt/notesSlides/notesSlide10.xml" Id="Reeef526ab4894b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15faba64404beb" /><Relationship Type="http://schemas.openxmlformats.org/officeDocument/2006/relationships/notesSlide" Target="/ppt/notesSlides/notesSlide11.xml" Id="R72cb62feb733420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75f89202fc745a4" /><Relationship Type="http://schemas.openxmlformats.org/officeDocument/2006/relationships/notesSlide" Target="/ppt/notesSlides/notesSlide12.xml" Id="R7b89dd9fa68c48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ef4d7605a784863" /><Relationship Type="http://schemas.openxmlformats.org/officeDocument/2006/relationships/notesSlide" Target="/ppt/notesSlides/notesSlide13.xml" Id="R95ee4df83b414c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0d3da2c9e67408c" /><Relationship Type="http://schemas.openxmlformats.org/officeDocument/2006/relationships/notesSlide" Target="/ppt/notesSlides/notesSlide14.xml" Id="R5c69d8d7563d4d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381ed6be27f4ab2" /><Relationship Type="http://schemas.openxmlformats.org/officeDocument/2006/relationships/notesSlide" Target="/ppt/notesSlides/notesSlide15.xml" Id="Rc34cfd07cdd94b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dd26d6d5ad2441e" /><Relationship Type="http://schemas.openxmlformats.org/officeDocument/2006/relationships/notesSlide" Target="/ppt/notesSlides/notesSlide16.xml" Id="R4ce5e2ac705f461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12138229b0a4de0" /><Relationship Type="http://schemas.openxmlformats.org/officeDocument/2006/relationships/notesSlide" Target="/ppt/notesSlides/notesSlide17.xml" Id="R35d9ababc8fe4a6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caa9687001d4318" /><Relationship Type="http://schemas.openxmlformats.org/officeDocument/2006/relationships/notesSlide" Target="/ppt/notesSlides/notesSlide18.xml" Id="R1c310476eeac4bb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16194dbb80140db" /><Relationship Type="http://schemas.openxmlformats.org/officeDocument/2006/relationships/notesSlide" Target="/ppt/notesSlides/notesSlide19.xml" Id="Rcb5b1ed7d3e3473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1c93996295441c0" /><Relationship Type="http://schemas.openxmlformats.org/officeDocument/2006/relationships/notesSlide" Target="/ppt/notesSlides/notesSlide20.xml" Id="R7f39b08098be492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b82e0ea0cd14739" /><Relationship Type="http://schemas.openxmlformats.org/officeDocument/2006/relationships/notesSlide" Target="/ppt/notesSlides/notesSlide21.xml" Id="R3733b52e028a4c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154ee0062e443c1" /><Relationship Type="http://schemas.openxmlformats.org/officeDocument/2006/relationships/notesSlide" Target="/ppt/notesSlides/notesSlide22.xml" Id="Rcf4d2685bcf4456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9e114f03373400b" /><Relationship Type="http://schemas.openxmlformats.org/officeDocument/2006/relationships/notesSlide" Target="/ppt/notesSlides/notesSlide23.xml" Id="R3f1f12132c30498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2f75911f4154d81" /><Relationship Type="http://schemas.openxmlformats.org/officeDocument/2006/relationships/notesSlide" Target="/ppt/notesSlides/notesSlide24.xml" Id="R3e8110394a3149e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6513f08eb5f4fa3" /><Relationship Type="http://schemas.openxmlformats.org/officeDocument/2006/relationships/notesSlide" Target="/ppt/notesSlides/notesSlide25.xml" Id="R83b97d8150224ee0" /></Relationships>
</file>

<file path=ppt/slides/slide1.xml><?xml version="1.0" encoding="utf-8"?>
<p:sld xmlns:p="http://schemas.openxmlformats.org/presentationml/2006/main">
  <p:cSld>
    <p:bg>
      <p:bgPr>
        <a:solidFill xmlns:a="http://schemas.openxmlformats.org/drawingml/2006/main">
          <a:srgbClr val="112B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7071E6-A507-4E50-911E-FA6029EB6C45}"/>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8BA5AA"/>
                </a:solidFill>
                <a:latin typeface="DejaVu Sans"/>
                <a:ea typeface="DejaVu Sans"/>
                <a:cs typeface="DejaVu Sans"/>
              </a:defRPr>
            </a:defPPr>
          </a:lstStyle>
          <a:p xmlns:a="http://schemas.openxmlformats.org/drawingml/2006/main">
            <a:pPr>
              <a:defRPr sz="1275" b="0">
                <a:solidFill>
                  <a:srgbClr val="8BA5AA"/>
                </a:solidFill>
                <a:latin typeface="DejaVu Sans"/>
                <a:ea typeface="DejaVu Sans"/>
                <a:cs typeface="DejaVu Sans"/>
              </a:defRPr>
            </a:pPr>
            <a:r>
              <a:rPr sz="1275" b="0">
                <a:solidFill>
                  <a:srgbClr val="8BA5AA"/>
                </a:solidFill>
                <a:latin typeface="DejaVu Sans"/>
                <a:ea typeface="DejaVu Sans"/>
                <a:cs typeface="DejaVu Sans"/>
              </a:rPr>
              <a:t>01</a:t>
            </a:r>
          </a:p>
        </p:txBody>
      </p:sp>
      <p:sp>
        <p:nvSpPr>
          <p:cNvPr id="2" name="">
            <a:extLst xmlns:a="http://schemas.openxmlformats.org/drawingml/2006/main">
              <a:ext uri="{FF2B5EF4-FFF2-40B4-BE49-F238E27FC236}">
                <a16:creationId xmlns:a16="http://schemas.microsoft.com/office/drawing/2014/main" id="{0A65A748-7BE7-46EB-9967-65C58CE28621}"/>
              </a:ext>
            </a:extLst>
          </p:cNvPr>
          <p:cNvSpPr>
            <a:spLocks xmlns:a="http://schemas.openxmlformats.org/drawingml/2006/main" noGrp="1"/>
          </p:cNvSpPr>
          <p:nvPr/>
        </p:nvSpPr>
        <p:spPr>
          <a:xfrm xmlns:a="http://schemas.openxmlformats.org/drawingml/2006/main">
            <a:off x="685800" y="1524000"/>
            <a:ext cx="10572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800" b="1">
                <a:solidFill>
                  <a:srgbClr val="F7F5EF"/>
                </a:solidFill>
                <a:latin typeface="DejaVu Sans"/>
                <a:ea typeface="DejaVu Sans"/>
                <a:cs typeface="DejaVu Sans"/>
              </a:defRPr>
            </a:defPPr>
          </a:lstStyle>
          <a:p xmlns:a="http://schemas.openxmlformats.org/drawingml/2006/main">
            <a:pPr>
              <a:defRPr sz="4800" b="1">
                <a:solidFill>
                  <a:srgbClr val="F7F5EF"/>
                </a:solidFill>
                <a:latin typeface="DejaVu Sans"/>
                <a:ea typeface="DejaVu Sans"/>
                <a:cs typeface="DejaVu Sans"/>
              </a:defRPr>
            </a:pPr>
            <a:r>
              <a:rPr sz="4800" b="1">
                <a:solidFill>
                  <a:srgbClr val="F7F5EF"/>
                </a:solidFill>
                <a:latin typeface="DejaVu Sans"/>
                <a:ea typeface="DejaVu Sans"/>
                <a:cs typeface="DejaVu Sans"/>
              </a:rPr>
              <a:t>Paměť implementačního agenta</a:t>
            </a:r>
          </a:p>
        </p:txBody>
      </p:sp>
      <p:sp>
        <p:nvSpPr>
          <p:cNvPr id="3" name="">
            <a:extLst xmlns:a="http://schemas.openxmlformats.org/drawingml/2006/main">
              <a:ext uri="{FF2B5EF4-FFF2-40B4-BE49-F238E27FC236}">
                <a16:creationId xmlns:a16="http://schemas.microsoft.com/office/drawing/2014/main" id="{566C3EC2-3EA0-4907-87CD-1C1A69D9E9F9}"/>
              </a:ext>
            </a:extLst>
          </p:cNvPr>
          <p:cNvSpPr>
            <a:spLocks xmlns:a="http://schemas.openxmlformats.org/drawingml/2006/main" noGrp="1"/>
          </p:cNvSpPr>
          <p:nvPr/>
        </p:nvSpPr>
        <p:spPr>
          <a:xfrm xmlns:a="http://schemas.openxmlformats.org/drawingml/2006/main">
            <a:off x="723900" y="3486150"/>
            <a:ext cx="1038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B8CDCB"/>
                </a:solidFill>
                <a:latin typeface="DejaVu Sans"/>
                <a:ea typeface="DejaVu Sans"/>
                <a:cs typeface="DejaVu Sans"/>
              </a:defRPr>
            </a:defPPr>
          </a:lstStyle>
          <a:p xmlns:a="http://schemas.openxmlformats.org/drawingml/2006/main">
            <a:pPr>
              <a:defRPr sz="2250" b="0">
                <a:solidFill>
                  <a:srgbClr val="B8CDCB"/>
                </a:solidFill>
                <a:latin typeface="DejaVu Sans"/>
                <a:ea typeface="DejaVu Sans"/>
                <a:cs typeface="DejaVu Sans"/>
              </a:defRPr>
            </a:pPr>
            <a:r>
              <a:rPr sz="2250" b="0">
                <a:solidFill>
                  <a:srgbClr val="B8CDCB"/>
                </a:solidFill>
                <a:latin typeface="DejaVu Sans"/>
                <a:ea typeface="DejaVu Sans"/>
                <a:cs typeface="DejaVu Sans"/>
              </a:rPr>
              <a:t>Struktura dat, výběr kontextu a skutečné náklady</a:t>
            </a:r>
          </a:p>
        </p:txBody>
      </p:sp>
      <p:sp>
        <p:nvSpPr>
          <p:cNvPr id="4" name="">
            <a:extLst xmlns:a="http://schemas.openxmlformats.org/drawingml/2006/main">
              <a:ext uri="{FF2B5EF4-FFF2-40B4-BE49-F238E27FC236}">
                <a16:creationId xmlns:a16="http://schemas.microsoft.com/office/drawing/2014/main" id="{BAE28F22-30A6-436F-9ADB-EE85352558F9}"/>
              </a:ext>
            </a:extLst>
          </p:cNvPr>
          <p:cNvSpPr>
            <a:spLocks xmlns:a="http://schemas.openxmlformats.org/drawingml/2006/main" noGrp="1"/>
          </p:cNvSpPr>
          <p:nvPr/>
        </p:nvSpPr>
        <p:spPr>
          <a:xfrm xmlns:a="http://schemas.openxmlformats.org/drawingml/2006/main">
            <a:off x="723900" y="49720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62D3C8"/>
                </a:solidFill>
                <a:latin typeface="DejaVu Sans"/>
                <a:ea typeface="DejaVu Sans"/>
                <a:cs typeface="DejaVu Sans"/>
              </a:defRPr>
            </a:defPPr>
          </a:lstStyle>
          <a:p xmlns:a="http://schemas.openxmlformats.org/drawingml/2006/main">
            <a:pPr>
              <a:defRPr sz="2100" b="0">
                <a:solidFill>
                  <a:srgbClr val="62D3C8"/>
                </a:solidFill>
                <a:latin typeface="DejaVu Sans"/>
                <a:ea typeface="DejaVu Sans"/>
                <a:cs typeface="DejaVu Sans"/>
              </a:defRPr>
            </a:pPr>
            <a:r>
              <a:rPr sz="2100" b="0">
                <a:solidFill>
                  <a:srgbClr val="62D3C8"/>
                </a:solidFill>
                <a:latin typeface="DejaVu Sans"/>
                <a:ea typeface="DejaVu Sans"/>
                <a:cs typeface="DejaVu Sans"/>
              </a:rPr>
              <a:t>SQL · vektory · znalostní grafy</a:t>
            </a:r>
          </a:p>
        </p:txBody>
      </p:sp>
      <p:sp>
        <p:nvSpPr>
          <p:cNvPr id="5" name="">
            <a:extLst xmlns:a="http://schemas.openxmlformats.org/drawingml/2006/main">
              <a:ext uri="{FF2B5EF4-FFF2-40B4-BE49-F238E27FC236}">
                <a16:creationId xmlns:a16="http://schemas.microsoft.com/office/drawing/2014/main" id="{DF8C1E6B-561C-4F25-87E1-B8BE71EBF2C1}"/>
              </a:ext>
            </a:extLst>
          </p:cNvPr>
          <p:cNvSpPr>
            <a:spLocks xmlns:a="http://schemas.openxmlformats.org/drawingml/2006/main" noGrp="1"/>
          </p:cNvSpPr>
          <p:nvPr/>
        </p:nvSpPr>
        <p:spPr>
          <a:xfrm xmlns:a="http://schemas.openxmlformats.org/drawingml/2006/main">
            <a:off x="723900" y="6219825"/>
            <a:ext cx="762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8CDCB"/>
                </a:solidFill>
                <a:latin typeface="DejaVu Sans"/>
                <a:ea typeface="DejaVu Sans"/>
                <a:cs typeface="DejaVu Sans"/>
              </a:defRPr>
            </a:defPPr>
          </a:lstStyle>
          <a:p xmlns:a="http://schemas.openxmlformats.org/drawingml/2006/main">
            <a:pPr>
              <a:defRPr sz="1350" b="0">
                <a:solidFill>
                  <a:srgbClr val="B8CDCB"/>
                </a:solidFill>
                <a:latin typeface="DejaVu Sans"/>
                <a:ea typeface="DejaVu Sans"/>
                <a:cs typeface="DejaVu Sans"/>
              </a:defRPr>
            </a:pPr>
            <a:r>
              <a:rPr sz="1350" b="0">
                <a:solidFill>
                  <a:srgbClr val="B8CDCB"/>
                </a:solidFill>
                <a:latin typeface="DejaVu Sans"/>
                <a:ea typeface="DejaVu Sans"/>
                <a:cs typeface="DejaVu Sans"/>
              </a:rPr>
              <a:t>30 minut · 13. října 2026</a:t>
            </a:r>
          </a:p>
        </p:txBody>
      </p:sp>
    </p:spTree>
    <p:extLst>
      <p:ext uri="{BB962C8B-B14F-4D97-AF65-F5344CB8AC3E}">
        <p14:creationId xmlns:p14="http://schemas.microsoft.com/office/powerpoint/2010/main" val="2091174633"/>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619CC2C-F2C0-408A-8769-67CA92828B2F}"/>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02</a:t>
            </a:r>
          </a:p>
        </p:txBody>
      </p:sp>
      <p:sp>
        <p:nvSpPr>
          <p:cNvPr id="2" name="">
            <a:extLst xmlns:a="http://schemas.openxmlformats.org/drawingml/2006/main">
              <a:ext uri="{FF2B5EF4-FFF2-40B4-BE49-F238E27FC236}">
                <a16:creationId xmlns:a16="http://schemas.microsoft.com/office/drawing/2014/main" id="{A439FA42-D4AE-4CE7-BA72-A3C50B617A45}"/>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Co budeme porovnávat</a:t>
            </a:r>
          </a:p>
        </p:txBody>
      </p:sp>
      <p:graphicFrame>
        <p:nvGraphicFramePr>
          <p:cNvPr id="3" name="">
            <a:extLst xmlns:a="http://schemas.openxmlformats.org/drawingml/2006/main">
              <a:ext uri="{FF2B5EF4-FFF2-40B4-BE49-F238E27FC236}">
                <a16:creationId xmlns:a16="http://schemas.microsoft.com/office/drawing/2014/main" id="{DA5FEEEB-8F3A-4525-A09F-4662A4EDC618}"/>
              </a:ext>
            </a:extLst>
          </p:cNvPr>
          <p:cNvGraphicFramePr/>
          <p:nvPr/>
        </p:nvGraphicFramePr>
        <p:xfrm>
          <a:off xmlns:a="http://schemas.openxmlformats.org/drawingml/2006/main" x="685800" y="1752600"/>
          <a:ext xmlns:a="http://schemas.openxmlformats.org/drawingml/2006/main" cx="10820400" cy="3905250"/>
        </p:xfrm>
        <a:graphic xmlns:a="http://schemas.openxmlformats.org/drawingml/2006/main">
          <a:graphicData uri="http://schemas.openxmlformats.org/drawingml/2006/table">
            <a:tbl>
              <a:tblPr/>
              <a:tblGrid>
                <a:gridCol w="3905250"/>
                <a:gridCol w="6915150"/>
              </a:tblGrid>
              <a:tr h="650875">
                <a:tc>
                  <a:txBody>
                    <a:bodyPr/>
                    <a:lstStyle/>
                    <a:p>
                      <a:r>
                        <a:rPr sz="1725" b="1">
                          <a:solidFill>
                            <a:srgbClr val="F7F5EF"/>
                          </a:solidFill>
                          <a:latin typeface="DejaVu Sans"/>
                          <a:ea typeface="DejaVu Sans"/>
                          <a:cs typeface="DejaVu Sans"/>
                        </a:rPr>
                        <a:t>Část</a:t>
                      </a:r>
                    </a:p>
                  </a:txBody>
                  <a:tcPr marL="91440" marR="91440" marT="45720" marB="45720">
                    <a:lnL w="9525">
                      <a:solidFill>
                        <a:srgbClr val="D9DEDA"/>
                      </a:solidFill>
                      <a:prstDash val="solid"/>
                    </a:lnL>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Čas</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r>
              <a:tr h="650875">
                <a:tc>
                  <a:txBody>
                    <a:bodyPr/>
                    <a:lstStyle/>
                    <a:p>
                      <a:r>
                        <a:rPr sz="1725" b="0">
                          <a:solidFill>
                            <a:srgbClr val="142B35"/>
                          </a:solidFill>
                          <a:latin typeface="DejaVu Sans"/>
                          <a:ea typeface="DejaVu Sans"/>
                          <a:cs typeface="DejaVu Sans"/>
                        </a:rPr>
                        <a:t>Paměť, SQL, vektory a grafy</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8 min</a:t>
                      </a:r>
                    </a:p>
                  </a:txBody>
                  <a:tcPr marL="91440" marR="91440" marT="45720" marB="45720">
                    <a:lnR w="9525">
                      <a:solidFill>
                        <a:srgbClr val="D9DEDA"/>
                      </a:solidFill>
                      <a:prstDash val="solid"/>
                    </a:lnR>
                    <a:lnB w="9525">
                      <a:solidFill>
                        <a:srgbClr val="D9DEDA"/>
                      </a:solidFill>
                      <a:prstDash val="solid"/>
                    </a:lnB>
                    <a:solidFill>
                      <a:srgbClr val="FFFFFF"/>
                    </a:solidFill>
                  </a:tcPr>
                </a:tc>
              </a:tr>
              <a:tr h="650875">
                <a:tc>
                  <a:txBody>
                    <a:bodyPr/>
                    <a:lstStyle/>
                    <a:p>
                      <a:r>
                        <a:rPr sz="1725" b="0">
                          <a:solidFill>
                            <a:srgbClr val="142B35"/>
                          </a:solidFill>
                          <a:latin typeface="DejaVu Sans"/>
                          <a:ea typeface="DejaVu Sans"/>
                          <a:cs typeface="DejaVu Sans"/>
                        </a:rPr>
                        <a:t>Kombinace a příklady změn v backendu</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8 min</a:t>
                      </a:r>
                    </a:p>
                  </a:txBody>
                  <a:tcPr marL="91440" marR="91440" marT="45720" marB="45720">
                    <a:lnR w="9525">
                      <a:solidFill>
                        <a:srgbClr val="D9DEDA"/>
                      </a:solidFill>
                      <a:prstDash val="solid"/>
                    </a:lnR>
                    <a:lnB w="9525">
                      <a:solidFill>
                        <a:srgbClr val="D9DEDA"/>
                      </a:solidFill>
                      <a:prstDash val="solid"/>
                    </a:lnB>
                    <a:solidFill>
                      <a:srgbClr val="EAEFEA"/>
                    </a:solidFill>
                  </a:tcPr>
                </a:tc>
              </a:tr>
              <a:tr h="650875">
                <a:tc>
                  <a:txBody>
                    <a:bodyPr/>
                    <a:lstStyle/>
                    <a:p>
                      <a:r>
                        <a:rPr sz="1725" b="0">
                          <a:solidFill>
                            <a:srgbClr val="142B35"/>
                          </a:solidFill>
                          <a:latin typeface="DejaVu Sans"/>
                          <a:ea typeface="DejaVu Sans"/>
                          <a:cs typeface="DejaVu Sans"/>
                        </a:rPr>
                        <a:t>Graphify a další nástroje</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5 min</a:t>
                      </a:r>
                    </a:p>
                  </a:txBody>
                  <a:tcPr marL="91440" marR="91440" marT="45720" marB="45720">
                    <a:lnR w="9525">
                      <a:solidFill>
                        <a:srgbClr val="D9DEDA"/>
                      </a:solidFill>
                      <a:prstDash val="solid"/>
                    </a:lnR>
                    <a:lnB w="9525">
                      <a:solidFill>
                        <a:srgbClr val="D9DEDA"/>
                      </a:solidFill>
                      <a:prstDash val="solid"/>
                    </a:lnB>
                    <a:solidFill>
                      <a:srgbClr val="FFFFFF"/>
                    </a:solidFill>
                  </a:tcPr>
                </a:tc>
              </a:tr>
              <a:tr h="650875">
                <a:tc>
                  <a:txBody>
                    <a:bodyPr/>
                    <a:lstStyle/>
                    <a:p>
                      <a:r>
                        <a:rPr sz="1725" b="0">
                          <a:solidFill>
                            <a:srgbClr val="142B35"/>
                          </a:solidFill>
                          <a:latin typeface="DejaVu Sans"/>
                          <a:ea typeface="DejaVu Sans"/>
                          <a:cs typeface="DejaVu Sans"/>
                        </a:rPr>
                        <a:t>Náklady, měření a doporučení</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7 min</a:t>
                      </a:r>
                    </a:p>
                  </a:txBody>
                  <a:tcPr marL="91440" marR="91440" marT="45720" marB="45720">
                    <a:lnR w="9525">
                      <a:solidFill>
                        <a:srgbClr val="D9DEDA"/>
                      </a:solidFill>
                      <a:prstDash val="solid"/>
                    </a:lnR>
                    <a:lnB w="9525">
                      <a:solidFill>
                        <a:srgbClr val="D9DEDA"/>
                      </a:solidFill>
                      <a:prstDash val="solid"/>
                    </a:lnB>
                    <a:solidFill>
                      <a:srgbClr val="EAEFEA"/>
                    </a:solidFill>
                  </a:tcPr>
                </a:tc>
              </a:tr>
              <a:tr h="650875">
                <a:tc>
                  <a:txBody>
                    <a:bodyPr/>
                    <a:lstStyle/>
                    <a:p>
                      <a:r>
                        <a:rPr sz="1725" b="0">
                          <a:solidFill>
                            <a:srgbClr val="142B35"/>
                          </a:solidFill>
                          <a:latin typeface="DejaVu Sans"/>
                          <a:ea typeface="DejaVu Sans"/>
                          <a:cs typeface="DejaVu Sans"/>
                        </a:rPr>
                        <a:t>Diskuse</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2 min</a:t>
                      </a:r>
                    </a:p>
                  </a:txBody>
                  <a:tcPr marL="91440" marR="91440" marT="45720" marB="45720">
                    <a:lnR w="9525">
                      <a:solidFill>
                        <a:srgbClr val="D9DEDA"/>
                      </a:solidFill>
                      <a:prstDash val="solid"/>
                    </a:lnR>
                    <a:lnB w="9525">
                      <a:solidFill>
                        <a:srgbClr val="D9DEDA"/>
                      </a:solidFill>
                      <a:prstDash val="solid"/>
                    </a:lnB>
                    <a:solidFill>
                      <a:srgbClr val="FFFFFF"/>
                    </a:solidFill>
                  </a:tcPr>
                </a:tc>
              </a:tr>
            </a:tbl>
          </a:graphicData>
        </a:graphic>
      </p:graphicFrame>
    </p:spTree>
    <p:extLst>
      <p:ext uri="{BB962C8B-B14F-4D97-AF65-F5344CB8AC3E}">
        <p14:creationId xmlns:p14="http://schemas.microsoft.com/office/powerpoint/2010/main" val="1526119735"/>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A18450B-453C-4180-917F-2AD4CAB64599}"/>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03</a:t>
            </a:r>
          </a:p>
        </p:txBody>
      </p:sp>
      <p:sp>
        <p:nvSpPr>
          <p:cNvPr id="2" name="">
            <a:extLst xmlns:a="http://schemas.openxmlformats.org/drawingml/2006/main">
              <a:ext uri="{FF2B5EF4-FFF2-40B4-BE49-F238E27FC236}">
                <a16:creationId xmlns:a16="http://schemas.microsoft.com/office/drawing/2014/main" id="{374E6E38-5ADA-41D1-8882-BECB91466093}"/>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Čtyři vrstvy paměti</a:t>
            </a:r>
          </a:p>
        </p:txBody>
      </p:sp>
      <p:graphicFrame>
        <p:nvGraphicFramePr>
          <p:cNvPr id="3" name="">
            <a:extLst xmlns:a="http://schemas.openxmlformats.org/drawingml/2006/main">
              <a:ext uri="{FF2B5EF4-FFF2-40B4-BE49-F238E27FC236}">
                <a16:creationId xmlns:a16="http://schemas.microsoft.com/office/drawing/2014/main" id="{A142255A-3E03-4EB1-8C63-2BE4242C1CD5}"/>
              </a:ext>
            </a:extLst>
          </p:cNvPr>
          <p:cNvGraphicFramePr/>
          <p:nvPr/>
        </p:nvGraphicFramePr>
        <p:xfrm>
          <a:off xmlns:a="http://schemas.openxmlformats.org/drawingml/2006/main" x="685800" y="1752600"/>
          <a:ext xmlns:a="http://schemas.openxmlformats.org/drawingml/2006/main" cx="10820400" cy="3333750"/>
        </p:xfrm>
        <a:graphic xmlns:a="http://schemas.openxmlformats.org/drawingml/2006/main">
          <a:graphicData uri="http://schemas.openxmlformats.org/drawingml/2006/table">
            <a:tbl>
              <a:tblPr/>
              <a:tblGrid>
                <a:gridCol w="2857500"/>
                <a:gridCol w="3905250"/>
                <a:gridCol w="4057650"/>
              </a:tblGrid>
              <a:tr h="666750">
                <a:tc>
                  <a:txBody>
                    <a:bodyPr/>
                    <a:lstStyle/>
                    <a:p>
                      <a:r>
                        <a:rPr sz="1725" b="1">
                          <a:solidFill>
                            <a:srgbClr val="F7F5EF"/>
                          </a:solidFill>
                          <a:latin typeface="DejaVu Sans"/>
                          <a:ea typeface="DejaVu Sans"/>
                          <a:cs typeface="DejaVu Sans"/>
                        </a:rPr>
                        <a:t>Vrstva</a:t>
                      </a:r>
                    </a:p>
                  </a:txBody>
                  <a:tcPr marL="91440" marR="91440" marT="45720" marB="45720">
                    <a:lnL w="9525">
                      <a:solidFill>
                        <a:srgbClr val="D9DEDA"/>
                      </a:solidFill>
                      <a:prstDash val="solid"/>
                    </a:lnL>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Příklad</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Životnost</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r>
              <a:tr h="666750">
                <a:tc>
                  <a:txBody>
                    <a:bodyPr/>
                    <a:lstStyle/>
                    <a:p>
                      <a:r>
                        <a:rPr sz="1725" b="0">
                          <a:solidFill>
                            <a:srgbClr val="142B35"/>
                          </a:solidFill>
                          <a:latin typeface="DejaVu Sans"/>
                          <a:ea typeface="DejaVu Sans"/>
                          <a:cs typeface="DejaVu Sans"/>
                        </a:rPr>
                        <a:t>Pracovní kontext</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Zadání, otevřené soubory, chyby</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Jeden krok / běh</a:t>
                      </a:r>
                    </a:p>
                  </a:txBody>
                  <a:tcPr marL="91440" marR="91440" marT="45720" marB="45720">
                    <a:lnR w="9525">
                      <a:solidFill>
                        <a:srgbClr val="D9DEDA"/>
                      </a:solidFill>
                      <a:prstDash val="solid"/>
                    </a:lnR>
                    <a:lnB w="9525">
                      <a:solidFill>
                        <a:srgbClr val="D9DEDA"/>
                      </a:solidFill>
                      <a:prstDash val="solid"/>
                    </a:lnB>
                    <a:solidFill>
                      <a:srgbClr val="FFFFFF"/>
                    </a:solidFill>
                  </a:tcPr>
                </a:tc>
              </a:tr>
              <a:tr h="666750">
                <a:tc>
                  <a:txBody>
                    <a:bodyPr/>
                    <a:lstStyle/>
                    <a:p>
                      <a:r>
                        <a:rPr sz="1725" b="0">
                          <a:solidFill>
                            <a:srgbClr val="142B35"/>
                          </a:solidFill>
                          <a:latin typeface="DejaVu Sans"/>
                          <a:ea typeface="DejaVu Sans"/>
                          <a:cs typeface="DejaVu Sans"/>
                        </a:rPr>
                        <a:t>Epizodická paměť</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Co agent zkusil a jak dopadly testy</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Úkoly a relace</a:t>
                      </a:r>
                    </a:p>
                  </a:txBody>
                  <a:tcPr marL="91440" marR="91440" marT="45720" marB="45720">
                    <a:lnR w="9525">
                      <a:solidFill>
                        <a:srgbClr val="D9DEDA"/>
                      </a:solidFill>
                      <a:prstDash val="solid"/>
                    </a:lnR>
                    <a:lnB w="9525">
                      <a:solidFill>
                        <a:srgbClr val="D9DEDA"/>
                      </a:solidFill>
                      <a:prstDash val="solid"/>
                    </a:lnB>
                    <a:solidFill>
                      <a:srgbClr val="EAEFEA"/>
                    </a:solidFill>
                  </a:tcPr>
                </a:tc>
              </a:tr>
              <a:tr h="666750">
                <a:tc>
                  <a:txBody>
                    <a:bodyPr/>
                    <a:lstStyle/>
                    <a:p>
                      <a:r>
                        <a:rPr sz="1725" b="0">
                          <a:solidFill>
                            <a:srgbClr val="142B35"/>
                          </a:solidFill>
                          <a:latin typeface="DejaVu Sans"/>
                          <a:ea typeface="DejaVu Sans"/>
                          <a:cs typeface="DejaVu Sans"/>
                        </a:rPr>
                        <a:t>Fakta o projektu</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Symboly, závislosti, schéma DB</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Platnost podle commitu</a:t>
                      </a:r>
                    </a:p>
                  </a:txBody>
                  <a:tcPr marL="91440" marR="91440" marT="45720" marB="45720">
                    <a:lnR w="9525">
                      <a:solidFill>
                        <a:srgbClr val="D9DEDA"/>
                      </a:solidFill>
                      <a:prstDash val="solid"/>
                    </a:lnR>
                    <a:lnB w="9525">
                      <a:solidFill>
                        <a:srgbClr val="D9DEDA"/>
                      </a:solidFill>
                      <a:prstDash val="solid"/>
                    </a:lnB>
                    <a:solidFill>
                      <a:srgbClr val="FFFFFF"/>
                    </a:solidFill>
                  </a:tcPr>
                </a:tc>
              </a:tr>
              <a:tr h="666750">
                <a:tc>
                  <a:txBody>
                    <a:bodyPr/>
                    <a:lstStyle/>
                    <a:p>
                      <a:r>
                        <a:rPr sz="1725" b="0">
                          <a:solidFill>
                            <a:srgbClr val="142B35"/>
                          </a:solidFill>
                          <a:latin typeface="DejaVu Sans"/>
                          <a:ea typeface="DejaVu Sans"/>
                          <a:cs typeface="DejaVu Sans"/>
                        </a:rPr>
                        <a:t>Pravidla a rozhodnutí</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Konvence, ADR, omezení</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Do nahrazení rozhodnutím</a:t>
                      </a:r>
                    </a:p>
                  </a:txBody>
                  <a:tcPr marL="91440" marR="91440" marT="45720" marB="45720">
                    <a:lnR w="9525">
                      <a:solidFill>
                        <a:srgbClr val="D9DEDA"/>
                      </a:solidFill>
                      <a:prstDash val="solid"/>
                    </a:lnR>
                    <a:lnB w="9525">
                      <a:solidFill>
                        <a:srgbClr val="D9DEDA"/>
                      </a:solidFill>
                      <a:prstDash val="solid"/>
                    </a:lnB>
                    <a:solidFill>
                      <a:srgbClr val="EAEFEA"/>
                    </a:solidFill>
                  </a:tcPr>
                </a:tc>
              </a:tr>
            </a:tbl>
          </a:graphicData>
        </a:graphic>
      </p:graphicFrame>
    </p:spTree>
    <p:extLst>
      <p:ext uri="{BB962C8B-B14F-4D97-AF65-F5344CB8AC3E}">
        <p14:creationId xmlns:p14="http://schemas.microsoft.com/office/powerpoint/2010/main" val="1070837554"/>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9CD45B-8D62-4E99-BFFD-335758F55695}"/>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04</a:t>
            </a:r>
          </a:p>
        </p:txBody>
      </p:sp>
      <p:sp>
        <p:nvSpPr>
          <p:cNvPr id="2" name="">
            <a:extLst xmlns:a="http://schemas.openxmlformats.org/drawingml/2006/main">
              <a:ext uri="{FF2B5EF4-FFF2-40B4-BE49-F238E27FC236}">
                <a16:creationId xmlns:a16="http://schemas.microsoft.com/office/drawing/2014/main" id="{E5F8948D-05FB-4758-91F9-69B2A204E45C}"/>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Agent bez strukturované paměti</a:t>
            </a:r>
          </a:p>
        </p:txBody>
      </p:sp>
      <p:sp>
        <p:nvSpPr>
          <p:cNvPr id="3" name="">
            <a:extLst xmlns:a="http://schemas.openxmlformats.org/drawingml/2006/main">
              <a:ext uri="{FF2B5EF4-FFF2-40B4-BE49-F238E27FC236}">
                <a16:creationId xmlns:a16="http://schemas.microsoft.com/office/drawing/2014/main" id="{24F0143B-0F94-4B02-B3C6-A841A3A58B1C}"/>
              </a:ext>
            </a:extLst>
          </p:cNvPr>
          <p:cNvSpPr>
            <a:spLocks xmlns:a="http://schemas.openxmlformats.org/drawingml/2006/main" noGrp="1"/>
          </p:cNvSpPr>
          <p:nvPr/>
        </p:nvSpPr>
        <p:spPr>
          <a:xfrm xmlns:a="http://schemas.openxmlformats.org/drawingml/2006/main">
            <a:off x="685800" y="1952625"/>
            <a:ext cx="533400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35"/>
                </a:solidFill>
                <a:latin typeface="DejaVu Sans"/>
                <a:ea typeface="DejaVu Sans"/>
                <a:cs typeface="DejaVu Sans"/>
              </a:defRPr>
            </a:defPPr>
          </a:lstStyle>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1  Hledá soubory a symboly</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2  Opakovaně čte široký kontext</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3  Odvozuje stejné vztahy</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4  Při opravě znovu hledá důkazy</a:t>
            </a:r>
          </a:p>
        </p:txBody>
      </p:sp>
      <p:sp>
        <p:nvSpPr>
          <p:cNvPr id="4" name="">
            <a:extLst xmlns:a="http://schemas.openxmlformats.org/drawingml/2006/main">
              <a:ext uri="{FF2B5EF4-FFF2-40B4-BE49-F238E27FC236}">
                <a16:creationId xmlns:a16="http://schemas.microsoft.com/office/drawing/2014/main" id="{D8D06FBA-9FF1-4C5E-802C-2DDE7CAAD95C}"/>
              </a:ext>
            </a:extLst>
          </p:cNvPr>
          <p:cNvSpPr>
            <a:spLocks xmlns:a="http://schemas.openxmlformats.org/drawingml/2006/main" noGrp="1"/>
          </p:cNvSpPr>
          <p:nvPr/>
        </p:nvSpPr>
        <p:spPr>
          <a:xfrm xmlns:a="http://schemas.openxmlformats.org/drawingml/2006/main">
            <a:off x="6724650" y="1952625"/>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D80"/>
                </a:solidFill>
                <a:latin typeface="DejaVu Sans"/>
                <a:ea typeface="DejaVu Sans"/>
                <a:cs typeface="DejaVu Sans"/>
              </a:defRPr>
            </a:defPPr>
          </a:lstStyle>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Cena roste s opakovaným vstupem,</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počtem kroků a opravami.</a:t>
            </a:r>
          </a:p>
        </p:txBody>
      </p:sp>
      <p:sp>
        <p:nvSpPr>
          <p:cNvPr id="5" name="">
            <a:extLst xmlns:a="http://schemas.openxmlformats.org/drawingml/2006/main">
              <a:ext uri="{FF2B5EF4-FFF2-40B4-BE49-F238E27FC236}">
                <a16:creationId xmlns:a16="http://schemas.microsoft.com/office/drawing/2014/main" id="{132295A1-80C0-48BB-ABB7-4D898004D51E}"/>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Férový baseline už může používat grep, LSP, repo mapu, shrnutí i prompt cache.</a:t>
            </a:r>
          </a:p>
        </p:txBody>
      </p:sp>
    </p:spTree>
    <p:extLst>
      <p:ext uri="{BB962C8B-B14F-4D97-AF65-F5344CB8AC3E}">
        <p14:creationId xmlns:p14="http://schemas.microsoft.com/office/powerpoint/2010/main" val="1228219223"/>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14EA96-ED1E-4003-824E-CB91A1D24A5E}"/>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05</a:t>
            </a:r>
          </a:p>
        </p:txBody>
      </p:sp>
      <p:sp>
        <p:nvSpPr>
          <p:cNvPr id="2" name="">
            <a:extLst xmlns:a="http://schemas.openxmlformats.org/drawingml/2006/main">
              <a:ext uri="{FF2B5EF4-FFF2-40B4-BE49-F238E27FC236}">
                <a16:creationId xmlns:a16="http://schemas.microsoft.com/office/drawing/2014/main" id="{CC7721AF-898E-44B9-8FC6-A2C6A1543200}"/>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Relační databáze: přesná fakta</a:t>
            </a:r>
          </a:p>
        </p:txBody>
      </p:sp>
      <p:sp>
        <p:nvSpPr>
          <p:cNvPr id="3" name="">
            <a:extLst xmlns:a="http://schemas.openxmlformats.org/drawingml/2006/main">
              <a:ext uri="{FF2B5EF4-FFF2-40B4-BE49-F238E27FC236}">
                <a16:creationId xmlns:a16="http://schemas.microsoft.com/office/drawing/2014/main" id="{54111898-6EF5-40C8-BD0D-C4DA881277FC}"/>
              </a:ext>
            </a:extLst>
          </p:cNvPr>
          <p:cNvSpPr>
            <a:spLocks xmlns:a="http://schemas.openxmlformats.org/drawingml/2006/main" noGrp="1"/>
          </p:cNvSpPr>
          <p:nvPr/>
        </p:nvSpPr>
        <p:spPr>
          <a:xfrm xmlns:a="http://schemas.openxmlformats.org/drawingml/2006/main">
            <a:off x="685800" y="1952625"/>
            <a:ext cx="533400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35"/>
                </a:solidFill>
                <a:latin typeface="DejaVu Sans"/>
                <a:ea typeface="DejaVu Sans"/>
                <a:cs typeface="DejaVu Sans"/>
              </a:defRPr>
            </a:defPPr>
          </a:lstStyle>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Symbol + cesta + commit</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Výsledky testů a stav úkolu</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Metadata, oprávnění a platnost</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JOIN a filtrování bez LLM</a:t>
            </a:r>
          </a:p>
        </p:txBody>
      </p:sp>
      <p:sp>
        <p:nvSpPr>
          <p:cNvPr id="4" name="">
            <a:extLst xmlns:a="http://schemas.openxmlformats.org/drawingml/2006/main">
              <a:ext uri="{FF2B5EF4-FFF2-40B4-BE49-F238E27FC236}">
                <a16:creationId xmlns:a16="http://schemas.microsoft.com/office/drawing/2014/main" id="{8E9AC857-152F-46F3-A7F1-6BA0EBEC65B7}"/>
              </a:ext>
            </a:extLst>
          </p:cNvPr>
          <p:cNvSpPr>
            <a:spLocks xmlns:a="http://schemas.openxmlformats.org/drawingml/2006/main" noGrp="1"/>
          </p:cNvSpPr>
          <p:nvPr/>
        </p:nvSpPr>
        <p:spPr>
          <a:xfrm xmlns:a="http://schemas.openxmlformats.org/drawingml/2006/main">
            <a:off x="6724650" y="1952625"/>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D80"/>
                </a:solidFill>
                <a:latin typeface="DejaVu Sans"/>
                <a:ea typeface="DejaVu Sans"/>
                <a:cs typeface="DejaVu Sans"/>
              </a:defRPr>
            </a:defPPr>
          </a:lstStyle>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„Které migrace změnily</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tabulku payment?“</a:t>
            </a:r>
          </a:p>
        </p:txBody>
      </p:sp>
      <p:sp>
        <p:nvSpPr>
          <p:cNvPr id="5" name="">
            <a:extLst xmlns:a="http://schemas.openxmlformats.org/drawingml/2006/main">
              <a:ext uri="{FF2B5EF4-FFF2-40B4-BE49-F238E27FC236}">
                <a16:creationId xmlns:a16="http://schemas.microsoft.com/office/drawing/2014/main" id="{B9378511-3F13-4E5B-B2F3-1E24521FF5F2}"/>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PostgreSQL nebo SQLite stačí i pro počáteční seznam uzlů a hran.</a:t>
            </a:r>
          </a:p>
        </p:txBody>
      </p:sp>
    </p:spTree>
    <p:extLst>
      <p:ext uri="{BB962C8B-B14F-4D97-AF65-F5344CB8AC3E}">
        <p14:creationId xmlns:p14="http://schemas.microsoft.com/office/powerpoint/2010/main" val="145144316"/>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515B17-F349-4D3F-821A-6CC508FFAE3D}"/>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06</a:t>
            </a:r>
          </a:p>
        </p:txBody>
      </p:sp>
      <p:sp>
        <p:nvSpPr>
          <p:cNvPr id="2" name="">
            <a:extLst xmlns:a="http://schemas.openxmlformats.org/drawingml/2006/main">
              <a:ext uri="{FF2B5EF4-FFF2-40B4-BE49-F238E27FC236}">
                <a16:creationId xmlns:a16="http://schemas.microsoft.com/office/drawing/2014/main" id="{4CB7897B-81D7-473A-842A-ED461D747525}"/>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Vektorový index: podobnost významu</a:t>
            </a:r>
          </a:p>
        </p:txBody>
      </p:sp>
      <p:sp>
        <p:nvSpPr>
          <p:cNvPr id="3" name="">
            <a:extLst xmlns:a="http://schemas.openxmlformats.org/drawingml/2006/main">
              <a:ext uri="{FF2B5EF4-FFF2-40B4-BE49-F238E27FC236}">
                <a16:creationId xmlns:a16="http://schemas.microsoft.com/office/drawing/2014/main" id="{358978E9-61CB-4C98-980F-E268B8C7B12F}"/>
              </a:ext>
            </a:extLst>
          </p:cNvPr>
          <p:cNvSpPr>
            <a:spLocks xmlns:a="http://schemas.openxmlformats.org/drawingml/2006/main" noGrp="1"/>
          </p:cNvSpPr>
          <p:nvPr/>
        </p:nvSpPr>
        <p:spPr>
          <a:xfrm xmlns:a="http://schemas.openxmlformats.org/drawingml/2006/main">
            <a:off x="685800" y="1952625"/>
            <a:ext cx="533400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35"/>
                </a:solidFill>
                <a:latin typeface="DejaVu Sans"/>
                <a:ea typeface="DejaVu Sans"/>
                <a:cs typeface="DejaVu Sans"/>
              </a:defRPr>
            </a:defPPr>
          </a:lstStyle>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Embedding textu nebo kódu</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Dotaz vrátí podobné úryvky</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Filtry omezí repo, verzi a typ dat</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Reranking vybere přesnější kontext</a:t>
            </a:r>
          </a:p>
        </p:txBody>
      </p:sp>
      <p:sp>
        <p:nvSpPr>
          <p:cNvPr id="4" name="">
            <a:extLst xmlns:a="http://schemas.openxmlformats.org/drawingml/2006/main">
              <a:ext uri="{FF2B5EF4-FFF2-40B4-BE49-F238E27FC236}">
                <a16:creationId xmlns:a16="http://schemas.microsoft.com/office/drawing/2014/main" id="{42D4321F-2C02-4CA4-B411-93B3F0A6957C}"/>
              </a:ext>
            </a:extLst>
          </p:cNvPr>
          <p:cNvSpPr>
            <a:spLocks xmlns:a="http://schemas.openxmlformats.org/drawingml/2006/main" noGrp="1"/>
          </p:cNvSpPr>
          <p:nvPr/>
        </p:nvSpPr>
        <p:spPr>
          <a:xfrm xmlns:a="http://schemas.openxmlformats.org/drawingml/2006/main">
            <a:off x="6724650" y="1952625"/>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D80"/>
                </a:solidFill>
                <a:latin typeface="DejaVu Sans"/>
                <a:ea typeface="DejaVu Sans"/>
                <a:cs typeface="DejaVu Sans"/>
              </a:defRPr>
            </a:defPPr>
          </a:lstStyle>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„Kde řešíme opakované</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odeslání stejného požadavku?“</a:t>
            </a:r>
          </a:p>
        </p:txBody>
      </p:sp>
      <p:sp>
        <p:nvSpPr>
          <p:cNvPr id="5" name="">
            <a:extLst xmlns:a="http://schemas.openxmlformats.org/drawingml/2006/main">
              <a:ext uri="{FF2B5EF4-FFF2-40B4-BE49-F238E27FC236}">
                <a16:creationId xmlns:a16="http://schemas.microsoft.com/office/drawing/2014/main" id="{A0EEA6AD-406B-4B87-A041-E29A92720402}"/>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Podobnost najde kandidáta. Neprokazuje volání ani úplnost dopadů.</a:t>
            </a:r>
          </a:p>
        </p:txBody>
      </p:sp>
    </p:spTree>
    <p:extLst>
      <p:ext uri="{BB962C8B-B14F-4D97-AF65-F5344CB8AC3E}">
        <p14:creationId xmlns:p14="http://schemas.microsoft.com/office/powerpoint/2010/main" val="521337788"/>
      </p:ext>
    </p:extLst>
  </p:cSld>
</p:sld>
</file>

<file path=ppt/slides/slide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951F02-6516-4900-AFFC-E923C17D93E0}"/>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07</a:t>
            </a:r>
          </a:p>
        </p:txBody>
      </p:sp>
      <p:sp>
        <p:nvSpPr>
          <p:cNvPr id="2" name="">
            <a:extLst xmlns:a="http://schemas.openxmlformats.org/drawingml/2006/main">
              <a:ext uri="{FF2B5EF4-FFF2-40B4-BE49-F238E27FC236}">
                <a16:creationId xmlns:a16="http://schemas.microsoft.com/office/drawing/2014/main" id="{AF7EDBAF-9AFF-4B7E-A69C-6992FAA347D8}"/>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Znalostní graf: typované vztahy</a:t>
            </a:r>
          </a:p>
        </p:txBody>
      </p:sp>
      <p:sp>
        <p:nvSpPr>
          <p:cNvPr id="3" name="">
            <a:extLst xmlns:a="http://schemas.openxmlformats.org/drawingml/2006/main">
              <a:ext uri="{FF2B5EF4-FFF2-40B4-BE49-F238E27FC236}">
                <a16:creationId xmlns:a16="http://schemas.microsoft.com/office/drawing/2014/main" id="{3B4DFFDF-CE5A-4403-B0A5-CF34F12B5841}"/>
              </a:ext>
            </a:extLst>
          </p:cNvPr>
          <p:cNvSpPr>
            <a:spLocks xmlns:a="http://schemas.openxmlformats.org/drawingml/2006/main" noGrp="1"/>
          </p:cNvSpPr>
          <p:nvPr/>
        </p:nvSpPr>
        <p:spPr>
          <a:xfrm xmlns:a="http://schemas.openxmlformats.org/drawingml/2006/main">
            <a:off x="685800" y="1952625"/>
            <a:ext cx="533400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35"/>
                </a:solidFill>
                <a:latin typeface="DejaVu Sans"/>
                <a:ea typeface="DejaVu Sans"/>
                <a:cs typeface="DejaVu Sans"/>
              </a:defRPr>
            </a:defPPr>
          </a:lstStyle>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Uzel: metoda, endpoint, tabulka, ADR</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Hrana: volá, mapuje, čte, mění</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Průchod ukáže řetězec závislostí</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Každá hrana nese původ a platnost</a:t>
            </a:r>
          </a:p>
        </p:txBody>
      </p:sp>
      <p:sp>
        <p:nvSpPr>
          <p:cNvPr id="4" name="">
            <a:extLst xmlns:a="http://schemas.openxmlformats.org/drawingml/2006/main">
              <a:ext uri="{FF2B5EF4-FFF2-40B4-BE49-F238E27FC236}">
                <a16:creationId xmlns:a16="http://schemas.microsoft.com/office/drawing/2014/main" id="{7A504ED2-A07C-4E52-ACC2-06B78C2CFAEB}"/>
              </a:ext>
            </a:extLst>
          </p:cNvPr>
          <p:cNvSpPr>
            <a:spLocks xmlns:a="http://schemas.openxmlformats.org/drawingml/2006/main" noGrp="1"/>
          </p:cNvSpPr>
          <p:nvPr/>
        </p:nvSpPr>
        <p:spPr>
          <a:xfrm xmlns:a="http://schemas.openxmlformats.org/drawingml/2006/main">
            <a:off x="6724650" y="1952625"/>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D80"/>
                </a:solidFill>
                <a:latin typeface="DejaVu Sans"/>
                <a:ea typeface="DejaVu Sans"/>
                <a:cs typeface="DejaVu Sans"/>
              </a:defRPr>
            </a:defPPr>
          </a:lstStyle>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„Co ovlivní změna</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payment.external_id?“</a:t>
            </a:r>
          </a:p>
        </p:txBody>
      </p:sp>
      <p:sp>
        <p:nvSpPr>
          <p:cNvPr id="5" name="">
            <a:extLst xmlns:a="http://schemas.openxmlformats.org/drawingml/2006/main">
              <a:ext uri="{FF2B5EF4-FFF2-40B4-BE49-F238E27FC236}">
                <a16:creationId xmlns:a16="http://schemas.microsoft.com/office/drawing/2014/main" id="{23FE9AD6-0B99-4C71-8AF3-FB000835E032}"/>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Syntaktický vztah, staticky vyřešené volání a pozorovaný běh jsou různé důkazy.</a:t>
            </a:r>
          </a:p>
        </p:txBody>
      </p:sp>
    </p:spTree>
    <p:extLst>
      <p:ext uri="{BB962C8B-B14F-4D97-AF65-F5344CB8AC3E}">
        <p14:creationId xmlns:p14="http://schemas.microsoft.com/office/powerpoint/2010/main" val="2088337110"/>
      </p:ext>
    </p:extLst>
  </p:cSld>
</p:sld>
</file>

<file path=ppt/slides/slide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4E0A390-6243-4730-B336-B04150E7957C}"/>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08</a:t>
            </a:r>
          </a:p>
        </p:txBody>
      </p:sp>
      <p:sp>
        <p:nvSpPr>
          <p:cNvPr id="2" name="">
            <a:extLst xmlns:a="http://schemas.openxmlformats.org/drawingml/2006/main">
              <a:ext uri="{FF2B5EF4-FFF2-40B4-BE49-F238E27FC236}">
                <a16:creationId xmlns:a16="http://schemas.microsoft.com/office/drawing/2014/main" id="{7926B8CB-CBE4-48D6-A951-2B5EF3C270C6}"/>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Volba struktury podle dotazu</a:t>
            </a:r>
          </a:p>
        </p:txBody>
      </p:sp>
      <p:graphicFrame>
        <p:nvGraphicFramePr>
          <p:cNvPr id="3" name="">
            <a:extLst xmlns:a="http://schemas.openxmlformats.org/drawingml/2006/main">
              <a:ext uri="{FF2B5EF4-FFF2-40B4-BE49-F238E27FC236}">
                <a16:creationId xmlns:a16="http://schemas.microsoft.com/office/drawing/2014/main" id="{13161EA8-7B25-40E8-BABA-6437C9D73023}"/>
              </a:ext>
            </a:extLst>
          </p:cNvPr>
          <p:cNvGraphicFramePr/>
          <p:nvPr/>
        </p:nvGraphicFramePr>
        <p:xfrm>
          <a:off xmlns:a="http://schemas.openxmlformats.org/drawingml/2006/main" x="685800" y="1752600"/>
          <a:ext xmlns:a="http://schemas.openxmlformats.org/drawingml/2006/main" cx="10820400" cy="3905250"/>
        </p:xfrm>
        <a:graphic xmlns:a="http://schemas.openxmlformats.org/drawingml/2006/main">
          <a:graphicData uri="http://schemas.openxmlformats.org/drawingml/2006/table">
            <a:tbl>
              <a:tblPr/>
              <a:tblGrid>
                <a:gridCol w="2857500"/>
                <a:gridCol w="3905250"/>
                <a:gridCol w="4057650"/>
              </a:tblGrid>
              <a:tr h="650875">
                <a:tc>
                  <a:txBody>
                    <a:bodyPr/>
                    <a:lstStyle/>
                    <a:p>
                      <a:r>
                        <a:rPr sz="1725" b="1">
                          <a:solidFill>
                            <a:srgbClr val="F7F5EF"/>
                          </a:solidFill>
                          <a:latin typeface="DejaVu Sans"/>
                          <a:ea typeface="DejaVu Sans"/>
                          <a:cs typeface="DejaVu Sans"/>
                        </a:rPr>
                        <a:t>Potřeba</a:t>
                      </a:r>
                    </a:p>
                  </a:txBody>
                  <a:tcPr marL="91440" marR="91440" marT="45720" marB="45720">
                    <a:lnL w="9525">
                      <a:solidFill>
                        <a:srgbClr val="D9DEDA"/>
                      </a:solidFill>
                      <a:prstDash val="solid"/>
                    </a:lnL>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První volba</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Doplněk</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r>
              <a:tr h="650875">
                <a:tc>
                  <a:txBody>
                    <a:bodyPr/>
                    <a:lstStyle/>
                    <a:p>
                      <a:r>
                        <a:rPr sz="1725" b="0">
                          <a:solidFill>
                            <a:srgbClr val="142B35"/>
                          </a:solidFill>
                          <a:latin typeface="DejaVu Sans"/>
                          <a:ea typeface="DejaVu Sans"/>
                          <a:cs typeface="DejaVu Sans"/>
                        </a:rPr>
                        <a:t>Přesný symbol, verze, stav</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SQL / index symbolů</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Fulltext</a:t>
                      </a:r>
                    </a:p>
                  </a:txBody>
                  <a:tcPr marL="91440" marR="91440" marT="45720" marB="45720">
                    <a:lnR w="9525">
                      <a:solidFill>
                        <a:srgbClr val="D9DEDA"/>
                      </a:solidFill>
                      <a:prstDash val="solid"/>
                    </a:lnR>
                    <a:lnB w="9525">
                      <a:solidFill>
                        <a:srgbClr val="D9DEDA"/>
                      </a:solidFill>
                      <a:prstDash val="solid"/>
                    </a:lnB>
                    <a:solidFill>
                      <a:srgbClr val="FFFFFF"/>
                    </a:solidFill>
                  </a:tcPr>
                </a:tc>
              </a:tr>
              <a:tr h="650875">
                <a:tc>
                  <a:txBody>
                    <a:bodyPr/>
                    <a:lstStyle/>
                    <a:p>
                      <a:r>
                        <a:rPr sz="1725" b="0">
                          <a:solidFill>
                            <a:srgbClr val="142B35"/>
                          </a:solidFill>
                          <a:latin typeface="DejaVu Sans"/>
                          <a:ea typeface="DejaVu Sans"/>
                          <a:cs typeface="DejaVu Sans"/>
                        </a:rPr>
                        <a:t>Podobný problém nebo ADR</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Vektory + fulltext</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SQL filtry</a:t>
                      </a:r>
                    </a:p>
                  </a:txBody>
                  <a:tcPr marL="91440" marR="91440" marT="45720" marB="45720">
                    <a:lnR w="9525">
                      <a:solidFill>
                        <a:srgbClr val="D9DEDA"/>
                      </a:solidFill>
                      <a:prstDash val="solid"/>
                    </a:lnR>
                    <a:lnB w="9525">
                      <a:solidFill>
                        <a:srgbClr val="D9DEDA"/>
                      </a:solidFill>
                      <a:prstDash val="solid"/>
                    </a:lnB>
                    <a:solidFill>
                      <a:srgbClr val="EAEFEA"/>
                    </a:solidFill>
                  </a:tcPr>
                </a:tc>
              </a:tr>
              <a:tr h="650875">
                <a:tc>
                  <a:txBody>
                    <a:bodyPr/>
                    <a:lstStyle/>
                    <a:p>
                      <a:r>
                        <a:rPr sz="1725" b="0">
                          <a:solidFill>
                            <a:srgbClr val="142B35"/>
                          </a:solidFill>
                          <a:latin typeface="DejaVu Sans"/>
                          <a:ea typeface="DejaVu Sans"/>
                          <a:cs typeface="DejaVu Sans"/>
                        </a:rPr>
                        <a:t>Dopady napříč komponentami</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Typovaný graf</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Zdrojový kód</a:t>
                      </a:r>
                    </a:p>
                  </a:txBody>
                  <a:tcPr marL="91440" marR="91440" marT="45720" marB="45720">
                    <a:lnR w="9525">
                      <a:solidFill>
                        <a:srgbClr val="D9DEDA"/>
                      </a:solidFill>
                      <a:prstDash val="solid"/>
                    </a:lnR>
                    <a:lnB w="9525">
                      <a:solidFill>
                        <a:srgbClr val="D9DEDA"/>
                      </a:solidFill>
                      <a:prstDash val="solid"/>
                    </a:lnB>
                    <a:solidFill>
                      <a:srgbClr val="FFFFFF"/>
                    </a:solidFill>
                  </a:tcPr>
                </a:tc>
              </a:tr>
              <a:tr h="650875">
                <a:tc>
                  <a:txBody>
                    <a:bodyPr/>
                    <a:lstStyle/>
                    <a:p>
                      <a:r>
                        <a:rPr sz="1725" b="0">
                          <a:solidFill>
                            <a:srgbClr val="142B35"/>
                          </a:solidFill>
                          <a:latin typeface="DejaVu Sans"/>
                          <a:ea typeface="DejaVu Sans"/>
                          <a:cs typeface="DejaVu Sans"/>
                        </a:rPr>
                        <a:t>Obnovení rozpracované práce</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Checkpoint / SQL</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Stručné shrnutí</a:t>
                      </a:r>
                    </a:p>
                  </a:txBody>
                  <a:tcPr marL="91440" marR="91440" marT="45720" marB="45720">
                    <a:lnR w="9525">
                      <a:solidFill>
                        <a:srgbClr val="D9DEDA"/>
                      </a:solidFill>
                      <a:prstDash val="solid"/>
                    </a:lnR>
                    <a:lnB w="9525">
                      <a:solidFill>
                        <a:srgbClr val="D9DEDA"/>
                      </a:solidFill>
                      <a:prstDash val="solid"/>
                    </a:lnB>
                    <a:solidFill>
                      <a:srgbClr val="EAEFEA"/>
                    </a:solidFill>
                  </a:tcPr>
                </a:tc>
              </a:tr>
              <a:tr h="650875">
                <a:tc>
                  <a:txBody>
                    <a:bodyPr/>
                    <a:lstStyle/>
                    <a:p>
                      <a:r>
                        <a:rPr sz="1725" b="0">
                          <a:solidFill>
                            <a:srgbClr val="142B35"/>
                          </a:solidFill>
                          <a:latin typeface="DejaVu Sans"/>
                          <a:ea typeface="DejaVu Sans"/>
                          <a:cs typeface="DejaVu Sans"/>
                        </a:rPr>
                        <a:t>Přehled témat dokumentace</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Hierarchická shrnutí</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GraphRAG</a:t>
                      </a:r>
                    </a:p>
                  </a:txBody>
                  <a:tcPr marL="91440" marR="91440" marT="45720" marB="45720">
                    <a:lnR w="9525">
                      <a:solidFill>
                        <a:srgbClr val="D9DEDA"/>
                      </a:solidFill>
                      <a:prstDash val="solid"/>
                    </a:lnR>
                    <a:lnB w="9525">
                      <a:solidFill>
                        <a:srgbClr val="D9DEDA"/>
                      </a:solidFill>
                      <a:prstDash val="solid"/>
                    </a:lnB>
                    <a:solidFill>
                      <a:srgbClr val="FFFFFF"/>
                    </a:solidFill>
                  </a:tcPr>
                </a:tc>
              </a:tr>
            </a:tbl>
          </a:graphicData>
        </a:graphic>
      </p:graphicFrame>
    </p:spTree>
    <p:extLst>
      <p:ext uri="{BB962C8B-B14F-4D97-AF65-F5344CB8AC3E}">
        <p14:creationId xmlns:p14="http://schemas.microsoft.com/office/powerpoint/2010/main" val="695303571"/>
      </p:ext>
    </p:extLst>
  </p:cSld>
</p:sld>
</file>

<file path=ppt/slides/slide9.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45F5C0F-84FA-4184-AA0C-CC43DF190820}"/>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09</a:t>
            </a:r>
          </a:p>
        </p:txBody>
      </p:sp>
      <p:sp>
        <p:nvSpPr>
          <p:cNvPr id="2" name="">
            <a:extLst xmlns:a="http://schemas.openxmlformats.org/drawingml/2006/main">
              <a:ext uri="{FF2B5EF4-FFF2-40B4-BE49-F238E27FC236}">
                <a16:creationId xmlns:a16="http://schemas.microsoft.com/office/drawing/2014/main" id="{25C0B1C9-D2BA-4478-B14D-B2732F4C9CAC}"/>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Kombinovaná paměť pro backend</a:t>
            </a:r>
          </a:p>
        </p:txBody>
      </p:sp>
      <p:graphicFrame>
        <p:nvGraphicFramePr>
          <p:cNvPr id="3" name="">
            <a:extLst xmlns:a="http://schemas.openxmlformats.org/drawingml/2006/main">
              <a:ext uri="{FF2B5EF4-FFF2-40B4-BE49-F238E27FC236}">
                <a16:creationId xmlns:a16="http://schemas.microsoft.com/office/drawing/2014/main" id="{FD6FE514-9261-4E45-B633-3D0E0E5417EC}"/>
              </a:ext>
            </a:extLst>
          </p:cNvPr>
          <p:cNvGraphicFramePr/>
          <p:nvPr/>
        </p:nvGraphicFramePr>
        <p:xfrm>
          <a:off xmlns:a="http://schemas.openxmlformats.org/drawingml/2006/main" x="685800" y="1752600"/>
          <a:ext xmlns:a="http://schemas.openxmlformats.org/drawingml/2006/main" cx="10820400" cy="3905250"/>
        </p:xfrm>
        <a:graphic xmlns:a="http://schemas.openxmlformats.org/drawingml/2006/main">
          <a:graphicData uri="http://schemas.openxmlformats.org/drawingml/2006/table">
            <a:tbl>
              <a:tblPr/>
              <a:tblGrid>
                <a:gridCol w="3905250"/>
                <a:gridCol w="6915150"/>
              </a:tblGrid>
              <a:tr h="650875">
                <a:tc>
                  <a:txBody>
                    <a:bodyPr/>
                    <a:lstStyle/>
                    <a:p>
                      <a:r>
                        <a:rPr sz="1725" b="1">
                          <a:solidFill>
                            <a:srgbClr val="F7F5EF"/>
                          </a:solidFill>
                          <a:latin typeface="DejaVu Sans"/>
                          <a:ea typeface="DejaVu Sans"/>
                          <a:cs typeface="DejaVu Sans"/>
                        </a:rPr>
                        <a:t>Fáze</a:t>
                      </a:r>
                    </a:p>
                  </a:txBody>
                  <a:tcPr marL="91440" marR="91440" marT="45720" marB="45720">
                    <a:lnL w="9525">
                      <a:solidFill>
                        <a:srgbClr val="D9DEDA"/>
                      </a:solidFill>
                      <a:prstDash val="solid"/>
                    </a:lnL>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Co proběhne</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r>
              <a:tr h="650875">
                <a:tc>
                  <a:txBody>
                    <a:bodyPr/>
                    <a:lstStyle/>
                    <a:p>
                      <a:r>
                        <a:rPr sz="1725" b="0">
                          <a:solidFill>
                            <a:srgbClr val="142B35"/>
                          </a:solidFill>
                          <a:latin typeface="DejaVu Sans"/>
                          <a:ea typeface="DejaVu Sans"/>
                          <a:cs typeface="DejaVu Sans"/>
                        </a:rPr>
                        <a:t>Získání faktů</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Build model, parser, symboly, ORM, SQL migrace</a:t>
                      </a:r>
                    </a:p>
                  </a:txBody>
                  <a:tcPr marL="91440" marR="91440" marT="45720" marB="45720">
                    <a:lnR w="9525">
                      <a:solidFill>
                        <a:srgbClr val="D9DEDA"/>
                      </a:solidFill>
                      <a:prstDash val="solid"/>
                    </a:lnR>
                    <a:lnB w="9525">
                      <a:solidFill>
                        <a:srgbClr val="D9DEDA"/>
                      </a:solidFill>
                      <a:prstDash val="solid"/>
                    </a:lnB>
                    <a:solidFill>
                      <a:srgbClr val="FFFFFF"/>
                    </a:solidFill>
                  </a:tcPr>
                </a:tc>
              </a:tr>
              <a:tr h="650875">
                <a:tc>
                  <a:txBody>
                    <a:bodyPr/>
                    <a:lstStyle/>
                    <a:p>
                      <a:r>
                        <a:rPr sz="1725" b="0">
                          <a:solidFill>
                            <a:srgbClr val="142B35"/>
                          </a:solidFill>
                          <a:latin typeface="DejaVu Sans"/>
                          <a:ea typeface="DejaVu Sans"/>
                          <a:cs typeface="DejaVu Sans"/>
                        </a:rPr>
                        <a:t>Uložení</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SQL jako evidence, vektory pro text, typované hrany</a:t>
                      </a:r>
                    </a:p>
                  </a:txBody>
                  <a:tcPr marL="91440" marR="91440" marT="45720" marB="45720">
                    <a:lnR w="9525">
                      <a:solidFill>
                        <a:srgbClr val="D9DEDA"/>
                      </a:solidFill>
                      <a:prstDash val="solid"/>
                    </a:lnR>
                    <a:lnB w="9525">
                      <a:solidFill>
                        <a:srgbClr val="D9DEDA"/>
                      </a:solidFill>
                      <a:prstDash val="solid"/>
                    </a:lnB>
                    <a:solidFill>
                      <a:srgbClr val="EAEFEA"/>
                    </a:solidFill>
                  </a:tcPr>
                </a:tc>
              </a:tr>
              <a:tr h="650875">
                <a:tc>
                  <a:txBody>
                    <a:bodyPr/>
                    <a:lstStyle/>
                    <a:p>
                      <a:r>
                        <a:rPr sz="1725" b="0">
                          <a:solidFill>
                            <a:srgbClr val="142B35"/>
                          </a:solidFill>
                          <a:latin typeface="DejaVu Sans"/>
                          <a:ea typeface="DejaVu Sans"/>
                          <a:cs typeface="DejaVu Sans"/>
                        </a:rPr>
                        <a:t>Výběr kandidátů</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Přesný dotaz nebo fulltext + sémantické hledání</a:t>
                      </a:r>
                    </a:p>
                  </a:txBody>
                  <a:tcPr marL="91440" marR="91440" marT="45720" marB="45720">
                    <a:lnR w="9525">
                      <a:solidFill>
                        <a:srgbClr val="D9DEDA"/>
                      </a:solidFill>
                      <a:prstDash val="solid"/>
                    </a:lnR>
                    <a:lnB w="9525">
                      <a:solidFill>
                        <a:srgbClr val="D9DEDA"/>
                      </a:solidFill>
                      <a:prstDash val="solid"/>
                    </a:lnB>
                    <a:solidFill>
                      <a:srgbClr val="FFFFFF"/>
                    </a:solidFill>
                  </a:tcPr>
                </a:tc>
              </a:tr>
              <a:tr h="650875">
                <a:tc>
                  <a:txBody>
                    <a:bodyPr/>
                    <a:lstStyle/>
                    <a:p>
                      <a:r>
                        <a:rPr sz="1725" b="0">
                          <a:solidFill>
                            <a:srgbClr val="142B35"/>
                          </a:solidFill>
                          <a:latin typeface="DejaVu Sans"/>
                          <a:ea typeface="DejaVu Sans"/>
                          <a:cs typeface="DejaVu Sans"/>
                        </a:rPr>
                        <a:t>Rozšíření kontextu</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Omezený průchod grafem, deduplikace, reranking</a:t>
                      </a:r>
                    </a:p>
                  </a:txBody>
                  <a:tcPr marL="91440" marR="91440" marT="45720" marB="45720">
                    <a:lnR w="9525">
                      <a:solidFill>
                        <a:srgbClr val="D9DEDA"/>
                      </a:solidFill>
                      <a:prstDash val="solid"/>
                    </a:lnR>
                    <a:lnB w="9525">
                      <a:solidFill>
                        <a:srgbClr val="D9DEDA"/>
                      </a:solidFill>
                      <a:prstDash val="solid"/>
                    </a:lnB>
                    <a:solidFill>
                      <a:srgbClr val="EAEFEA"/>
                    </a:solidFill>
                  </a:tcPr>
                </a:tc>
              </a:tr>
              <a:tr h="650875">
                <a:tc>
                  <a:txBody>
                    <a:bodyPr/>
                    <a:lstStyle/>
                    <a:p>
                      <a:r>
                        <a:rPr sz="1725" b="0">
                          <a:solidFill>
                            <a:srgbClr val="142B35"/>
                          </a:solidFill>
                          <a:latin typeface="DejaVu Sans"/>
                          <a:ea typeface="DejaVu Sans"/>
                          <a:cs typeface="DejaVu Sans"/>
                        </a:rPr>
                        <a:t>Práce agenta</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Zdrojové úryvky v rozpočtu, úprava, build a testy</a:t>
                      </a:r>
                    </a:p>
                  </a:txBody>
                  <a:tcPr marL="91440" marR="91440" marT="45720" marB="45720">
                    <a:lnR w="9525">
                      <a:solidFill>
                        <a:srgbClr val="D9DEDA"/>
                      </a:solidFill>
                      <a:prstDash val="solid"/>
                    </a:lnR>
                    <a:lnB w="9525">
                      <a:solidFill>
                        <a:srgbClr val="D9DEDA"/>
                      </a:solidFill>
                      <a:prstDash val="solid"/>
                    </a:lnB>
                    <a:solidFill>
                      <a:srgbClr val="FFFFFF"/>
                    </a:solidFill>
                  </a:tcPr>
                </a:tc>
              </a:tr>
            </a:tbl>
          </a:graphicData>
        </a:graphic>
      </p:graphicFrame>
    </p:spTree>
    <p:extLst>
      <p:ext uri="{BB962C8B-B14F-4D97-AF65-F5344CB8AC3E}">
        <p14:creationId xmlns:p14="http://schemas.microsoft.com/office/powerpoint/2010/main" val="1503169304"/>
      </p:ext>
    </p:extLst>
  </p:cSld>
</p:sld>
</file>

<file path=ppt/slides/slide10.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1FEBDC-A7B0-4793-B9EB-CEDF3E54B674}"/>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10</a:t>
            </a:r>
          </a:p>
        </p:txBody>
      </p:sp>
      <p:sp>
        <p:nvSpPr>
          <p:cNvPr id="2" name="">
            <a:extLst xmlns:a="http://schemas.openxmlformats.org/drawingml/2006/main">
              <a:ext uri="{FF2B5EF4-FFF2-40B4-BE49-F238E27FC236}">
                <a16:creationId xmlns:a16="http://schemas.microsoft.com/office/drawing/2014/main" id="{96D18D22-EF18-46FE-AF72-0384815E67A1}"/>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Příklad 1: idempotence REST endpointu</a:t>
            </a:r>
          </a:p>
        </p:txBody>
      </p:sp>
      <p:sp>
        <p:nvSpPr>
          <p:cNvPr id="3" name="">
            <a:extLst xmlns:a="http://schemas.openxmlformats.org/drawingml/2006/main">
              <a:ext uri="{FF2B5EF4-FFF2-40B4-BE49-F238E27FC236}">
                <a16:creationId xmlns:a16="http://schemas.microsoft.com/office/drawing/2014/main" id="{2592E504-F6E8-40CC-8603-42A22DA21025}"/>
              </a:ext>
            </a:extLst>
          </p:cNvPr>
          <p:cNvSpPr>
            <a:spLocks xmlns:a="http://schemas.openxmlformats.org/drawingml/2006/main" noGrp="1"/>
          </p:cNvSpPr>
          <p:nvPr/>
        </p:nvSpPr>
        <p:spPr>
          <a:xfrm xmlns:a="http://schemas.openxmlformats.org/drawingml/2006/main">
            <a:off x="685800" y="1952625"/>
            <a:ext cx="533400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35"/>
                </a:solidFill>
                <a:latin typeface="DejaVu Sans"/>
                <a:ea typeface="DejaVu Sans"/>
                <a:cs typeface="DejaVu Sans"/>
              </a:defRPr>
            </a:defPPr>
          </a:lstStyle>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Zadání: zabránit duplicitní platbě</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Vektory najdou ADR a podobné řešení</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Graf dohledá service a repository</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SQL vybere aktuální migrace</a:t>
            </a:r>
          </a:p>
        </p:txBody>
      </p:sp>
      <p:sp>
        <p:nvSpPr>
          <p:cNvPr id="4" name="">
            <a:extLst xmlns:a="http://schemas.openxmlformats.org/drawingml/2006/main">
              <a:ext uri="{FF2B5EF4-FFF2-40B4-BE49-F238E27FC236}">
                <a16:creationId xmlns:a16="http://schemas.microsoft.com/office/drawing/2014/main" id="{6CB62DB7-DA70-4A56-9412-2095CDC7A495}"/>
              </a:ext>
            </a:extLst>
          </p:cNvPr>
          <p:cNvSpPr>
            <a:spLocks xmlns:a="http://schemas.openxmlformats.org/drawingml/2006/main" noGrp="1"/>
          </p:cNvSpPr>
          <p:nvPr/>
        </p:nvSpPr>
        <p:spPr>
          <a:xfrm xmlns:a="http://schemas.openxmlformats.org/drawingml/2006/main">
            <a:off x="6724650" y="1952625"/>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D80"/>
                </a:solidFill>
                <a:latin typeface="DejaVu Sans"/>
                <a:ea typeface="DejaVu Sans"/>
                <a:cs typeface="DejaVu Sans"/>
              </a:defRPr>
            </a:defPPr>
          </a:lstStyle>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Výstup pro agenta:</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endpoint, transakce, unikátní klíč,</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relevantní testy a zdroj ADR.</a:t>
            </a:r>
          </a:p>
        </p:txBody>
      </p:sp>
      <p:sp>
        <p:nvSpPr>
          <p:cNvPr id="5" name="">
            <a:extLst xmlns:a="http://schemas.openxmlformats.org/drawingml/2006/main">
              <a:ext uri="{FF2B5EF4-FFF2-40B4-BE49-F238E27FC236}">
                <a16:creationId xmlns:a16="http://schemas.microsoft.com/office/drawing/2014/main" id="{60F9F435-3149-40E6-8A7F-DA85D0C56A66}"/>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Modelový Kotlin / Spring Boot projekt. Po úpravě následuje integrační test.</a:t>
            </a:r>
          </a:p>
        </p:txBody>
      </p:sp>
    </p:spTree>
    <p:extLst>
      <p:ext uri="{BB962C8B-B14F-4D97-AF65-F5344CB8AC3E}">
        <p14:creationId xmlns:p14="http://schemas.microsoft.com/office/powerpoint/2010/main" val="72806377"/>
      </p:ext>
    </p:extLst>
  </p:cSld>
</p:sld>
</file>

<file path=ppt/slides/slide11.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C34432B-836D-45DA-BB15-1E2C0A9A5FB4}"/>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11</a:t>
            </a:r>
          </a:p>
        </p:txBody>
      </p:sp>
      <p:sp>
        <p:nvSpPr>
          <p:cNvPr id="2" name="">
            <a:extLst xmlns:a="http://schemas.openxmlformats.org/drawingml/2006/main">
              <a:ext uri="{FF2B5EF4-FFF2-40B4-BE49-F238E27FC236}">
                <a16:creationId xmlns:a16="http://schemas.microsoft.com/office/drawing/2014/main" id="{E3820711-5D65-4CC3-BC94-7BD66A91623E}"/>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Příklad 2: změna databázového sloupce</a:t>
            </a:r>
          </a:p>
        </p:txBody>
      </p:sp>
      <p:graphicFrame>
        <p:nvGraphicFramePr>
          <p:cNvPr id="3" name="">
            <a:extLst xmlns:a="http://schemas.openxmlformats.org/drawingml/2006/main">
              <a:ext uri="{FF2B5EF4-FFF2-40B4-BE49-F238E27FC236}">
                <a16:creationId xmlns:a16="http://schemas.microsoft.com/office/drawing/2014/main" id="{34F3A98F-CC87-43A0-8CA6-20B39A4F32E4}"/>
              </a:ext>
            </a:extLst>
          </p:cNvPr>
          <p:cNvGraphicFramePr/>
          <p:nvPr/>
        </p:nvGraphicFramePr>
        <p:xfrm>
          <a:off xmlns:a="http://schemas.openxmlformats.org/drawingml/2006/main" x="685800" y="1752600"/>
          <a:ext xmlns:a="http://schemas.openxmlformats.org/drawingml/2006/main" cx="10820400" cy="3333750"/>
        </p:xfrm>
        <a:graphic xmlns:a="http://schemas.openxmlformats.org/drawingml/2006/main">
          <a:graphicData uri="http://schemas.openxmlformats.org/drawingml/2006/table">
            <a:tbl>
              <a:tblPr/>
              <a:tblGrid>
                <a:gridCol w="2857500"/>
                <a:gridCol w="3905250"/>
                <a:gridCol w="4057650"/>
              </a:tblGrid>
              <a:tr h="666750">
                <a:tc>
                  <a:txBody>
                    <a:bodyPr/>
                    <a:lstStyle/>
                    <a:p>
                      <a:r>
                        <a:rPr sz="1725" b="1">
                          <a:solidFill>
                            <a:srgbClr val="F7F5EF"/>
                          </a:solidFill>
                          <a:latin typeface="DejaVu Sans"/>
                          <a:ea typeface="DejaVu Sans"/>
                          <a:cs typeface="DejaVu Sans"/>
                        </a:rPr>
                        <a:t>Vazba</a:t>
                      </a:r>
                    </a:p>
                  </a:txBody>
                  <a:tcPr marL="91440" marR="91440" marT="45720" marB="45720">
                    <a:lnL w="9525">
                      <a:solidFill>
                        <a:srgbClr val="D9DEDA"/>
                      </a:solidFill>
                      <a:prstDash val="solid"/>
                    </a:lnL>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Důkaz</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Omezení</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r>
              <a:tr h="666750">
                <a:tc>
                  <a:txBody>
                    <a:bodyPr/>
                    <a:lstStyle/>
                    <a:p>
                      <a:r>
                        <a:rPr sz="1725" b="0">
                          <a:solidFill>
                            <a:srgbClr val="142B35"/>
                          </a:solidFill>
                          <a:latin typeface="DejaVu Sans"/>
                          <a:ea typeface="DejaVu Sans"/>
                          <a:cs typeface="DejaVu Sans"/>
                        </a:rPr>
                        <a:t>Flyway migrace → sloupec</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SQL parser + pořadí migrací</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Odlišné nasazené prostředí</a:t>
                      </a:r>
                    </a:p>
                  </a:txBody>
                  <a:tcPr marL="91440" marR="91440" marT="45720" marB="45720">
                    <a:lnR w="9525">
                      <a:solidFill>
                        <a:srgbClr val="D9DEDA"/>
                      </a:solidFill>
                      <a:prstDash val="solid"/>
                    </a:lnR>
                    <a:lnB w="9525">
                      <a:solidFill>
                        <a:srgbClr val="D9DEDA"/>
                      </a:solidFill>
                      <a:prstDash val="solid"/>
                    </a:lnB>
                    <a:solidFill>
                      <a:srgbClr val="FFFFFF"/>
                    </a:solidFill>
                  </a:tcPr>
                </a:tc>
              </a:tr>
              <a:tr h="666750">
                <a:tc>
                  <a:txBody>
                    <a:bodyPr/>
                    <a:lstStyle/>
                    <a:p>
                      <a:r>
                        <a:rPr sz="1725" b="0">
                          <a:solidFill>
                            <a:srgbClr val="142B35"/>
                          </a:solidFill>
                          <a:latin typeface="DejaVu Sans"/>
                          <a:ea typeface="DejaVu Sans"/>
                          <a:cs typeface="DejaVu Sans"/>
                        </a:rPr>
                        <a:t>JPA atribut → sloupec</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@Column + naming strategy</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Implicitní názvy, konverze</a:t>
                      </a:r>
                    </a:p>
                  </a:txBody>
                  <a:tcPr marL="91440" marR="91440" marT="45720" marB="45720">
                    <a:lnR w="9525">
                      <a:solidFill>
                        <a:srgbClr val="D9DEDA"/>
                      </a:solidFill>
                      <a:prstDash val="solid"/>
                    </a:lnR>
                    <a:lnB w="9525">
                      <a:solidFill>
                        <a:srgbClr val="D9DEDA"/>
                      </a:solidFill>
                      <a:prstDash val="solid"/>
                    </a:lnB>
                    <a:solidFill>
                      <a:srgbClr val="EAEFEA"/>
                    </a:solidFill>
                  </a:tcPr>
                </a:tc>
              </a:tr>
              <a:tr h="666750">
                <a:tc>
                  <a:txBody>
                    <a:bodyPr/>
                    <a:lstStyle/>
                    <a:p>
                      <a:r>
                        <a:rPr sz="1725" b="0">
                          <a:solidFill>
                            <a:srgbClr val="142B35"/>
                          </a:solidFill>
                          <a:latin typeface="DejaVu Sans"/>
                          <a:ea typeface="DejaVu Sans"/>
                          <a:cs typeface="DejaVu Sans"/>
                        </a:rPr>
                        <a:t>Repository → atribut</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Vyřešená query / metoda</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Dynamické a native SQL</a:t>
                      </a:r>
                    </a:p>
                  </a:txBody>
                  <a:tcPr marL="91440" marR="91440" marT="45720" marB="45720">
                    <a:lnR w="9525">
                      <a:solidFill>
                        <a:srgbClr val="D9DEDA"/>
                      </a:solidFill>
                      <a:prstDash val="solid"/>
                    </a:lnR>
                    <a:lnB w="9525">
                      <a:solidFill>
                        <a:srgbClr val="D9DEDA"/>
                      </a:solidFill>
                      <a:prstDash val="solid"/>
                    </a:lnB>
                    <a:solidFill>
                      <a:srgbClr val="FFFFFF"/>
                    </a:solidFill>
                  </a:tcPr>
                </a:tc>
              </a:tr>
              <a:tr h="666750">
                <a:tc>
                  <a:txBody>
                    <a:bodyPr/>
                    <a:lstStyle/>
                    <a:p>
                      <a:r>
                        <a:rPr sz="1725" b="0">
                          <a:solidFill>
                            <a:srgbClr val="142B35"/>
                          </a:solidFill>
                          <a:latin typeface="DejaVu Sans"/>
                          <a:ea typeface="DejaVu Sans"/>
                          <a:cs typeface="DejaVu Sans"/>
                        </a:rPr>
                        <a:t>Service → repository</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Typová analýza volání</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Proxy, profily, reflexe</a:t>
                      </a:r>
                    </a:p>
                  </a:txBody>
                  <a:tcPr marL="91440" marR="91440" marT="45720" marB="45720">
                    <a:lnR w="9525">
                      <a:solidFill>
                        <a:srgbClr val="D9DEDA"/>
                      </a:solidFill>
                      <a:prstDash val="solid"/>
                    </a:lnR>
                    <a:lnB w="9525">
                      <a:solidFill>
                        <a:srgbClr val="D9DEDA"/>
                      </a:solidFill>
                      <a:prstDash val="solid"/>
                    </a:lnB>
                    <a:solidFill>
                      <a:srgbClr val="EAEFEA"/>
                    </a:solidFill>
                  </a:tcPr>
                </a:tc>
              </a:tr>
            </a:tbl>
          </a:graphicData>
        </a:graphic>
      </p:graphicFrame>
    </p:spTree>
    <p:extLst>
      <p:ext uri="{BB962C8B-B14F-4D97-AF65-F5344CB8AC3E}">
        <p14:creationId xmlns:p14="http://schemas.microsoft.com/office/powerpoint/2010/main" val="210661794"/>
      </p:ext>
    </p:extLst>
  </p:cSld>
</p:sld>
</file>

<file path=ppt/slides/slide1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1E621E-B9CD-416B-A407-7F7E0118B91F}"/>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12</a:t>
            </a:r>
          </a:p>
        </p:txBody>
      </p:sp>
      <p:sp>
        <p:nvSpPr>
          <p:cNvPr id="2" name="">
            <a:extLst xmlns:a="http://schemas.openxmlformats.org/drawingml/2006/main">
              <a:ext uri="{FF2B5EF4-FFF2-40B4-BE49-F238E27FC236}">
                <a16:creationId xmlns:a16="http://schemas.microsoft.com/office/drawing/2014/main" id="{A9CB2975-E2D9-4DFB-80A3-ADB518400524}"/>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Příklad 3: paměť rozhodnutí</a:t>
            </a:r>
          </a:p>
        </p:txBody>
      </p:sp>
      <p:sp>
        <p:nvSpPr>
          <p:cNvPr id="3" name="">
            <a:extLst xmlns:a="http://schemas.openxmlformats.org/drawingml/2006/main">
              <a:ext uri="{FF2B5EF4-FFF2-40B4-BE49-F238E27FC236}">
                <a16:creationId xmlns:a16="http://schemas.microsoft.com/office/drawing/2014/main" id="{B284E64C-86E4-41EF-8DBC-B67DCA950874}"/>
              </a:ext>
            </a:extLst>
          </p:cNvPr>
          <p:cNvSpPr>
            <a:spLocks xmlns:a="http://schemas.openxmlformats.org/drawingml/2006/main" noGrp="1"/>
          </p:cNvSpPr>
          <p:nvPr/>
        </p:nvSpPr>
        <p:spPr>
          <a:xfrm xmlns:a="http://schemas.openxmlformats.org/drawingml/2006/main">
            <a:off x="685800" y="1952625"/>
            <a:ext cx="533400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35"/>
                </a:solidFill>
                <a:latin typeface="DejaVu Sans"/>
                <a:ea typeface="DejaVu Sans"/>
                <a:cs typeface="DejaVu Sans"/>
              </a:defRPr>
            </a:defPPr>
          </a:lstStyle>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V květnu: retry je vypnuté</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V červnu: retry jen pro timeout</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V říjnu: agent upravuje klienta</a:t>
            </a:r>
          </a:p>
        </p:txBody>
      </p:sp>
      <p:sp>
        <p:nvSpPr>
          <p:cNvPr id="4" name="">
            <a:extLst xmlns:a="http://schemas.openxmlformats.org/drawingml/2006/main">
              <a:ext uri="{FF2B5EF4-FFF2-40B4-BE49-F238E27FC236}">
                <a16:creationId xmlns:a16="http://schemas.microsoft.com/office/drawing/2014/main" id="{3FE6D116-5FA7-459E-A4B9-4232A8F66322}"/>
              </a:ext>
            </a:extLst>
          </p:cNvPr>
          <p:cNvSpPr>
            <a:spLocks xmlns:a="http://schemas.openxmlformats.org/drawingml/2006/main" noGrp="1"/>
          </p:cNvSpPr>
          <p:nvPr/>
        </p:nvSpPr>
        <p:spPr>
          <a:xfrm xmlns:a="http://schemas.openxmlformats.org/drawingml/2006/main">
            <a:off x="6724650" y="1952625"/>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D80"/>
                </a:solidFill>
                <a:latin typeface="DejaVu Sans"/>
                <a:ea typeface="DejaVu Sans"/>
                <a:cs typeface="DejaVu Sans"/>
              </a:defRPr>
            </a:defPPr>
          </a:lstStyle>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Vyhledat aktuální pravidlo</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spolu s důvodem a historií.</a:t>
            </a:r>
          </a:p>
        </p:txBody>
      </p:sp>
      <p:sp>
        <p:nvSpPr>
          <p:cNvPr id="5" name="">
            <a:extLst xmlns:a="http://schemas.openxmlformats.org/drawingml/2006/main">
              <a:ext uri="{FF2B5EF4-FFF2-40B4-BE49-F238E27FC236}">
                <a16:creationId xmlns:a16="http://schemas.microsoft.com/office/drawing/2014/main" id="{5A907E9F-D2CB-42DB-8656-AD4F48A5DB31}"/>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commit, valid_from, valid_to, source a supersedes omezují použití zastaralých faktů.</a:t>
            </a:r>
          </a:p>
        </p:txBody>
      </p:sp>
    </p:spTree>
    <p:extLst>
      <p:ext uri="{BB962C8B-B14F-4D97-AF65-F5344CB8AC3E}">
        <p14:creationId xmlns:p14="http://schemas.microsoft.com/office/powerpoint/2010/main" val="1269671814"/>
      </p:ext>
    </p:extLst>
  </p:cSld>
</p:sld>
</file>

<file path=ppt/slides/slide1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8550B28-0EFD-42C8-897F-D25665BD347A}"/>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13</a:t>
            </a:r>
          </a:p>
        </p:txBody>
      </p:sp>
      <p:sp>
        <p:nvSpPr>
          <p:cNvPr id="2" name="">
            <a:extLst xmlns:a="http://schemas.openxmlformats.org/drawingml/2006/main">
              <a:ext uri="{FF2B5EF4-FFF2-40B4-BE49-F238E27FC236}">
                <a16:creationId xmlns:a16="http://schemas.microsoft.com/office/drawing/2014/main" id="{798E9541-442E-422A-8581-911E51BF7500}"/>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Kvalita extrakce rozhoduje o kvalitě paměti</a:t>
            </a:r>
          </a:p>
        </p:txBody>
      </p:sp>
      <p:graphicFrame>
        <p:nvGraphicFramePr>
          <p:cNvPr id="3" name="">
            <a:extLst xmlns:a="http://schemas.openxmlformats.org/drawingml/2006/main">
              <a:ext uri="{FF2B5EF4-FFF2-40B4-BE49-F238E27FC236}">
                <a16:creationId xmlns:a16="http://schemas.microsoft.com/office/drawing/2014/main" id="{9C9AB017-446F-4823-A0AE-05C8C7A50EA9}"/>
              </a:ext>
            </a:extLst>
          </p:cNvPr>
          <p:cNvGraphicFramePr/>
          <p:nvPr/>
        </p:nvGraphicFramePr>
        <p:xfrm>
          <a:off xmlns:a="http://schemas.openxmlformats.org/drawingml/2006/main" x="685800" y="1752600"/>
          <a:ext xmlns:a="http://schemas.openxmlformats.org/drawingml/2006/main" cx="10820400" cy="3905250"/>
        </p:xfrm>
        <a:graphic xmlns:a="http://schemas.openxmlformats.org/drawingml/2006/main">
          <a:graphicData uri="http://schemas.openxmlformats.org/drawingml/2006/table">
            <a:tbl>
              <a:tblPr/>
              <a:tblGrid>
                <a:gridCol w="3905250"/>
                <a:gridCol w="6915150"/>
              </a:tblGrid>
              <a:tr h="650875">
                <a:tc>
                  <a:txBody>
                    <a:bodyPr/>
                    <a:lstStyle/>
                    <a:p>
                      <a:r>
                        <a:rPr sz="1725" b="1">
                          <a:solidFill>
                            <a:srgbClr val="F7F5EF"/>
                          </a:solidFill>
                          <a:latin typeface="DejaVu Sans"/>
                          <a:ea typeface="DejaVu Sans"/>
                          <a:cs typeface="DejaVu Sans"/>
                        </a:rPr>
                        <a:t>Riziko</a:t>
                      </a:r>
                    </a:p>
                  </a:txBody>
                  <a:tcPr marL="91440" marR="91440" marT="45720" marB="45720">
                    <a:lnL w="9525">
                      <a:solidFill>
                        <a:srgbClr val="D9DEDA"/>
                      </a:solidFill>
                      <a:prstDash val="solid"/>
                    </a:lnL>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Opatření</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r>
              <a:tr h="650875">
                <a:tc>
                  <a:txBody>
                    <a:bodyPr/>
                    <a:lstStyle/>
                    <a:p>
                      <a:r>
                        <a:rPr sz="1725" b="0">
                          <a:solidFill>
                            <a:srgbClr val="142B35"/>
                          </a:solidFill>
                          <a:latin typeface="DejaVu Sans"/>
                          <a:ea typeface="DejaVu Sans"/>
                          <a:cs typeface="DejaVu Sans"/>
                        </a:rPr>
                        <a:t>Testy se tváří jako produkce</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Source set a typ artefaktu jako povinný filtr</a:t>
                      </a:r>
                    </a:p>
                  </a:txBody>
                  <a:tcPr marL="91440" marR="91440" marT="45720" marB="45720">
                    <a:lnR w="9525">
                      <a:solidFill>
                        <a:srgbClr val="D9DEDA"/>
                      </a:solidFill>
                      <a:prstDash val="solid"/>
                    </a:lnR>
                    <a:lnB w="9525">
                      <a:solidFill>
                        <a:srgbClr val="D9DEDA"/>
                      </a:solidFill>
                      <a:prstDash val="solid"/>
                    </a:lnB>
                    <a:solidFill>
                      <a:srgbClr val="FFFFFF"/>
                    </a:solidFill>
                  </a:tcPr>
                </a:tc>
              </a:tr>
              <a:tr h="650875">
                <a:tc>
                  <a:txBody>
                    <a:bodyPr/>
                    <a:lstStyle/>
                    <a:p>
                      <a:r>
                        <a:rPr sz="1725" b="0">
                          <a:solidFill>
                            <a:srgbClr val="142B35"/>
                          </a:solidFill>
                          <a:latin typeface="DejaVu Sans"/>
                          <a:ea typeface="DejaVu Sans"/>
                          <a:cs typeface="DejaVu Sans"/>
                        </a:rPr>
                        <a:t>Enum je centrem kvůli četnosti</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Ranking podle úkolu a typu vztahu</a:t>
                      </a:r>
                    </a:p>
                  </a:txBody>
                  <a:tcPr marL="91440" marR="91440" marT="45720" marB="45720">
                    <a:lnR w="9525">
                      <a:solidFill>
                        <a:srgbClr val="D9DEDA"/>
                      </a:solidFill>
                      <a:prstDash val="solid"/>
                    </a:lnR>
                    <a:lnB w="9525">
                      <a:solidFill>
                        <a:srgbClr val="D9DEDA"/>
                      </a:solidFill>
                      <a:prstDash val="solid"/>
                    </a:lnB>
                    <a:solidFill>
                      <a:srgbClr val="EAEFEA"/>
                    </a:solidFill>
                  </a:tcPr>
                </a:tc>
              </a:tr>
              <a:tr h="650875">
                <a:tc>
                  <a:txBody>
                    <a:bodyPr/>
                    <a:lstStyle/>
                    <a:p>
                      <a:r>
                        <a:rPr sz="1725" b="0">
                          <a:solidFill>
                            <a:srgbClr val="142B35"/>
                          </a:solidFill>
                          <a:latin typeface="DejaVu Sans"/>
                          <a:ea typeface="DejaVu Sans"/>
                          <a:cs typeface="DejaVu Sans"/>
                        </a:rPr>
                        <a:t>Konfigurace splývá s voláním</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Oddělené vrstvy a explicitní typy hran</a:t>
                      </a:r>
                    </a:p>
                  </a:txBody>
                  <a:tcPr marL="91440" marR="91440" marT="45720" marB="45720">
                    <a:lnR w="9525">
                      <a:solidFill>
                        <a:srgbClr val="D9DEDA"/>
                      </a:solidFill>
                      <a:prstDash val="solid"/>
                    </a:lnR>
                    <a:lnB w="9525">
                      <a:solidFill>
                        <a:srgbClr val="D9DEDA"/>
                      </a:solidFill>
                      <a:prstDash val="solid"/>
                    </a:lnB>
                    <a:solidFill>
                      <a:srgbClr val="FFFFFF"/>
                    </a:solidFill>
                  </a:tcPr>
                </a:tc>
              </a:tr>
              <a:tr h="650875">
                <a:tc>
                  <a:txBody>
                    <a:bodyPr/>
                    <a:lstStyle/>
                    <a:p>
                      <a:r>
                        <a:rPr sz="1725" b="0">
                          <a:solidFill>
                            <a:srgbClr val="142B35"/>
                          </a:solidFill>
                          <a:latin typeface="DejaVu Sans"/>
                          <a:ea typeface="DejaVu Sans"/>
                          <a:cs typeface="DejaVu Sans"/>
                        </a:rPr>
                        <a:t>LLM odhad vypadá jako fakt</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Původ, důkaz a status resolved / inferred</a:t>
                      </a:r>
                    </a:p>
                  </a:txBody>
                  <a:tcPr marL="91440" marR="91440" marT="45720" marB="45720">
                    <a:lnR w="9525">
                      <a:solidFill>
                        <a:srgbClr val="D9DEDA"/>
                      </a:solidFill>
                      <a:prstDash val="solid"/>
                    </a:lnR>
                    <a:lnB w="9525">
                      <a:solidFill>
                        <a:srgbClr val="D9DEDA"/>
                      </a:solidFill>
                      <a:prstDash val="solid"/>
                    </a:lnB>
                    <a:solidFill>
                      <a:srgbClr val="EAEFEA"/>
                    </a:solidFill>
                  </a:tcPr>
                </a:tc>
              </a:tr>
              <a:tr h="650875">
                <a:tc>
                  <a:txBody>
                    <a:bodyPr/>
                    <a:lstStyle/>
                    <a:p>
                      <a:r>
                        <a:rPr sz="1725" b="0">
                          <a:solidFill>
                            <a:srgbClr val="142B35"/>
                          </a:solidFill>
                          <a:latin typeface="DejaVu Sans"/>
                          <a:ea typeface="DejaVu Sans"/>
                          <a:cs typeface="DejaVu Sans"/>
                        </a:rPr>
                        <a:t>Index zaostává za kódem</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Diff update, mazání, kontrola commitu</a:t>
                      </a:r>
                    </a:p>
                  </a:txBody>
                  <a:tcPr marL="91440" marR="91440" marT="45720" marB="45720">
                    <a:lnR w="9525">
                      <a:solidFill>
                        <a:srgbClr val="D9DEDA"/>
                      </a:solidFill>
                      <a:prstDash val="solid"/>
                    </a:lnR>
                    <a:lnB w="9525">
                      <a:solidFill>
                        <a:srgbClr val="D9DEDA"/>
                      </a:solidFill>
                      <a:prstDash val="solid"/>
                    </a:lnB>
                    <a:solidFill>
                      <a:srgbClr val="FFFFFF"/>
                    </a:solidFill>
                  </a:tcPr>
                </a:tc>
              </a:tr>
            </a:tbl>
          </a:graphicData>
        </a:graphic>
      </p:graphicFrame>
    </p:spTree>
    <p:extLst>
      <p:ext uri="{BB962C8B-B14F-4D97-AF65-F5344CB8AC3E}">
        <p14:creationId xmlns:p14="http://schemas.microsoft.com/office/powerpoint/2010/main" val="147639967"/>
      </p:ext>
    </p:extLst>
  </p:cSld>
</p:sld>
</file>

<file path=ppt/slides/slide1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F5B1E6-BAF2-4E47-BE9C-6FDBD989AD00}"/>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14</a:t>
            </a:r>
          </a:p>
        </p:txBody>
      </p:sp>
      <p:sp>
        <p:nvSpPr>
          <p:cNvPr id="2" name="">
            <a:extLst xmlns:a="http://schemas.openxmlformats.org/drawingml/2006/main">
              <a:ext uri="{FF2B5EF4-FFF2-40B4-BE49-F238E27FC236}">
                <a16:creationId xmlns:a16="http://schemas.microsoft.com/office/drawing/2014/main" id="{E6D0A7D3-F603-42CD-899A-8A40BE5814A9}"/>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Malý kontext s dohledatelnými důkazy</a:t>
            </a:r>
          </a:p>
        </p:txBody>
      </p:sp>
      <p:sp>
        <p:nvSpPr>
          <p:cNvPr id="3" name="">
            <a:extLst xmlns:a="http://schemas.openxmlformats.org/drawingml/2006/main">
              <a:ext uri="{FF2B5EF4-FFF2-40B4-BE49-F238E27FC236}">
                <a16:creationId xmlns:a16="http://schemas.microsoft.com/office/drawing/2014/main" id="{06ADA629-1E16-4E05-A8AA-3D872F04F172}"/>
              </a:ext>
            </a:extLst>
          </p:cNvPr>
          <p:cNvSpPr>
            <a:spLocks xmlns:a="http://schemas.openxmlformats.org/drawingml/2006/main" noGrp="1"/>
          </p:cNvSpPr>
          <p:nvPr/>
        </p:nvSpPr>
        <p:spPr>
          <a:xfrm xmlns:a="http://schemas.openxmlformats.org/drawingml/2006/main">
            <a:off x="685800" y="1952625"/>
            <a:ext cx="533400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35"/>
                </a:solidFill>
                <a:latin typeface="DejaVu Sans"/>
                <a:ea typeface="DejaVu Sans"/>
                <a:cs typeface="DejaVu Sans"/>
              </a:defRPr>
            </a:defPPr>
          </a:lstStyle>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Nejdříve filtr verze a oprávnění</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Potom relevance a závislosti</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Limity na počet hran i tokenů</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Shrnutí vždy s odkazem na zdroj</a:t>
            </a:r>
          </a:p>
        </p:txBody>
      </p:sp>
      <p:sp>
        <p:nvSpPr>
          <p:cNvPr id="4" name="">
            <a:extLst xmlns:a="http://schemas.openxmlformats.org/drawingml/2006/main">
              <a:ext uri="{FF2B5EF4-FFF2-40B4-BE49-F238E27FC236}">
                <a16:creationId xmlns:a16="http://schemas.microsoft.com/office/drawing/2014/main" id="{7D7E66BA-BDE4-435E-8F1E-DA47BEB0DD9E}"/>
              </a:ext>
            </a:extLst>
          </p:cNvPr>
          <p:cNvSpPr>
            <a:spLocks xmlns:a="http://schemas.openxmlformats.org/drawingml/2006/main" noGrp="1"/>
          </p:cNvSpPr>
          <p:nvPr/>
        </p:nvSpPr>
        <p:spPr>
          <a:xfrm xmlns:a="http://schemas.openxmlformats.org/drawingml/2006/main">
            <a:off x="6724650" y="1952625"/>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D80"/>
                </a:solidFill>
                <a:latin typeface="DejaVu Sans"/>
                <a:ea typeface="DejaVu Sans"/>
                <a:cs typeface="DejaVu Sans"/>
              </a:defRPr>
            </a:defPPr>
          </a:lstStyle>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Příklad rozpočtu 12 000 tokenů:</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2 000 zadání a pravidla</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7 000 kód a důkazy</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3 000 stav práce</a:t>
            </a:r>
          </a:p>
        </p:txBody>
      </p:sp>
      <p:sp>
        <p:nvSpPr>
          <p:cNvPr id="5" name="">
            <a:extLst xmlns:a="http://schemas.openxmlformats.org/drawingml/2006/main">
              <a:ext uri="{FF2B5EF4-FFF2-40B4-BE49-F238E27FC236}">
                <a16:creationId xmlns:a16="http://schemas.microsoft.com/office/drawing/2014/main" id="{23F23110-0057-4BC8-80E7-8669699AE0AF}"/>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Ilustrativní rozpočet. Chybějící důkaz spouští další cílené čtení.</a:t>
            </a:r>
          </a:p>
        </p:txBody>
      </p:sp>
    </p:spTree>
    <p:extLst>
      <p:ext uri="{BB962C8B-B14F-4D97-AF65-F5344CB8AC3E}">
        <p14:creationId xmlns:p14="http://schemas.microsoft.com/office/powerpoint/2010/main" val="1179647241"/>
      </p:ext>
    </p:extLst>
  </p:cSld>
</p:sld>
</file>

<file path=ppt/slides/slide1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927AEE-C2E8-4821-BD89-1FABD1911CE8}"/>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15</a:t>
            </a:r>
          </a:p>
        </p:txBody>
      </p:sp>
      <p:sp>
        <p:nvSpPr>
          <p:cNvPr id="2" name="">
            <a:extLst xmlns:a="http://schemas.openxmlformats.org/drawingml/2006/main">
              <a:ext uri="{FF2B5EF4-FFF2-40B4-BE49-F238E27FC236}">
                <a16:creationId xmlns:a16="http://schemas.microsoft.com/office/drawing/2014/main" id="{773945C2-DB76-4075-B863-25E893CAB0CB}"/>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Graphify a Aider: orientace v kódu</a:t>
            </a:r>
          </a:p>
        </p:txBody>
      </p:sp>
      <p:graphicFrame>
        <p:nvGraphicFramePr>
          <p:cNvPr id="3" name="">
            <a:extLst xmlns:a="http://schemas.openxmlformats.org/drawingml/2006/main">
              <a:ext uri="{FF2B5EF4-FFF2-40B4-BE49-F238E27FC236}">
                <a16:creationId xmlns:a16="http://schemas.microsoft.com/office/drawing/2014/main" id="{0B0D9282-5F6D-411C-8CA8-6E2DFB1CE0B5}"/>
              </a:ext>
            </a:extLst>
          </p:cNvPr>
          <p:cNvGraphicFramePr/>
          <p:nvPr/>
        </p:nvGraphicFramePr>
        <p:xfrm>
          <a:off xmlns:a="http://schemas.openxmlformats.org/drawingml/2006/main" x="685800" y="1752600"/>
          <a:ext xmlns:a="http://schemas.openxmlformats.org/drawingml/2006/main" cx="10820400" cy="2000250"/>
        </p:xfrm>
        <a:graphic xmlns:a="http://schemas.openxmlformats.org/drawingml/2006/main">
          <a:graphicData uri="http://schemas.openxmlformats.org/drawingml/2006/table">
            <a:tbl>
              <a:tblPr/>
              <a:tblGrid>
                <a:gridCol w="2857500"/>
                <a:gridCol w="3905250"/>
                <a:gridCol w="4057650"/>
              </a:tblGrid>
              <a:tr h="666750">
                <a:tc>
                  <a:txBody>
                    <a:bodyPr/>
                    <a:lstStyle/>
                    <a:p>
                      <a:r>
                        <a:rPr sz="1725" b="1">
                          <a:solidFill>
                            <a:srgbClr val="F7F5EF"/>
                          </a:solidFill>
                          <a:latin typeface="DejaVu Sans"/>
                          <a:ea typeface="DejaVu Sans"/>
                          <a:cs typeface="DejaVu Sans"/>
                        </a:rPr>
                        <a:t>Nástroj</a:t>
                      </a:r>
                    </a:p>
                  </a:txBody>
                  <a:tcPr marL="91440" marR="91440" marT="45720" marB="45720">
                    <a:lnL w="9525">
                      <a:solidFill>
                        <a:srgbClr val="D9DEDA"/>
                      </a:solidFill>
                      <a:prstDash val="solid"/>
                    </a:lnL>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Mechanismus</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Vhodné použití</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r>
              <a:tr h="666750">
                <a:tc>
                  <a:txBody>
                    <a:bodyPr/>
                    <a:lstStyle/>
                    <a:p>
                      <a:r>
                        <a:rPr sz="1725" b="0">
                          <a:solidFill>
                            <a:srgbClr val="142B35"/>
                          </a:solidFill>
                          <a:latin typeface="DejaVu Sans"/>
                          <a:ea typeface="DejaVu Sans"/>
                          <a:cs typeface="DejaVu Sans"/>
                        </a:rPr>
                        <a:t>Graphify</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AST graf, query / path / explain</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Průzkum vztahů v repo + dokumenty</a:t>
                      </a:r>
                    </a:p>
                  </a:txBody>
                  <a:tcPr marL="91440" marR="91440" marT="45720" marB="45720">
                    <a:lnR w="9525">
                      <a:solidFill>
                        <a:srgbClr val="D9DEDA"/>
                      </a:solidFill>
                      <a:prstDash val="solid"/>
                    </a:lnR>
                    <a:lnB w="9525">
                      <a:solidFill>
                        <a:srgbClr val="D9DEDA"/>
                      </a:solidFill>
                      <a:prstDash val="solid"/>
                    </a:lnB>
                    <a:solidFill>
                      <a:srgbClr val="FFFFFF"/>
                    </a:solidFill>
                  </a:tcPr>
                </a:tc>
              </a:tr>
              <a:tr h="666750">
                <a:tc>
                  <a:txBody>
                    <a:bodyPr/>
                    <a:lstStyle/>
                    <a:p>
                      <a:r>
                        <a:rPr sz="1725" b="0">
                          <a:solidFill>
                            <a:srgbClr val="142B35"/>
                          </a:solidFill>
                          <a:latin typeface="DejaVu Sans"/>
                          <a:ea typeface="DejaVu Sans"/>
                          <a:cs typeface="DejaVu Sans"/>
                        </a:rPr>
                        <a:t>Aider repo map</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Signatury a grafový ranking v token limitu</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Kompaktní orientace při editaci</a:t>
                      </a:r>
                    </a:p>
                  </a:txBody>
                  <a:tcPr marL="91440" marR="91440" marT="45720" marB="45720">
                    <a:lnR w="9525">
                      <a:solidFill>
                        <a:srgbClr val="D9DEDA"/>
                      </a:solidFill>
                      <a:prstDash val="solid"/>
                    </a:lnR>
                    <a:lnB w="9525">
                      <a:solidFill>
                        <a:srgbClr val="D9DEDA"/>
                      </a:solidFill>
                      <a:prstDash val="solid"/>
                    </a:lnB>
                    <a:solidFill>
                      <a:srgbClr val="EAEFEA"/>
                    </a:solidFill>
                  </a:tcPr>
                </a:tc>
              </a:tr>
            </a:tbl>
          </a:graphicData>
        </a:graphic>
      </p:graphicFrame>
      <p:sp>
        <p:nvSpPr>
          <p:cNvPr id="4" name="">
            <a:extLst xmlns:a="http://schemas.openxmlformats.org/drawingml/2006/main">
              <a:ext uri="{FF2B5EF4-FFF2-40B4-BE49-F238E27FC236}">
                <a16:creationId xmlns:a16="http://schemas.microsoft.com/office/drawing/2014/main" id="{8E40A535-129E-44A7-AA08-2C19308AE916}"/>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U obou ověřit Kotlin, přesnost vazeb, rozlišení source setů a aktualizaci na změnách.</a:t>
            </a:r>
          </a:p>
        </p:txBody>
      </p:sp>
    </p:spTree>
    <p:extLst>
      <p:ext uri="{BB962C8B-B14F-4D97-AF65-F5344CB8AC3E}">
        <p14:creationId xmlns:p14="http://schemas.microsoft.com/office/powerpoint/2010/main" val="51803291"/>
      </p:ext>
    </p:extLst>
  </p:cSld>
</p:sld>
</file>

<file path=ppt/slides/slide1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18CA6D9-FAC7-44E3-8ED9-4A7C97004BA3}"/>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16</a:t>
            </a:r>
          </a:p>
        </p:txBody>
      </p:sp>
      <p:sp>
        <p:nvSpPr>
          <p:cNvPr id="2" name="">
            <a:extLst xmlns:a="http://schemas.openxmlformats.org/drawingml/2006/main">
              <a:ext uri="{FF2B5EF4-FFF2-40B4-BE49-F238E27FC236}">
                <a16:creationId xmlns:a16="http://schemas.microsoft.com/office/drawing/2014/main" id="{2AA97102-6069-4FBF-80A9-D11CC4174A60}"/>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GraphRAG, Graphiti a Mem0</a:t>
            </a:r>
          </a:p>
        </p:txBody>
      </p:sp>
      <p:graphicFrame>
        <p:nvGraphicFramePr>
          <p:cNvPr id="3" name="">
            <a:extLst xmlns:a="http://schemas.openxmlformats.org/drawingml/2006/main">
              <a:ext uri="{FF2B5EF4-FFF2-40B4-BE49-F238E27FC236}">
                <a16:creationId xmlns:a16="http://schemas.microsoft.com/office/drawing/2014/main" id="{F838E8CB-1DCD-43DF-8912-D6E665286887}"/>
              </a:ext>
            </a:extLst>
          </p:cNvPr>
          <p:cNvGraphicFramePr/>
          <p:nvPr/>
        </p:nvGraphicFramePr>
        <p:xfrm>
          <a:off xmlns:a="http://schemas.openxmlformats.org/drawingml/2006/main" x="685800" y="1752600"/>
          <a:ext xmlns:a="http://schemas.openxmlformats.org/drawingml/2006/main" cx="10820400" cy="2667000"/>
        </p:xfrm>
        <a:graphic xmlns:a="http://schemas.openxmlformats.org/drawingml/2006/main">
          <a:graphicData uri="http://schemas.openxmlformats.org/drawingml/2006/table">
            <a:tbl>
              <a:tblPr/>
              <a:tblGrid>
                <a:gridCol w="2857500"/>
                <a:gridCol w="3905250"/>
                <a:gridCol w="4057650"/>
              </a:tblGrid>
              <a:tr h="666750">
                <a:tc>
                  <a:txBody>
                    <a:bodyPr/>
                    <a:lstStyle/>
                    <a:p>
                      <a:r>
                        <a:rPr sz="1725" b="1">
                          <a:solidFill>
                            <a:srgbClr val="F7F5EF"/>
                          </a:solidFill>
                          <a:latin typeface="DejaVu Sans"/>
                          <a:ea typeface="DejaVu Sans"/>
                          <a:cs typeface="DejaVu Sans"/>
                        </a:rPr>
                        <a:t>Nástroj</a:t>
                      </a:r>
                    </a:p>
                  </a:txBody>
                  <a:tcPr marL="91440" marR="91440" marT="45720" marB="45720">
                    <a:lnL w="9525">
                      <a:solidFill>
                        <a:srgbClr val="D9DEDA"/>
                      </a:solidFill>
                      <a:prstDash val="solid"/>
                    </a:lnL>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Primární role</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Hlavní kompromis</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r>
              <a:tr h="666750">
                <a:tc>
                  <a:txBody>
                    <a:bodyPr/>
                    <a:lstStyle/>
                    <a:p>
                      <a:r>
                        <a:rPr sz="1725" b="0">
                          <a:solidFill>
                            <a:srgbClr val="142B35"/>
                          </a:solidFill>
                          <a:latin typeface="DejaVu Sans"/>
                          <a:ea typeface="DejaVu Sans"/>
                          <a:cs typeface="DejaVu Sans"/>
                        </a:rPr>
                        <a:t>Microsoft GraphRAG</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Entity a souhrny dokumentových komunit</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Indexace a globální dotazy mohou být nákladné</a:t>
                      </a:r>
                    </a:p>
                  </a:txBody>
                  <a:tcPr marL="91440" marR="91440" marT="45720" marB="45720">
                    <a:lnR w="9525">
                      <a:solidFill>
                        <a:srgbClr val="D9DEDA"/>
                      </a:solidFill>
                      <a:prstDash val="solid"/>
                    </a:lnR>
                    <a:lnB w="9525">
                      <a:solidFill>
                        <a:srgbClr val="D9DEDA"/>
                      </a:solidFill>
                      <a:prstDash val="solid"/>
                    </a:lnB>
                    <a:solidFill>
                      <a:srgbClr val="FFFFFF"/>
                    </a:solidFill>
                  </a:tcPr>
                </a:tc>
              </a:tr>
              <a:tr h="666750">
                <a:tc>
                  <a:txBody>
                    <a:bodyPr/>
                    <a:lstStyle/>
                    <a:p>
                      <a:r>
                        <a:rPr sz="1725" b="0">
                          <a:solidFill>
                            <a:srgbClr val="142B35"/>
                          </a:solidFill>
                          <a:latin typeface="DejaVu Sans"/>
                          <a:ea typeface="DejaVu Sans"/>
                          <a:cs typeface="DejaVu Sans"/>
                        </a:rPr>
                        <a:t>Graphiti / Zep</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Časové vztahy a inkrementální paměť</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Extrakce, řešení entit a provoz grafu</a:t>
                      </a:r>
                    </a:p>
                  </a:txBody>
                  <a:tcPr marL="91440" marR="91440" marT="45720" marB="45720">
                    <a:lnR w="9525">
                      <a:solidFill>
                        <a:srgbClr val="D9DEDA"/>
                      </a:solidFill>
                      <a:prstDash val="solid"/>
                    </a:lnR>
                    <a:lnB w="9525">
                      <a:solidFill>
                        <a:srgbClr val="D9DEDA"/>
                      </a:solidFill>
                      <a:prstDash val="solid"/>
                    </a:lnB>
                    <a:solidFill>
                      <a:srgbClr val="EAEFEA"/>
                    </a:solidFill>
                  </a:tcPr>
                </a:tc>
              </a:tr>
              <a:tr h="666750">
                <a:tc>
                  <a:txBody>
                    <a:bodyPr/>
                    <a:lstStyle/>
                    <a:p>
                      <a:r>
                        <a:rPr sz="1725" b="0">
                          <a:solidFill>
                            <a:srgbClr val="142B35"/>
                          </a:solidFill>
                          <a:latin typeface="DejaVu Sans"/>
                          <a:ea typeface="DejaVu Sans"/>
                          <a:cs typeface="DejaVu Sans"/>
                        </a:rPr>
                        <a:t>Mem0</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Výběr a aktualizace dlouhodobých vzpomínek</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Paměť konverzace neřeší sama strukturu kódu</a:t>
                      </a:r>
                    </a:p>
                  </a:txBody>
                  <a:tcPr marL="91440" marR="91440" marT="45720" marB="45720">
                    <a:lnR w="9525">
                      <a:solidFill>
                        <a:srgbClr val="D9DEDA"/>
                      </a:solidFill>
                      <a:prstDash val="solid"/>
                    </a:lnR>
                    <a:lnB w="9525">
                      <a:solidFill>
                        <a:srgbClr val="D9DEDA"/>
                      </a:solidFill>
                      <a:prstDash val="solid"/>
                    </a:lnB>
                    <a:solidFill>
                      <a:srgbClr val="FFFFFF"/>
                    </a:solidFill>
                  </a:tcPr>
                </a:tc>
              </a:tr>
            </a:tbl>
          </a:graphicData>
        </a:graphic>
      </p:graphicFrame>
    </p:spTree>
    <p:extLst>
      <p:ext uri="{BB962C8B-B14F-4D97-AF65-F5344CB8AC3E}">
        <p14:creationId xmlns:p14="http://schemas.microsoft.com/office/powerpoint/2010/main" val="544477523"/>
      </p:ext>
    </p:extLst>
  </p:cSld>
</p:sld>
</file>

<file path=ppt/slides/slide1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5A48FF-F8F5-488C-9B73-33DA6FA5C731}"/>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17</a:t>
            </a:r>
          </a:p>
        </p:txBody>
      </p:sp>
      <p:sp>
        <p:nvSpPr>
          <p:cNvPr id="2" name="">
            <a:extLst xmlns:a="http://schemas.openxmlformats.org/drawingml/2006/main">
              <a:ext uri="{FF2B5EF4-FFF2-40B4-BE49-F238E27FC236}">
                <a16:creationId xmlns:a16="http://schemas.microsoft.com/office/drawing/2014/main" id="{B8286831-6A39-4CC4-A20C-A748DAE55F46}"/>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Úložiště a framework nejsou totéž</a:t>
            </a:r>
          </a:p>
        </p:txBody>
      </p:sp>
      <p:graphicFrame>
        <p:nvGraphicFramePr>
          <p:cNvPr id="3" name="">
            <a:extLst xmlns:a="http://schemas.openxmlformats.org/drawingml/2006/main">
              <a:ext uri="{FF2B5EF4-FFF2-40B4-BE49-F238E27FC236}">
                <a16:creationId xmlns:a16="http://schemas.microsoft.com/office/drawing/2014/main" id="{8EFAF97E-7B72-4AE7-81AB-3BAB3DDCB7D5}"/>
              </a:ext>
            </a:extLst>
          </p:cNvPr>
          <p:cNvGraphicFramePr/>
          <p:nvPr/>
        </p:nvGraphicFramePr>
        <p:xfrm>
          <a:off xmlns:a="http://schemas.openxmlformats.org/drawingml/2006/main" x="685800" y="1752600"/>
          <a:ext xmlns:a="http://schemas.openxmlformats.org/drawingml/2006/main" cx="10820400" cy="3333750"/>
        </p:xfrm>
        <a:graphic xmlns:a="http://schemas.openxmlformats.org/drawingml/2006/main">
          <a:graphicData uri="http://schemas.openxmlformats.org/drawingml/2006/table">
            <a:tbl>
              <a:tblPr/>
              <a:tblGrid>
                <a:gridCol w="2857500"/>
                <a:gridCol w="3905250"/>
                <a:gridCol w="4057650"/>
              </a:tblGrid>
              <a:tr h="666750">
                <a:tc>
                  <a:txBody>
                    <a:bodyPr/>
                    <a:lstStyle/>
                    <a:p>
                      <a:r>
                        <a:rPr sz="1725" b="1">
                          <a:solidFill>
                            <a:srgbClr val="F7F5EF"/>
                          </a:solidFill>
                          <a:latin typeface="DejaVu Sans"/>
                          <a:ea typeface="DejaVu Sans"/>
                          <a:cs typeface="DejaVu Sans"/>
                        </a:rPr>
                        <a:t>Řešení</a:t>
                      </a:r>
                    </a:p>
                  </a:txBody>
                  <a:tcPr marL="91440" marR="91440" marT="45720" marB="45720">
                    <a:lnL w="9525">
                      <a:solidFill>
                        <a:srgbClr val="D9DEDA"/>
                      </a:solidFill>
                      <a:prstDash val="solid"/>
                    </a:lnL>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Co dodává</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Co musíme doplnit</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r>
              <a:tr h="666750">
                <a:tc>
                  <a:txBody>
                    <a:bodyPr/>
                    <a:lstStyle/>
                    <a:p>
                      <a:r>
                        <a:rPr sz="1725" b="0">
                          <a:solidFill>
                            <a:srgbClr val="142B35"/>
                          </a:solidFill>
                          <a:latin typeface="DejaVu Sans"/>
                          <a:ea typeface="DejaVu Sans"/>
                          <a:cs typeface="DejaVu Sans"/>
                        </a:rPr>
                        <a:t>PostgreSQL</a:t>
                      </a:r>
                    </a:p>
                    <a:p>
                      <a:r>
                        <a:rPr sz="1725" b="0">
                          <a:solidFill>
                            <a:srgbClr val="142B35"/>
                          </a:solidFill>
                          <a:latin typeface="DejaVu Sans"/>
                          <a:ea typeface="DejaVu Sans"/>
                          <a:cs typeface="DejaVu Sans"/>
                        </a:rPr>
                        <a:t>+ pgvector</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Fakta, transakce, fulltext a vektory</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Extrakci, routing, aktualizaci</a:t>
                      </a:r>
                    </a:p>
                  </a:txBody>
                  <a:tcPr marL="91440" marR="91440" marT="45720" marB="45720">
                    <a:lnR w="9525">
                      <a:solidFill>
                        <a:srgbClr val="D9DEDA"/>
                      </a:solidFill>
                      <a:prstDash val="solid"/>
                    </a:lnR>
                    <a:lnB w="9525">
                      <a:solidFill>
                        <a:srgbClr val="D9DEDA"/>
                      </a:solidFill>
                      <a:prstDash val="solid"/>
                    </a:lnB>
                    <a:solidFill>
                      <a:srgbClr val="FFFFFF"/>
                    </a:solidFill>
                  </a:tcPr>
                </a:tc>
              </a:tr>
              <a:tr h="666750">
                <a:tc>
                  <a:txBody>
                    <a:bodyPr/>
                    <a:lstStyle/>
                    <a:p>
                      <a:r>
                        <a:rPr sz="1725" b="0">
                          <a:solidFill>
                            <a:srgbClr val="142B35"/>
                          </a:solidFill>
                          <a:latin typeface="DejaVu Sans"/>
                          <a:ea typeface="DejaVu Sans"/>
                          <a:cs typeface="DejaVu Sans"/>
                        </a:rPr>
                        <a:t>Qdrant</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Vektorové / hybridní vyhledávání</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Autoritativní fakta a analýzu kódu</a:t>
                      </a:r>
                    </a:p>
                  </a:txBody>
                  <a:tcPr marL="91440" marR="91440" marT="45720" marB="45720">
                    <a:lnR w="9525">
                      <a:solidFill>
                        <a:srgbClr val="D9DEDA"/>
                      </a:solidFill>
                      <a:prstDash val="solid"/>
                    </a:lnR>
                    <a:lnB w="9525">
                      <a:solidFill>
                        <a:srgbClr val="D9DEDA"/>
                      </a:solidFill>
                      <a:prstDash val="solid"/>
                    </a:lnB>
                    <a:solidFill>
                      <a:srgbClr val="EAEFEA"/>
                    </a:solidFill>
                  </a:tcPr>
                </a:tc>
              </a:tr>
              <a:tr h="666750">
                <a:tc>
                  <a:txBody>
                    <a:bodyPr/>
                    <a:lstStyle/>
                    <a:p>
                      <a:r>
                        <a:rPr sz="1725" b="0">
                          <a:solidFill>
                            <a:srgbClr val="142B35"/>
                          </a:solidFill>
                          <a:latin typeface="DejaVu Sans"/>
                          <a:ea typeface="DejaVu Sans"/>
                          <a:cs typeface="DejaVu Sans"/>
                        </a:rPr>
                        <a:t>Grafová DB</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Uložení vztahů a průchody</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Schéma hran a kvalitní extraktor</a:t>
                      </a:r>
                    </a:p>
                  </a:txBody>
                  <a:tcPr marL="91440" marR="91440" marT="45720" marB="45720">
                    <a:lnR w="9525">
                      <a:solidFill>
                        <a:srgbClr val="D9DEDA"/>
                      </a:solidFill>
                      <a:prstDash val="solid"/>
                    </a:lnR>
                    <a:lnB w="9525">
                      <a:solidFill>
                        <a:srgbClr val="D9DEDA"/>
                      </a:solidFill>
                      <a:prstDash val="solid"/>
                    </a:lnB>
                    <a:solidFill>
                      <a:srgbClr val="FFFFFF"/>
                    </a:solidFill>
                  </a:tcPr>
                </a:tc>
              </a:tr>
              <a:tr h="666750">
                <a:tc>
                  <a:txBody>
                    <a:bodyPr/>
                    <a:lstStyle/>
                    <a:p>
                      <a:r>
                        <a:rPr sz="1725" b="0">
                          <a:solidFill>
                            <a:srgbClr val="142B35"/>
                          </a:solidFill>
                          <a:latin typeface="DejaVu Sans"/>
                          <a:ea typeface="DejaVu Sans"/>
                          <a:cs typeface="DejaVu Sans"/>
                        </a:rPr>
                        <a:t>LangGraph</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Stav a řízení workflow / paměti</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Doménový index a retrieval</a:t>
                      </a:r>
                    </a:p>
                  </a:txBody>
                  <a:tcPr marL="91440" marR="91440" marT="45720" marB="45720">
                    <a:lnR w="9525">
                      <a:solidFill>
                        <a:srgbClr val="D9DEDA"/>
                      </a:solidFill>
                      <a:prstDash val="solid"/>
                    </a:lnR>
                    <a:lnB w="9525">
                      <a:solidFill>
                        <a:srgbClr val="D9DEDA"/>
                      </a:solidFill>
                      <a:prstDash val="solid"/>
                    </a:lnB>
                    <a:solidFill>
                      <a:srgbClr val="EAEFEA"/>
                    </a:solidFill>
                  </a:tcPr>
                </a:tc>
              </a:tr>
            </a:tbl>
          </a:graphicData>
        </a:graphic>
      </p:graphicFrame>
      <p:sp>
        <p:nvSpPr>
          <p:cNvPr id="4" name="">
            <a:extLst xmlns:a="http://schemas.openxmlformats.org/drawingml/2006/main">
              <a:ext uri="{FF2B5EF4-FFF2-40B4-BE49-F238E27FC236}">
                <a16:creationId xmlns:a16="http://schemas.microsoft.com/office/drawing/2014/main" id="{5BC7CE59-23CF-411F-970E-B4DDD616BBA1}"/>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Doporučení pro první pilot: existující PostgreSQL, index symbolů a cílené doplňky.</a:t>
            </a:r>
          </a:p>
        </p:txBody>
      </p:sp>
    </p:spTree>
    <p:extLst>
      <p:ext uri="{BB962C8B-B14F-4D97-AF65-F5344CB8AC3E}">
        <p14:creationId xmlns:p14="http://schemas.microsoft.com/office/powerpoint/2010/main" val="1713252320"/>
      </p:ext>
    </p:extLst>
  </p:cSld>
</p:sld>
</file>

<file path=ppt/slides/slide1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537846-FB2B-4399-B2D3-4E103B4B1B35}"/>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18</a:t>
            </a:r>
          </a:p>
        </p:txBody>
      </p:sp>
      <p:sp>
        <p:nvSpPr>
          <p:cNvPr id="2" name="">
            <a:extLst xmlns:a="http://schemas.openxmlformats.org/drawingml/2006/main">
              <a:ext uri="{FF2B5EF4-FFF2-40B4-BE49-F238E27FC236}">
                <a16:creationId xmlns:a16="http://schemas.microsoft.com/office/drawing/2014/main" id="{D88B4678-7621-47F0-BB5A-12B48BBEDBD6}"/>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Co říkají publikované úspory</a:t>
            </a:r>
          </a:p>
        </p:txBody>
      </p:sp>
      <p:sp>
        <p:nvSpPr>
          <p:cNvPr id="3" name="">
            <a:extLst xmlns:a="http://schemas.openxmlformats.org/drawingml/2006/main">
              <a:ext uri="{FF2B5EF4-FFF2-40B4-BE49-F238E27FC236}">
                <a16:creationId xmlns:a16="http://schemas.microsoft.com/office/drawing/2014/main" id="{84FE84A9-1C0D-4B6F-8F89-D6885AFC33E8}"/>
              </a:ext>
            </a:extLst>
          </p:cNvPr>
          <p:cNvSpPr>
            <a:spLocks xmlns:a="http://schemas.openxmlformats.org/drawingml/2006/main" noGrp="1"/>
          </p:cNvSpPr>
          <p:nvPr/>
        </p:nvSpPr>
        <p:spPr>
          <a:xfrm xmlns:a="http://schemas.openxmlformats.org/drawingml/2006/main">
            <a:off x="685800" y="1952625"/>
            <a:ext cx="533400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35"/>
                </a:solidFill>
                <a:latin typeface="DejaVu Sans"/>
                <a:ea typeface="DejaVu Sans"/>
                <a:cs typeface="DejaVu Sans"/>
              </a:defRPr>
            </a:defPPr>
          </a:lstStyle>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Mem0: přes 90 % tokenové úspory</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proti full-context v LOCOMO</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Graphify Cloud: tvrzení o 80 %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snížení spotřeby tokenů</a:t>
            </a:r>
          </a:p>
        </p:txBody>
      </p:sp>
      <p:sp>
        <p:nvSpPr>
          <p:cNvPr id="4" name="">
            <a:extLst xmlns:a="http://schemas.openxmlformats.org/drawingml/2006/main">
              <a:ext uri="{FF2B5EF4-FFF2-40B4-BE49-F238E27FC236}">
                <a16:creationId xmlns:a16="http://schemas.microsoft.com/office/drawing/2014/main" id="{A8B86040-669E-4ED1-AEE0-97E89F7E96BB}"/>
              </a:ext>
            </a:extLst>
          </p:cNvPr>
          <p:cNvSpPr>
            <a:spLocks xmlns:a="http://schemas.openxmlformats.org/drawingml/2006/main" noGrp="1"/>
          </p:cNvSpPr>
          <p:nvPr/>
        </p:nvSpPr>
        <p:spPr>
          <a:xfrm xmlns:a="http://schemas.openxmlformats.org/drawingml/2006/main">
            <a:off x="6724650" y="1952625"/>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D80"/>
                </a:solidFill>
                <a:latin typeface="DejaVu Sans"/>
                <a:ea typeface="DejaVu Sans"/>
                <a:cs typeface="DejaVu Sans"/>
              </a:defRPr>
            </a:defPPr>
          </a:lstStyle>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Ani jedno číslo není zárukou</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úspory na implementačních</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úlohách v našem repozitáři.</a:t>
            </a:r>
          </a:p>
        </p:txBody>
      </p:sp>
      <p:sp>
        <p:nvSpPr>
          <p:cNvPr id="5" name="">
            <a:extLst xmlns:a="http://schemas.openxmlformats.org/drawingml/2006/main">
              <a:ext uri="{FF2B5EF4-FFF2-40B4-BE49-F238E27FC236}">
                <a16:creationId xmlns:a16="http://schemas.microsoft.com/office/drawing/2014/main" id="{E8529AB8-0357-4C81-B792-52C204B6B554}"/>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Výsledky autorů / dodavatele. Odlišné úlohy, baseline a rozsah započtených nákladů.</a:t>
            </a:r>
          </a:p>
        </p:txBody>
      </p:sp>
    </p:spTree>
    <p:extLst>
      <p:ext uri="{BB962C8B-B14F-4D97-AF65-F5344CB8AC3E}">
        <p14:creationId xmlns:p14="http://schemas.microsoft.com/office/powerpoint/2010/main" val="617403333"/>
      </p:ext>
    </p:extLst>
  </p:cSld>
</p:sld>
</file>

<file path=ppt/slides/slide19.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B5A652-1A75-4127-9F6E-565D9E3137AA}"/>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19</a:t>
            </a:r>
          </a:p>
        </p:txBody>
      </p:sp>
      <p:sp>
        <p:nvSpPr>
          <p:cNvPr id="2" name="">
            <a:extLst xmlns:a="http://schemas.openxmlformats.org/drawingml/2006/main">
              <a:ext uri="{FF2B5EF4-FFF2-40B4-BE49-F238E27FC236}">
                <a16:creationId xmlns:a16="http://schemas.microsoft.com/office/drawing/2014/main" id="{D05B4F11-2E5D-43CF-A46F-11B002B19BD6}"/>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Model nákladů jednoho úkolu</a:t>
            </a:r>
          </a:p>
        </p:txBody>
      </p:sp>
      <p:sp>
        <p:nvSpPr>
          <p:cNvPr id="3" name="">
            <a:extLst xmlns:a="http://schemas.openxmlformats.org/drawingml/2006/main">
              <a:ext uri="{FF2B5EF4-FFF2-40B4-BE49-F238E27FC236}">
                <a16:creationId xmlns:a16="http://schemas.microsoft.com/office/drawing/2014/main" id="{436A09C9-5286-4FC3-8745-91C8133F2C18}"/>
              </a:ext>
            </a:extLst>
          </p:cNvPr>
          <p:cNvSpPr>
            <a:spLocks xmlns:a="http://schemas.openxmlformats.org/drawingml/2006/main" noGrp="1"/>
          </p:cNvSpPr>
          <p:nvPr/>
        </p:nvSpPr>
        <p:spPr>
          <a:xfrm xmlns:a="http://schemas.openxmlformats.org/drawingml/2006/main">
            <a:off x="685800" y="1600200"/>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D80"/>
                </a:solidFill>
                <a:latin typeface="DejaVu Sans"/>
                <a:ea typeface="DejaVu Sans"/>
                <a:cs typeface="DejaVu Sans"/>
              </a:defRPr>
            </a:defPPr>
          </a:lstStyle>
          <a:p xmlns:a="http://schemas.openxmlformats.org/drawingml/2006/main">
            <a:pPr>
              <a:defRPr sz="2250" b="1">
                <a:solidFill>
                  <a:srgbClr val="087D80"/>
                </a:solidFill>
                <a:latin typeface="DejaVu Sans"/>
                <a:ea typeface="DejaVu Sans"/>
                <a:cs typeface="DejaVu Sans"/>
              </a:defRPr>
            </a:pPr>
            <a:r>
              <a:rPr sz="2250" b="1">
                <a:solidFill>
                  <a:srgbClr val="087D80"/>
                </a:solidFill>
                <a:latin typeface="DejaVu Sans"/>
                <a:ea typeface="DejaVu Sans"/>
                <a:cs typeface="DejaVu Sans"/>
              </a:rPr>
              <a:t>C = vstup + výstup + paměť + provoz + opravy</a:t>
            </a:r>
          </a:p>
        </p:txBody>
      </p:sp>
      <p:sp>
        <p:nvSpPr>
          <p:cNvPr id="4" name="">
            <a:extLst xmlns:a="http://schemas.openxmlformats.org/drawingml/2006/main">
              <a:ext uri="{FF2B5EF4-FFF2-40B4-BE49-F238E27FC236}">
                <a16:creationId xmlns:a16="http://schemas.microsoft.com/office/drawing/2014/main" id="{7BBB3242-E1A5-4EE2-84A2-6DB67FF03CCC}"/>
              </a:ext>
            </a:extLst>
          </p:cNvPr>
          <p:cNvSpPr>
            <a:spLocks xmlns:a="http://schemas.openxmlformats.org/drawingml/2006/main" noGrp="1"/>
          </p:cNvSpPr>
          <p:nvPr/>
        </p:nvSpPr>
        <p:spPr>
          <a:xfrm xmlns:a="http://schemas.openxmlformats.org/drawingml/2006/main">
            <a:off x="685800" y="2400300"/>
            <a:ext cx="533400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35"/>
                </a:solidFill>
                <a:latin typeface="DejaVu Sans"/>
                <a:ea typeface="DejaVu Sans"/>
                <a:cs typeface="DejaVu Sans"/>
              </a:defRPr>
            </a:defPPr>
          </a:lstStyle>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20 kroků × 75 000 vstupních tokenů</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Celkem 1,50 mil. vstup / 30 tis. výstup</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Modelová sazba 3 / 15 USD za mil. tokenů</a:t>
            </a:r>
          </a:p>
        </p:txBody>
      </p:sp>
      <p:sp>
        <p:nvSpPr>
          <p:cNvPr id="5" name="">
            <a:extLst xmlns:a="http://schemas.openxmlformats.org/drawingml/2006/main">
              <a:ext uri="{FF2B5EF4-FFF2-40B4-BE49-F238E27FC236}">
                <a16:creationId xmlns:a16="http://schemas.microsoft.com/office/drawing/2014/main" id="{D197D9EF-02EE-4170-82D0-9FA76C449AE1}"/>
              </a:ext>
            </a:extLst>
          </p:cNvPr>
          <p:cNvSpPr>
            <a:spLocks xmlns:a="http://schemas.openxmlformats.org/drawingml/2006/main" noGrp="1"/>
          </p:cNvSpPr>
          <p:nvPr/>
        </p:nvSpPr>
        <p:spPr>
          <a:xfrm xmlns:a="http://schemas.openxmlformats.org/drawingml/2006/main">
            <a:off x="6724650" y="2400300"/>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D80"/>
                </a:solidFill>
                <a:latin typeface="DejaVu Sans"/>
                <a:ea typeface="DejaVu Sans"/>
                <a:cs typeface="DejaVu Sans"/>
              </a:defRPr>
            </a:defPPr>
          </a:lstStyle>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Baseline bez cache</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4,50 + 0,45 = 4,95 USD</a:t>
            </a:r>
          </a:p>
        </p:txBody>
      </p:sp>
      <p:sp>
        <p:nvSpPr>
          <p:cNvPr id="6" name="">
            <a:extLst xmlns:a="http://schemas.openxmlformats.org/drawingml/2006/main">
              <a:ext uri="{FF2B5EF4-FFF2-40B4-BE49-F238E27FC236}">
                <a16:creationId xmlns:a16="http://schemas.microsoft.com/office/drawing/2014/main" id="{9A243AFA-D26A-4CEA-B2D0-3D1EB75207D2}"/>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Ilustrace, nikoli ceník nebo naměřený benchmark. Stejný model a úspěšnost.</a:t>
            </a:r>
          </a:p>
        </p:txBody>
      </p:sp>
    </p:spTree>
    <p:extLst>
      <p:ext uri="{BB962C8B-B14F-4D97-AF65-F5344CB8AC3E}">
        <p14:creationId xmlns:p14="http://schemas.microsoft.com/office/powerpoint/2010/main" val="275521701"/>
      </p:ext>
    </p:extLst>
  </p:cSld>
</p:sld>
</file>

<file path=ppt/slides/slide20.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EDA724-E459-4180-A781-F6E02F0BF4CD}"/>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20</a:t>
            </a:r>
          </a:p>
        </p:txBody>
      </p:sp>
      <p:sp>
        <p:nvSpPr>
          <p:cNvPr id="2" name="">
            <a:extLst xmlns:a="http://schemas.openxmlformats.org/drawingml/2006/main">
              <a:ext uri="{FF2B5EF4-FFF2-40B4-BE49-F238E27FC236}">
                <a16:creationId xmlns:a16="http://schemas.microsoft.com/office/drawing/2014/main" id="{3FEEF147-EAAF-4F22-99FB-29E15D475C57}"/>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Model: méně tokenů není celá úspora</a:t>
            </a:r>
          </a:p>
        </p:txBody>
      </p:sp>
      <p:graphicFrame>
        <p:nvGraphicFramePr>
          <p:cNvPr id="3" name="">
            <a:extLst xmlns:a="http://schemas.openxmlformats.org/drawingml/2006/main">
              <a:ext uri="{FF2B5EF4-FFF2-40B4-BE49-F238E27FC236}">
                <a16:creationId xmlns:a16="http://schemas.microsoft.com/office/drawing/2014/main" id="{892D6CA5-AA39-4B58-83D6-64580D6653CB}"/>
              </a:ext>
            </a:extLst>
          </p:cNvPr>
          <p:cNvGraphicFramePr/>
          <p:nvPr/>
        </p:nvGraphicFramePr>
        <p:xfrm>
          <a:off xmlns:a="http://schemas.openxmlformats.org/drawingml/2006/main" x="685800" y="1752600"/>
          <a:ext xmlns:a="http://schemas.openxmlformats.org/drawingml/2006/main" cx="10820400" cy="3905250"/>
        </p:xfrm>
        <a:graphic xmlns:a="http://schemas.openxmlformats.org/drawingml/2006/main">
          <a:graphicData uri="http://schemas.openxmlformats.org/drawingml/2006/table">
            <a:tbl>
              <a:tblPr/>
              <a:tblGrid>
                <a:gridCol w="3143250"/>
                <a:gridCol w="1714500"/>
                <a:gridCol w="2095500"/>
                <a:gridCol w="2095500"/>
                <a:gridCol w="1771650"/>
              </a:tblGrid>
              <a:tr h="650875">
                <a:tc>
                  <a:txBody>
                    <a:bodyPr/>
                    <a:lstStyle/>
                    <a:p>
                      <a:r>
                        <a:rPr sz="1650" b="1">
                          <a:solidFill>
                            <a:srgbClr val="F7F5EF"/>
                          </a:solidFill>
                          <a:latin typeface="DejaVu Sans"/>
                          <a:ea typeface="DejaVu Sans"/>
                          <a:cs typeface="DejaVu Sans"/>
                        </a:rPr>
                        <a:t>Varianta</a:t>
                      </a:r>
                    </a:p>
                  </a:txBody>
                  <a:tcPr marL="91440" marR="91440" marT="45720" marB="45720">
                    <a:lnL w="9525">
                      <a:solidFill>
                        <a:srgbClr val="D9DEDA"/>
                      </a:solidFill>
                      <a:prstDash val="solid"/>
                    </a:lnL>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650" b="1">
                          <a:solidFill>
                            <a:srgbClr val="F7F5EF"/>
                          </a:solidFill>
                          <a:latin typeface="DejaVu Sans"/>
                          <a:ea typeface="DejaVu Sans"/>
                          <a:cs typeface="DejaVu Sans"/>
                        </a:rPr>
                        <a:t>Vstup mil.</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650" b="1">
                          <a:solidFill>
                            <a:srgbClr val="F7F5EF"/>
                          </a:solidFill>
                          <a:latin typeface="DejaVu Sans"/>
                          <a:ea typeface="DejaVu Sans"/>
                          <a:cs typeface="DejaVu Sans"/>
                        </a:rPr>
                        <a:t>Paměť USD</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650" b="1">
                          <a:solidFill>
                            <a:srgbClr val="F7F5EF"/>
                          </a:solidFill>
                          <a:latin typeface="DejaVu Sans"/>
                          <a:ea typeface="DejaVu Sans"/>
                          <a:cs typeface="DejaVu Sans"/>
                        </a:rPr>
                        <a:t>Celkem USD</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650" b="1">
                          <a:solidFill>
                            <a:srgbClr val="F7F5EF"/>
                          </a:solidFill>
                          <a:latin typeface="DejaVu Sans"/>
                          <a:ea typeface="DejaVu Sans"/>
                          <a:cs typeface="DejaVu Sans"/>
                        </a:rPr>
                        <a:t>Úspora</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r>
              <a:tr h="650875">
                <a:tc>
                  <a:txBody>
                    <a:bodyPr/>
                    <a:lstStyle/>
                    <a:p>
                      <a:r>
                        <a:rPr sz="1650" b="0">
                          <a:solidFill>
                            <a:srgbClr val="142B35"/>
                          </a:solidFill>
                          <a:latin typeface="DejaVu Sans"/>
                          <a:ea typeface="DejaVu Sans"/>
                          <a:cs typeface="DejaVu Sans"/>
                        </a:rPr>
                        <a:t>Bez paměti</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650" b="0">
                          <a:solidFill>
                            <a:srgbClr val="142B35"/>
                          </a:solidFill>
                          <a:latin typeface="DejaVu Sans"/>
                          <a:ea typeface="DejaVu Sans"/>
                          <a:cs typeface="DejaVu Sans"/>
                        </a:rPr>
                        <a:t>1,50</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650" b="0">
                          <a:solidFill>
                            <a:srgbClr val="142B35"/>
                          </a:solidFill>
                          <a:latin typeface="DejaVu Sans"/>
                          <a:ea typeface="DejaVu Sans"/>
                          <a:cs typeface="DejaVu Sans"/>
                        </a:rPr>
                        <a:t>0,00</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650" b="0">
                          <a:solidFill>
                            <a:srgbClr val="142B35"/>
                          </a:solidFill>
                          <a:latin typeface="DejaVu Sans"/>
                          <a:ea typeface="DejaVu Sans"/>
                          <a:cs typeface="DejaVu Sans"/>
                        </a:rPr>
                        <a:t>4,95</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650" b="0">
                          <a:solidFill>
                            <a:srgbClr val="142B35"/>
                          </a:solidFill>
                          <a:latin typeface="DejaVu Sans"/>
                          <a:ea typeface="DejaVu Sans"/>
                          <a:cs typeface="DejaVu Sans"/>
                        </a:rPr>
                        <a:t>—</a:t>
                      </a:r>
                    </a:p>
                  </a:txBody>
                  <a:tcPr marL="91440" marR="91440" marT="45720" marB="45720">
                    <a:lnR w="9525">
                      <a:solidFill>
                        <a:srgbClr val="D9DEDA"/>
                      </a:solidFill>
                      <a:prstDash val="solid"/>
                    </a:lnR>
                    <a:lnB w="9525">
                      <a:solidFill>
                        <a:srgbClr val="D9DEDA"/>
                      </a:solidFill>
                      <a:prstDash val="solid"/>
                    </a:lnB>
                    <a:solidFill>
                      <a:srgbClr val="FFFFFF"/>
                    </a:solidFill>
                  </a:tcPr>
                </a:tc>
              </a:tr>
              <a:tr h="650875">
                <a:tc>
                  <a:txBody>
                    <a:bodyPr/>
                    <a:lstStyle/>
                    <a:p>
                      <a:r>
                        <a:rPr sz="1650" b="0">
                          <a:solidFill>
                            <a:srgbClr val="142B35"/>
                          </a:solidFill>
                          <a:latin typeface="DejaVu Sans"/>
                          <a:ea typeface="DejaVu Sans"/>
                          <a:cs typeface="DejaVu Sans"/>
                        </a:rPr>
                        <a:t>SQL + symboly</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650" b="0">
                          <a:solidFill>
                            <a:srgbClr val="142B35"/>
                          </a:solidFill>
                          <a:latin typeface="DejaVu Sans"/>
                          <a:ea typeface="DejaVu Sans"/>
                          <a:cs typeface="DejaVu Sans"/>
                        </a:rPr>
                        <a:t>0,75</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650" b="0">
                          <a:solidFill>
                            <a:srgbClr val="142B35"/>
                          </a:solidFill>
                          <a:latin typeface="DejaVu Sans"/>
                          <a:ea typeface="DejaVu Sans"/>
                          <a:cs typeface="DejaVu Sans"/>
                        </a:rPr>
                        <a:t>0,10</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650" b="0">
                          <a:solidFill>
                            <a:srgbClr val="142B35"/>
                          </a:solidFill>
                          <a:latin typeface="DejaVu Sans"/>
                          <a:ea typeface="DejaVu Sans"/>
                          <a:cs typeface="DejaVu Sans"/>
                        </a:rPr>
                        <a:t>2,80</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650" b="0">
                          <a:solidFill>
                            <a:srgbClr val="142B35"/>
                          </a:solidFill>
                          <a:latin typeface="DejaVu Sans"/>
                          <a:ea typeface="DejaVu Sans"/>
                          <a:cs typeface="DejaVu Sans"/>
                        </a:rPr>
                        <a:t>43 %</a:t>
                      </a:r>
                    </a:p>
                  </a:txBody>
                  <a:tcPr marL="91440" marR="91440" marT="45720" marB="45720">
                    <a:lnR w="9525">
                      <a:solidFill>
                        <a:srgbClr val="D9DEDA"/>
                      </a:solidFill>
                      <a:prstDash val="solid"/>
                    </a:lnR>
                    <a:lnB w="9525">
                      <a:solidFill>
                        <a:srgbClr val="D9DEDA"/>
                      </a:solidFill>
                      <a:prstDash val="solid"/>
                    </a:lnB>
                    <a:solidFill>
                      <a:srgbClr val="EAEFEA"/>
                    </a:solidFill>
                  </a:tcPr>
                </a:tc>
              </a:tr>
              <a:tr h="650875">
                <a:tc>
                  <a:txBody>
                    <a:bodyPr/>
                    <a:lstStyle/>
                    <a:p>
                      <a:r>
                        <a:rPr sz="1650" b="0">
                          <a:solidFill>
                            <a:srgbClr val="142B35"/>
                          </a:solidFill>
                          <a:latin typeface="DejaVu Sans"/>
                          <a:ea typeface="DejaVu Sans"/>
                          <a:cs typeface="DejaVu Sans"/>
                        </a:rPr>
                        <a:t>Vektory + filtry</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650" b="0">
                          <a:solidFill>
                            <a:srgbClr val="142B35"/>
                          </a:solidFill>
                          <a:latin typeface="DejaVu Sans"/>
                          <a:ea typeface="DejaVu Sans"/>
                          <a:cs typeface="DejaVu Sans"/>
                        </a:rPr>
                        <a:t>0,45</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650" b="0">
                          <a:solidFill>
                            <a:srgbClr val="142B35"/>
                          </a:solidFill>
                          <a:latin typeface="DejaVu Sans"/>
                          <a:ea typeface="DejaVu Sans"/>
                          <a:cs typeface="DejaVu Sans"/>
                        </a:rPr>
                        <a:t>0,20</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650" b="0">
                          <a:solidFill>
                            <a:srgbClr val="142B35"/>
                          </a:solidFill>
                          <a:latin typeface="DejaVu Sans"/>
                          <a:ea typeface="DejaVu Sans"/>
                          <a:cs typeface="DejaVu Sans"/>
                        </a:rPr>
                        <a:t>2,00</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650" b="0">
                          <a:solidFill>
                            <a:srgbClr val="142B35"/>
                          </a:solidFill>
                          <a:latin typeface="DejaVu Sans"/>
                          <a:ea typeface="DejaVu Sans"/>
                          <a:cs typeface="DejaVu Sans"/>
                        </a:rPr>
                        <a:t>60 %</a:t>
                      </a:r>
                    </a:p>
                  </a:txBody>
                  <a:tcPr marL="91440" marR="91440" marT="45720" marB="45720">
                    <a:lnR w="9525">
                      <a:solidFill>
                        <a:srgbClr val="D9DEDA"/>
                      </a:solidFill>
                      <a:prstDash val="solid"/>
                    </a:lnR>
                    <a:lnB w="9525">
                      <a:solidFill>
                        <a:srgbClr val="D9DEDA"/>
                      </a:solidFill>
                      <a:prstDash val="solid"/>
                    </a:lnB>
                    <a:solidFill>
                      <a:srgbClr val="FFFFFF"/>
                    </a:solidFill>
                  </a:tcPr>
                </a:tc>
              </a:tr>
              <a:tr h="650875">
                <a:tc>
                  <a:txBody>
                    <a:bodyPr/>
                    <a:lstStyle/>
                    <a:p>
                      <a:r>
                        <a:rPr sz="1650" b="0">
                          <a:solidFill>
                            <a:srgbClr val="142B35"/>
                          </a:solidFill>
                          <a:latin typeface="DejaVu Sans"/>
                          <a:ea typeface="DejaVu Sans"/>
                          <a:cs typeface="DejaVu Sans"/>
                        </a:rPr>
                        <a:t>Typovaný graf</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650" b="0">
                          <a:solidFill>
                            <a:srgbClr val="142B35"/>
                          </a:solidFill>
                          <a:latin typeface="DejaVu Sans"/>
                          <a:ea typeface="DejaVu Sans"/>
                          <a:cs typeface="DejaVu Sans"/>
                        </a:rPr>
                        <a:t>0,30</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650" b="0">
                          <a:solidFill>
                            <a:srgbClr val="142B35"/>
                          </a:solidFill>
                          <a:latin typeface="DejaVu Sans"/>
                          <a:ea typeface="DejaVu Sans"/>
                          <a:cs typeface="DejaVu Sans"/>
                        </a:rPr>
                        <a:t>0,35</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650" b="0">
                          <a:solidFill>
                            <a:srgbClr val="142B35"/>
                          </a:solidFill>
                          <a:latin typeface="DejaVu Sans"/>
                          <a:ea typeface="DejaVu Sans"/>
                          <a:cs typeface="DejaVu Sans"/>
                        </a:rPr>
                        <a:t>1,70</a:t>
                      </a:r>
                    </a:p>
                  </a:txBody>
                  <a:tcPr marL="91440" marR="91440" marT="45720" marB="45720">
                    <a:lnR w="9525">
                      <a:solidFill>
                        <a:srgbClr val="D9DEDA"/>
                      </a:solidFill>
                      <a:prstDash val="solid"/>
                    </a:lnR>
                    <a:lnB w="9525">
                      <a:solidFill>
                        <a:srgbClr val="D9DEDA"/>
                      </a:solidFill>
                      <a:prstDash val="solid"/>
                    </a:lnB>
                    <a:solidFill>
                      <a:srgbClr val="EAEFEA"/>
                    </a:solidFill>
                  </a:tcPr>
                </a:tc>
                <a:tc>
                  <a:txBody>
                    <a:bodyPr/>
                    <a:lstStyle/>
                    <a:p>
                      <a:r>
                        <a:rPr sz="1650" b="0">
                          <a:solidFill>
                            <a:srgbClr val="142B35"/>
                          </a:solidFill>
                          <a:latin typeface="DejaVu Sans"/>
                          <a:ea typeface="DejaVu Sans"/>
                          <a:cs typeface="DejaVu Sans"/>
                        </a:rPr>
                        <a:t>66 %</a:t>
                      </a:r>
                    </a:p>
                  </a:txBody>
                  <a:tcPr marL="91440" marR="91440" marT="45720" marB="45720">
                    <a:lnR w="9525">
                      <a:solidFill>
                        <a:srgbClr val="D9DEDA"/>
                      </a:solidFill>
                      <a:prstDash val="solid"/>
                    </a:lnR>
                    <a:lnB w="9525">
                      <a:solidFill>
                        <a:srgbClr val="D9DEDA"/>
                      </a:solidFill>
                      <a:prstDash val="solid"/>
                    </a:lnB>
                    <a:solidFill>
                      <a:srgbClr val="EAEFEA"/>
                    </a:solidFill>
                  </a:tcPr>
                </a:tc>
              </a:tr>
              <a:tr h="650875">
                <a:tc>
                  <a:txBody>
                    <a:bodyPr/>
                    <a:lstStyle/>
                    <a:p>
                      <a:r>
                        <a:rPr sz="1650" b="0">
                          <a:solidFill>
                            <a:srgbClr val="142B35"/>
                          </a:solidFill>
                          <a:latin typeface="DejaVu Sans"/>
                          <a:ea typeface="DejaVu Sans"/>
                          <a:cs typeface="DejaVu Sans"/>
                        </a:rPr>
                        <a:t>Hybrid</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650" b="0">
                          <a:solidFill>
                            <a:srgbClr val="142B35"/>
                          </a:solidFill>
                          <a:latin typeface="DejaVu Sans"/>
                          <a:ea typeface="DejaVu Sans"/>
                          <a:cs typeface="DejaVu Sans"/>
                        </a:rPr>
                        <a:t>0,24</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650" b="0">
                          <a:solidFill>
                            <a:srgbClr val="142B35"/>
                          </a:solidFill>
                          <a:latin typeface="DejaVu Sans"/>
                          <a:ea typeface="DejaVu Sans"/>
                          <a:cs typeface="DejaVu Sans"/>
                        </a:rPr>
                        <a:t>0,45</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650" b="0">
                          <a:solidFill>
                            <a:srgbClr val="142B35"/>
                          </a:solidFill>
                          <a:latin typeface="DejaVu Sans"/>
                          <a:ea typeface="DejaVu Sans"/>
                          <a:cs typeface="DejaVu Sans"/>
                        </a:rPr>
                        <a:t>1,62</a:t>
                      </a:r>
                    </a:p>
                  </a:txBody>
                  <a:tcPr marL="91440" marR="91440" marT="45720" marB="45720">
                    <a:lnR w="9525">
                      <a:solidFill>
                        <a:srgbClr val="D9DEDA"/>
                      </a:solidFill>
                      <a:prstDash val="solid"/>
                    </a:lnR>
                    <a:lnB w="9525">
                      <a:solidFill>
                        <a:srgbClr val="D9DEDA"/>
                      </a:solidFill>
                      <a:prstDash val="solid"/>
                    </a:lnB>
                    <a:solidFill>
                      <a:srgbClr val="FFFFFF"/>
                    </a:solidFill>
                  </a:tcPr>
                </a:tc>
                <a:tc>
                  <a:txBody>
                    <a:bodyPr/>
                    <a:lstStyle/>
                    <a:p>
                      <a:r>
                        <a:rPr sz="1650" b="0">
                          <a:solidFill>
                            <a:srgbClr val="142B35"/>
                          </a:solidFill>
                          <a:latin typeface="DejaVu Sans"/>
                          <a:ea typeface="DejaVu Sans"/>
                          <a:cs typeface="DejaVu Sans"/>
                        </a:rPr>
                        <a:t>67 %</a:t>
                      </a:r>
                    </a:p>
                  </a:txBody>
                  <a:tcPr marL="91440" marR="91440" marT="45720" marB="45720">
                    <a:lnR w="9525">
                      <a:solidFill>
                        <a:srgbClr val="D9DEDA"/>
                      </a:solidFill>
                      <a:prstDash val="solid"/>
                    </a:lnR>
                    <a:lnB w="9525">
                      <a:solidFill>
                        <a:srgbClr val="D9DE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2544FF6-084A-49A2-B965-3FA53EB62CF2}"/>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Modelové předpoklady. Paměť zahrnuje retrieval a aktualizace. Fixní náklady zvlášť.</a:t>
            </a:r>
          </a:p>
        </p:txBody>
      </p:sp>
    </p:spTree>
    <p:extLst>
      <p:ext uri="{BB962C8B-B14F-4D97-AF65-F5344CB8AC3E}">
        <p14:creationId xmlns:p14="http://schemas.microsoft.com/office/powerpoint/2010/main" val="1917547404"/>
      </p:ext>
    </p:extLst>
  </p:cSld>
</p:sld>
</file>

<file path=ppt/slides/slide21.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04F407-D5BB-456B-9A93-0BFCB3079486}"/>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21</a:t>
            </a:r>
          </a:p>
        </p:txBody>
      </p:sp>
      <p:sp>
        <p:nvSpPr>
          <p:cNvPr id="2" name="">
            <a:extLst xmlns:a="http://schemas.openxmlformats.org/drawingml/2006/main">
              <a:ext uri="{FF2B5EF4-FFF2-40B4-BE49-F238E27FC236}">
                <a16:creationId xmlns:a16="http://schemas.microsoft.com/office/drawing/2014/main" id="{08A841D9-C7FF-48CF-92B5-114617894D17}"/>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Cache a objem práce mění návratnost</a:t>
            </a:r>
          </a:p>
        </p:txBody>
      </p:sp>
      <p:graphicFrame>
        <p:nvGraphicFramePr>
          <p:cNvPr id="3" name="">
            <a:extLst xmlns:a="http://schemas.openxmlformats.org/drawingml/2006/main">
              <a:ext uri="{FF2B5EF4-FFF2-40B4-BE49-F238E27FC236}">
                <a16:creationId xmlns:a16="http://schemas.microsoft.com/office/drawing/2014/main" id="{86669CD6-B9FE-49D9-81A4-CA4A6C854B0F}"/>
              </a:ext>
            </a:extLst>
          </p:cNvPr>
          <p:cNvGraphicFramePr/>
          <p:nvPr/>
        </p:nvGraphicFramePr>
        <p:xfrm>
          <a:off xmlns:a="http://schemas.openxmlformats.org/drawingml/2006/main" x="685800" y="1752600"/>
          <a:ext xmlns:a="http://schemas.openxmlformats.org/drawingml/2006/main" cx="10820400" cy="3333750"/>
        </p:xfrm>
        <a:graphic xmlns:a="http://schemas.openxmlformats.org/drawingml/2006/main">
          <a:graphicData uri="http://schemas.openxmlformats.org/drawingml/2006/table">
            <a:tbl>
              <a:tblPr/>
              <a:tblGrid>
                <a:gridCol w="3905250"/>
                <a:gridCol w="6915150"/>
              </a:tblGrid>
              <a:tr h="666750">
                <a:tc>
                  <a:txBody>
                    <a:bodyPr/>
                    <a:lstStyle/>
                    <a:p>
                      <a:r>
                        <a:rPr sz="1725" b="1">
                          <a:solidFill>
                            <a:srgbClr val="F7F5EF"/>
                          </a:solidFill>
                          <a:latin typeface="DejaVu Sans"/>
                          <a:ea typeface="DejaVu Sans"/>
                          <a:cs typeface="DejaVu Sans"/>
                        </a:rPr>
                        <a:t>Scénář</a:t>
                      </a:r>
                    </a:p>
                  </a:txBody>
                  <a:tcPr marL="91440" marR="91440" marT="45720" marB="45720">
                    <a:lnL w="9525">
                      <a:solidFill>
                        <a:srgbClr val="D9DEDA"/>
                      </a:solidFill>
                      <a:prstDash val="solid"/>
                    </a:lnL>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Výsledek modelu</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r>
              <a:tr h="666750">
                <a:tc>
                  <a:txBody>
                    <a:bodyPr/>
                    <a:lstStyle/>
                    <a:p>
                      <a:r>
                        <a:rPr sz="1725" b="0">
                          <a:solidFill>
                            <a:srgbClr val="142B35"/>
                          </a:solidFill>
                          <a:latin typeface="DejaVu Sans"/>
                          <a:ea typeface="DejaVu Sans"/>
                          <a:cs typeface="DejaVu Sans"/>
                        </a:rPr>
                        <a:t>Bez cache, baseline / hybrid</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4,95 / 1,62 USD za úkol</a:t>
                      </a:r>
                    </a:p>
                  </a:txBody>
                  <a:tcPr marL="91440" marR="91440" marT="45720" marB="45720">
                    <a:lnR w="9525">
                      <a:solidFill>
                        <a:srgbClr val="D9DEDA"/>
                      </a:solidFill>
                      <a:prstDash val="solid"/>
                    </a:lnR>
                    <a:lnB w="9525">
                      <a:solidFill>
                        <a:srgbClr val="D9DEDA"/>
                      </a:solidFill>
                      <a:prstDash val="solid"/>
                    </a:lnB>
                    <a:solidFill>
                      <a:srgbClr val="FFFFFF"/>
                    </a:solidFill>
                  </a:tcPr>
                </a:tc>
              </a:tr>
              <a:tr h="666750">
                <a:tc>
                  <a:txBody>
                    <a:bodyPr/>
                    <a:lstStyle/>
                    <a:p>
                      <a:r>
                        <a:rPr sz="1725" b="0">
                          <a:solidFill>
                            <a:srgbClr val="142B35"/>
                          </a:solidFill>
                          <a:latin typeface="DejaVu Sans"/>
                          <a:ea typeface="DejaVu Sans"/>
                          <a:cs typeface="DejaVu Sans"/>
                        </a:rPr>
                        <a:t>80 % vstupu z cache u obou variant</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1,71 / 1,10 USD za úkol</a:t>
                      </a:r>
                    </a:p>
                  </a:txBody>
                  <a:tcPr marL="91440" marR="91440" marT="45720" marB="45720">
                    <a:lnR w="9525">
                      <a:solidFill>
                        <a:srgbClr val="D9DEDA"/>
                      </a:solidFill>
                      <a:prstDash val="solid"/>
                    </a:lnR>
                    <a:lnB w="9525">
                      <a:solidFill>
                        <a:srgbClr val="D9DEDA"/>
                      </a:solidFill>
                      <a:prstDash val="solid"/>
                    </a:lnB>
                    <a:solidFill>
                      <a:srgbClr val="EAEFEA"/>
                    </a:solidFill>
                  </a:tcPr>
                </a:tc>
              </a:tr>
              <a:tr h="666750">
                <a:tc>
                  <a:txBody>
                    <a:bodyPr/>
                    <a:lstStyle/>
                    <a:p>
                      <a:r>
                        <a:rPr sz="1725" b="0">
                          <a:solidFill>
                            <a:srgbClr val="142B35"/>
                          </a:solidFill>
                          <a:latin typeface="DejaVu Sans"/>
                          <a:ea typeface="DejaVu Sans"/>
                          <a:cs typeface="DejaVu Sans"/>
                        </a:rPr>
                        <a:t>Vstupní investice 300 USD + fixní 60 USD</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Návratnost bez cache: 109 úkolů v 1. měsíci</a:t>
                      </a:r>
                    </a:p>
                  </a:txBody>
                  <a:tcPr marL="91440" marR="91440" marT="45720" marB="45720">
                    <a:lnR w="9525">
                      <a:solidFill>
                        <a:srgbClr val="D9DEDA"/>
                      </a:solidFill>
                      <a:prstDash val="solid"/>
                    </a:lnR>
                    <a:lnB w="9525">
                      <a:solidFill>
                        <a:srgbClr val="D9DEDA"/>
                      </a:solidFill>
                      <a:prstDash val="solid"/>
                    </a:lnB>
                    <a:solidFill>
                      <a:srgbClr val="FFFFFF"/>
                    </a:solidFill>
                  </a:tcPr>
                </a:tc>
              </a:tr>
              <a:tr h="666750">
                <a:tc>
                  <a:txBody>
                    <a:bodyPr/>
                    <a:lstStyle/>
                    <a:p>
                      <a:r>
                        <a:rPr sz="1725" b="0">
                          <a:solidFill>
                            <a:srgbClr val="142B35"/>
                          </a:solidFill>
                          <a:latin typeface="DejaVu Sans"/>
                          <a:ea typeface="DejaVu Sans"/>
                          <a:cs typeface="DejaVu Sans"/>
                        </a:rPr>
                        <a:t>Stejná investice při 80% cache</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Návratnost: 592 úkolů v 1. měsíci</a:t>
                      </a:r>
                    </a:p>
                  </a:txBody>
                  <a:tcPr marL="91440" marR="91440" marT="45720" marB="45720">
                    <a:lnR w="9525">
                      <a:solidFill>
                        <a:srgbClr val="D9DEDA"/>
                      </a:solidFill>
                      <a:prstDash val="solid"/>
                    </a:lnR>
                    <a:lnB w="9525">
                      <a:solidFill>
                        <a:srgbClr val="D9DEDA"/>
                      </a:solidFill>
                      <a:prstDash val="solid"/>
                    </a:lnB>
                    <a:solidFill>
                      <a:srgbClr val="EAEFEA"/>
                    </a:solidFill>
                  </a:tcPr>
                </a:tc>
              </a:tr>
            </a:tbl>
          </a:graphicData>
        </a:graphic>
      </p:graphicFrame>
      <p:sp>
        <p:nvSpPr>
          <p:cNvPr id="4" name="">
            <a:extLst xmlns:a="http://schemas.openxmlformats.org/drawingml/2006/main">
              <a:ext uri="{FF2B5EF4-FFF2-40B4-BE49-F238E27FC236}">
                <a16:creationId xmlns:a16="http://schemas.microsoft.com/office/drawing/2014/main" id="{669BB5AF-DB80-4A00-AC2E-DA08D52ECDCF}"/>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Cache sazba 0,30 USD / mil. tokenů je modelová. Investice musí zahrnout i práci lidí.</a:t>
            </a:r>
          </a:p>
        </p:txBody>
      </p:sp>
    </p:spTree>
    <p:extLst>
      <p:ext uri="{BB962C8B-B14F-4D97-AF65-F5344CB8AC3E}">
        <p14:creationId xmlns:p14="http://schemas.microsoft.com/office/powerpoint/2010/main" val="343190252"/>
      </p:ext>
    </p:extLst>
  </p:cSld>
</p:sld>
</file>

<file path=ppt/slides/slide2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14D356-D60B-4116-882A-75A583280184}"/>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22</a:t>
            </a:r>
          </a:p>
        </p:txBody>
      </p:sp>
      <p:sp>
        <p:nvSpPr>
          <p:cNvPr id="2" name="">
            <a:extLst xmlns:a="http://schemas.openxmlformats.org/drawingml/2006/main">
              <a:ext uri="{FF2B5EF4-FFF2-40B4-BE49-F238E27FC236}">
                <a16:creationId xmlns:a16="http://schemas.microsoft.com/office/drawing/2014/main" id="{1EC99B2F-5572-4BB8-B8CF-04E8EDF6A661}"/>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Ověření na implementačních úlohách</a:t>
            </a:r>
          </a:p>
        </p:txBody>
      </p:sp>
      <p:sp>
        <p:nvSpPr>
          <p:cNvPr id="3" name="">
            <a:extLst xmlns:a="http://schemas.openxmlformats.org/drawingml/2006/main">
              <a:ext uri="{FF2B5EF4-FFF2-40B4-BE49-F238E27FC236}">
                <a16:creationId xmlns:a16="http://schemas.microsoft.com/office/drawing/2014/main" id="{4203418D-2BC9-4AB0-8573-064274DBDF22}"/>
              </a:ext>
            </a:extLst>
          </p:cNvPr>
          <p:cNvSpPr>
            <a:spLocks xmlns:a="http://schemas.openxmlformats.org/drawingml/2006/main" noGrp="1"/>
          </p:cNvSpPr>
          <p:nvPr/>
        </p:nvSpPr>
        <p:spPr>
          <a:xfrm xmlns:a="http://schemas.openxmlformats.org/drawingml/2006/main">
            <a:off x="685800" y="1952625"/>
            <a:ext cx="533400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35"/>
                </a:solidFill>
                <a:latin typeface="DejaVu Sans"/>
                <a:ea typeface="DejaVu Sans"/>
                <a:cs typeface="DejaVu Sans"/>
              </a:defRPr>
            </a:defPPr>
          </a:lstStyle>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30–50 reprezentativních úkolů</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Stejný commit, model a pravidla</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Studený i aktualizovaný index</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Více opakování a zaslepené review</a:t>
            </a:r>
          </a:p>
        </p:txBody>
      </p:sp>
      <p:sp>
        <p:nvSpPr>
          <p:cNvPr id="4" name="">
            <a:extLst xmlns:a="http://schemas.openxmlformats.org/drawingml/2006/main">
              <a:ext uri="{FF2B5EF4-FFF2-40B4-BE49-F238E27FC236}">
                <a16:creationId xmlns:a16="http://schemas.microsoft.com/office/drawing/2014/main" id="{CBC06D10-D406-4F3E-90D4-FA7F1635526C}"/>
              </a:ext>
            </a:extLst>
          </p:cNvPr>
          <p:cNvSpPr>
            <a:spLocks xmlns:a="http://schemas.openxmlformats.org/drawingml/2006/main" noGrp="1"/>
          </p:cNvSpPr>
          <p:nvPr/>
        </p:nvSpPr>
        <p:spPr>
          <a:xfrm xmlns:a="http://schemas.openxmlformats.org/drawingml/2006/main">
            <a:off x="6724650" y="1952625"/>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D80"/>
                </a:solidFill>
                <a:latin typeface="DejaVu Sans"/>
                <a:ea typeface="DejaVu Sans"/>
                <a:cs typeface="DejaVu Sans"/>
              </a:defRPr>
            </a:defPPr>
          </a:lstStyle>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Hlavní metrika:</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celková cena za přijatou změnu</a:t>
            </a:r>
          </a:p>
        </p:txBody>
      </p:sp>
      <p:sp>
        <p:nvSpPr>
          <p:cNvPr id="5" name="">
            <a:extLst xmlns:a="http://schemas.openxmlformats.org/drawingml/2006/main">
              <a:ext uri="{FF2B5EF4-FFF2-40B4-BE49-F238E27FC236}">
                <a16:creationId xmlns:a16="http://schemas.microsoft.com/office/drawing/2014/main" id="{A7C410A1-C9A8-48DC-ADD7-03661CDFE154}"/>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Navíc: úspěšnost, čas, opravy, retrieval recall a podíl zastaralých důkazů.</a:t>
            </a:r>
          </a:p>
        </p:txBody>
      </p:sp>
    </p:spTree>
    <p:extLst>
      <p:ext uri="{BB962C8B-B14F-4D97-AF65-F5344CB8AC3E}">
        <p14:creationId xmlns:p14="http://schemas.microsoft.com/office/powerpoint/2010/main" val="1065128882"/>
      </p:ext>
    </p:extLst>
  </p:cSld>
</p:sld>
</file>

<file path=ppt/slides/slide23.xml><?xml version="1.0" encoding="utf-8"?>
<p:sld xmlns:p="http://schemas.openxmlformats.org/presentationml/2006/main">
  <p:cSld>
    <p:bg>
      <p:bgPr>
        <a:solidFill xmlns:a="http://schemas.openxmlformats.org/drawingml/2006/main">
          <a:srgbClr val="112B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5D455B-F72E-4437-A950-28A09E26F2A3}"/>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8BA5AA"/>
                </a:solidFill>
                <a:latin typeface="DejaVu Sans"/>
                <a:ea typeface="DejaVu Sans"/>
                <a:cs typeface="DejaVu Sans"/>
              </a:defRPr>
            </a:defPPr>
          </a:lstStyle>
          <a:p xmlns:a="http://schemas.openxmlformats.org/drawingml/2006/main">
            <a:pPr>
              <a:defRPr sz="1275" b="0">
                <a:solidFill>
                  <a:srgbClr val="8BA5AA"/>
                </a:solidFill>
                <a:latin typeface="DejaVu Sans"/>
                <a:ea typeface="DejaVu Sans"/>
                <a:cs typeface="DejaVu Sans"/>
              </a:defRPr>
            </a:pPr>
            <a:r>
              <a:rPr sz="1275" b="0">
                <a:solidFill>
                  <a:srgbClr val="8BA5AA"/>
                </a:solidFill>
                <a:latin typeface="DejaVu Sans"/>
                <a:ea typeface="DejaVu Sans"/>
                <a:cs typeface="DejaVu Sans"/>
              </a:rPr>
              <a:t>23</a:t>
            </a:r>
          </a:p>
        </p:txBody>
      </p:sp>
      <p:sp>
        <p:nvSpPr>
          <p:cNvPr id="2" name="">
            <a:extLst xmlns:a="http://schemas.openxmlformats.org/drawingml/2006/main">
              <a:ext uri="{FF2B5EF4-FFF2-40B4-BE49-F238E27FC236}">
                <a16:creationId xmlns:a16="http://schemas.microsoft.com/office/drawing/2014/main" id="{A52E01C6-1447-41BD-8AC5-4090299CD1D7}"/>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F7F5EF"/>
                </a:solidFill>
                <a:latin typeface="DejaVu Sans"/>
                <a:ea typeface="DejaVu Sans"/>
                <a:cs typeface="DejaVu Sans"/>
              </a:defRPr>
            </a:defPPr>
          </a:lstStyle>
          <a:p xmlns:a="http://schemas.openxmlformats.org/drawingml/2006/main">
            <a:pPr>
              <a:defRPr sz="3225" b="1">
                <a:solidFill>
                  <a:srgbClr val="F7F5EF"/>
                </a:solidFill>
                <a:latin typeface="DejaVu Sans"/>
                <a:ea typeface="DejaVu Sans"/>
                <a:cs typeface="DejaVu Sans"/>
              </a:defRPr>
            </a:pPr>
            <a:r>
              <a:rPr sz="3225" b="1">
                <a:solidFill>
                  <a:srgbClr val="F7F5EF"/>
                </a:solidFill>
                <a:latin typeface="DejaVu Sans"/>
                <a:ea typeface="DejaVu Sans"/>
                <a:cs typeface="DejaVu Sans"/>
              </a:rPr>
              <a:t>Doporučený postup pro tým</a:t>
            </a:r>
          </a:p>
        </p:txBody>
      </p:sp>
      <p:sp>
        <p:nvSpPr>
          <p:cNvPr id="3" name="">
            <a:extLst xmlns:a="http://schemas.openxmlformats.org/drawingml/2006/main">
              <a:ext uri="{FF2B5EF4-FFF2-40B4-BE49-F238E27FC236}">
                <a16:creationId xmlns:a16="http://schemas.microsoft.com/office/drawing/2014/main" id="{F703827C-E0E3-4594-8468-0CC989265DEB}"/>
              </a:ext>
            </a:extLst>
          </p:cNvPr>
          <p:cNvSpPr>
            <a:spLocks xmlns:a="http://schemas.openxmlformats.org/drawingml/2006/main" noGrp="1"/>
          </p:cNvSpPr>
          <p:nvPr/>
        </p:nvSpPr>
        <p:spPr>
          <a:xfrm xmlns:a="http://schemas.openxmlformats.org/drawingml/2006/main">
            <a:off x="685800" y="1952625"/>
            <a:ext cx="533400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F7F5EF"/>
                </a:solidFill>
                <a:latin typeface="DejaVu Sans"/>
                <a:ea typeface="DejaVu Sans"/>
                <a:cs typeface="DejaVu Sans"/>
              </a:defRPr>
            </a:defPPr>
          </a:lstStyle>
          <a:p xmlns:a="http://schemas.openxmlformats.org/drawingml/2006/main">
            <a:pPr>
              <a:defRPr sz="2025" b="0">
                <a:solidFill>
                  <a:srgbClr val="F7F5EF"/>
                </a:solidFill>
                <a:latin typeface="DejaVu Sans"/>
                <a:ea typeface="DejaVu Sans"/>
                <a:cs typeface="DejaVu Sans"/>
              </a:defRPr>
            </a:pPr>
            <a:r>
              <a:rPr sz="2025" b="0">
                <a:solidFill>
                  <a:srgbClr val="F7F5EF"/>
                </a:solidFill>
                <a:latin typeface="DejaVu Sans"/>
                <a:ea typeface="DejaVu Sans"/>
                <a:cs typeface="DejaVu Sans"/>
              </a:rPr>
              <a:t>1  Symboly, metadata a měření baseline</a:t>
            </a:r>
          </a:p>
          <a:p xmlns:a="http://schemas.openxmlformats.org/drawingml/2006/main">
            <a:r>
              <a:t/>
            </a:r>
          </a:p>
          <a:p xmlns:a="http://schemas.openxmlformats.org/drawingml/2006/main">
            <a:pPr>
              <a:defRPr sz="2025" b="0">
                <a:solidFill>
                  <a:srgbClr val="F7F5EF"/>
                </a:solidFill>
                <a:latin typeface="DejaVu Sans"/>
                <a:ea typeface="DejaVu Sans"/>
                <a:cs typeface="DejaVu Sans"/>
              </a:defRPr>
            </a:pPr>
            <a:r>
              <a:rPr sz="2025" b="0">
                <a:solidFill>
                  <a:srgbClr val="F7F5EF"/>
                </a:solidFill>
                <a:latin typeface="DejaVu Sans"/>
                <a:ea typeface="DejaVu Sans"/>
                <a:cs typeface="DejaVu Sans"/>
              </a:rPr>
              <a:t>2  Fulltext + vektory pro ADR a dokumenty</a:t>
            </a:r>
          </a:p>
          <a:p xmlns:a="http://schemas.openxmlformats.org/drawingml/2006/main">
            <a:r>
              <a:t/>
            </a:r>
          </a:p>
          <a:p xmlns:a="http://schemas.openxmlformats.org/drawingml/2006/main">
            <a:pPr>
              <a:defRPr sz="2025" b="0">
                <a:solidFill>
                  <a:srgbClr val="F7F5EF"/>
                </a:solidFill>
                <a:latin typeface="DejaVu Sans"/>
                <a:ea typeface="DejaVu Sans"/>
                <a:cs typeface="DejaVu Sans"/>
              </a:defRPr>
            </a:pPr>
            <a:r>
              <a:rPr sz="2025" b="0">
                <a:solidFill>
                  <a:srgbClr val="F7F5EF"/>
                </a:solidFill>
                <a:latin typeface="DejaVu Sans"/>
                <a:ea typeface="DejaVu Sans"/>
                <a:cs typeface="DejaVu Sans"/>
              </a:rPr>
              <a:t>3  Typované hrany pro dopady změn</a:t>
            </a:r>
          </a:p>
          <a:p xmlns:a="http://schemas.openxmlformats.org/drawingml/2006/main">
            <a:r>
              <a:t/>
            </a:r>
          </a:p>
          <a:p xmlns:a="http://schemas.openxmlformats.org/drawingml/2006/main">
            <a:pPr>
              <a:defRPr sz="2025" b="0">
                <a:solidFill>
                  <a:srgbClr val="F7F5EF"/>
                </a:solidFill>
                <a:latin typeface="DejaVu Sans"/>
                <a:ea typeface="DejaVu Sans"/>
                <a:cs typeface="DejaVu Sans"/>
              </a:defRPr>
            </a:pPr>
            <a:r>
              <a:rPr sz="2025" b="0">
                <a:solidFill>
                  <a:srgbClr val="F7F5EF"/>
                </a:solidFill>
                <a:latin typeface="DejaVu Sans"/>
                <a:ea typeface="DejaVu Sans"/>
                <a:cs typeface="DejaVu Sans"/>
              </a:rPr>
              <a:t>4  Časová paměť pro dlouhé workflow</a:t>
            </a:r>
          </a:p>
        </p:txBody>
      </p:sp>
      <p:sp>
        <p:nvSpPr>
          <p:cNvPr id="4" name="">
            <a:extLst xmlns:a="http://schemas.openxmlformats.org/drawingml/2006/main">
              <a:ext uri="{FF2B5EF4-FFF2-40B4-BE49-F238E27FC236}">
                <a16:creationId xmlns:a16="http://schemas.microsoft.com/office/drawing/2014/main" id="{4F52DF3E-9790-46E4-AED9-47CA7C9ADFE4}"/>
              </a:ext>
            </a:extLst>
          </p:cNvPr>
          <p:cNvSpPr>
            <a:spLocks xmlns:a="http://schemas.openxmlformats.org/drawingml/2006/main" noGrp="1"/>
          </p:cNvSpPr>
          <p:nvPr/>
        </p:nvSpPr>
        <p:spPr>
          <a:xfrm xmlns:a="http://schemas.openxmlformats.org/drawingml/2006/main">
            <a:off x="6724650" y="1952625"/>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62D3C8"/>
                </a:solidFill>
                <a:latin typeface="DejaVu Sans"/>
                <a:ea typeface="DejaVu Sans"/>
                <a:cs typeface="DejaVu Sans"/>
              </a:defRPr>
            </a:defPPr>
          </a:lstStyle>
          <a:p xmlns:a="http://schemas.openxmlformats.org/drawingml/2006/main">
            <a:pPr>
              <a:defRPr sz="2400" b="1">
                <a:solidFill>
                  <a:srgbClr val="62D3C8"/>
                </a:solidFill>
                <a:latin typeface="DejaVu Sans"/>
                <a:ea typeface="DejaVu Sans"/>
                <a:cs typeface="DejaVu Sans"/>
              </a:defRPr>
            </a:pPr>
            <a:r>
              <a:rPr sz="2400" b="1">
                <a:solidFill>
                  <a:srgbClr val="62D3C8"/>
                </a:solidFill>
                <a:latin typeface="DejaVu Sans"/>
                <a:ea typeface="DejaVu Sans"/>
                <a:cs typeface="DejaVu Sans"/>
              </a:rPr>
              <a:t>Přidat další vrstvu až tehdy,</a:t>
            </a:r>
          </a:p>
          <a:p xmlns:a="http://schemas.openxmlformats.org/drawingml/2006/main">
            <a:pPr>
              <a:defRPr sz="2400" b="1">
                <a:solidFill>
                  <a:srgbClr val="62D3C8"/>
                </a:solidFill>
                <a:latin typeface="DejaVu Sans"/>
                <a:ea typeface="DejaVu Sans"/>
                <a:cs typeface="DejaVu Sans"/>
              </a:defRPr>
            </a:pPr>
            <a:r>
              <a:rPr sz="2400" b="1">
                <a:solidFill>
                  <a:srgbClr val="62D3C8"/>
                </a:solidFill>
                <a:latin typeface="DejaVu Sans"/>
                <a:ea typeface="DejaVu Sans"/>
                <a:cs typeface="DejaVu Sans"/>
              </a:rPr>
              <a:t>když řeší konkrétní měřenou ztrátu.</a:t>
            </a:r>
          </a:p>
        </p:txBody>
      </p:sp>
      <p:sp>
        <p:nvSpPr>
          <p:cNvPr id="5" name="">
            <a:extLst xmlns:a="http://schemas.openxmlformats.org/drawingml/2006/main">
              <a:ext uri="{FF2B5EF4-FFF2-40B4-BE49-F238E27FC236}">
                <a16:creationId xmlns:a16="http://schemas.microsoft.com/office/drawing/2014/main" id="{757D74D7-473E-41C8-8B04-BB55E4840D82}"/>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8CDCB"/>
                </a:solidFill>
                <a:latin typeface="DejaVu Sans"/>
                <a:ea typeface="DejaVu Sans"/>
                <a:cs typeface="DejaVu Sans"/>
              </a:defRPr>
            </a:defPPr>
          </a:lstStyle>
          <a:p xmlns:a="http://schemas.openxmlformats.org/drawingml/2006/main">
            <a:pPr>
              <a:defRPr sz="1350" b="0">
                <a:solidFill>
                  <a:srgbClr val="B8CDCB"/>
                </a:solidFill>
                <a:latin typeface="DejaVu Sans"/>
                <a:ea typeface="DejaVu Sans"/>
                <a:cs typeface="DejaVu Sans"/>
              </a:defRPr>
            </a:pPr>
            <a:r>
              <a:rPr sz="1350" b="0">
                <a:solidFill>
                  <a:srgbClr val="B8CDCB"/>
                </a:solidFill>
                <a:latin typeface="DejaVu Sans"/>
                <a:ea typeface="DejaVu Sans"/>
                <a:cs typeface="DejaVu Sans"/>
              </a:rPr>
              <a:t>Výklad 28 minut. Diskuse 2 minuty: kde dnes agent opakovaně objevuje stejné informace?</a:t>
            </a:r>
          </a:p>
        </p:txBody>
      </p:sp>
    </p:spTree>
    <p:extLst>
      <p:ext uri="{BB962C8B-B14F-4D97-AF65-F5344CB8AC3E}">
        <p14:creationId xmlns:p14="http://schemas.microsoft.com/office/powerpoint/2010/main" val="1187625690"/>
      </p:ext>
    </p:extLst>
  </p:cSld>
</p:sld>
</file>

<file path=ppt/slides/slide2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AE6CA5-5643-4581-85C0-0D8CA64F3CB1}"/>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24</a:t>
            </a:r>
          </a:p>
        </p:txBody>
      </p:sp>
      <p:sp>
        <p:nvSpPr>
          <p:cNvPr id="2" name="">
            <a:extLst xmlns:a="http://schemas.openxmlformats.org/drawingml/2006/main">
              <a:ext uri="{FF2B5EF4-FFF2-40B4-BE49-F238E27FC236}">
                <a16:creationId xmlns:a16="http://schemas.microsoft.com/office/drawing/2014/main" id="{CF45547C-D7C7-426B-A644-DA8AA6A82518}"/>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Příloha: návrh minimálního záznamu</a:t>
            </a:r>
          </a:p>
        </p:txBody>
      </p:sp>
      <p:graphicFrame>
        <p:nvGraphicFramePr>
          <p:cNvPr id="3" name="">
            <a:extLst xmlns:a="http://schemas.openxmlformats.org/drawingml/2006/main">
              <a:ext uri="{FF2B5EF4-FFF2-40B4-BE49-F238E27FC236}">
                <a16:creationId xmlns:a16="http://schemas.microsoft.com/office/drawing/2014/main" id="{09496337-73AB-4297-87F5-890B93AAB95A}"/>
              </a:ext>
            </a:extLst>
          </p:cNvPr>
          <p:cNvGraphicFramePr/>
          <p:nvPr/>
        </p:nvGraphicFramePr>
        <p:xfrm>
          <a:off xmlns:a="http://schemas.openxmlformats.org/drawingml/2006/main" x="685800" y="1752600"/>
          <a:ext xmlns:a="http://schemas.openxmlformats.org/drawingml/2006/main" cx="10820400" cy="3905250"/>
        </p:xfrm>
        <a:graphic xmlns:a="http://schemas.openxmlformats.org/drawingml/2006/main">
          <a:graphicData uri="http://schemas.openxmlformats.org/drawingml/2006/table">
            <a:tbl>
              <a:tblPr/>
              <a:tblGrid>
                <a:gridCol w="3905250"/>
                <a:gridCol w="6915150"/>
              </a:tblGrid>
              <a:tr h="650875">
                <a:tc>
                  <a:txBody>
                    <a:bodyPr/>
                    <a:lstStyle/>
                    <a:p>
                      <a:r>
                        <a:rPr sz="1725" b="1">
                          <a:solidFill>
                            <a:srgbClr val="F7F5EF"/>
                          </a:solidFill>
                          <a:latin typeface="DejaVu Sans"/>
                          <a:ea typeface="DejaVu Sans"/>
                          <a:cs typeface="DejaVu Sans"/>
                        </a:rPr>
                        <a:t>Pole</a:t>
                      </a:r>
                    </a:p>
                  </a:txBody>
                  <a:tcPr marL="91440" marR="91440" marT="45720" marB="45720">
                    <a:lnL w="9525">
                      <a:solidFill>
                        <a:srgbClr val="D9DEDA"/>
                      </a:solidFill>
                      <a:prstDash val="solid"/>
                    </a:lnL>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c>
                  <a:txBody>
                    <a:bodyPr/>
                    <a:lstStyle/>
                    <a:p>
                      <a:r>
                        <a:rPr sz="1725" b="1">
                          <a:solidFill>
                            <a:srgbClr val="F7F5EF"/>
                          </a:solidFill>
                          <a:latin typeface="DejaVu Sans"/>
                          <a:ea typeface="DejaVu Sans"/>
                          <a:cs typeface="DejaVu Sans"/>
                        </a:rPr>
                        <a:t>Příklad</a:t>
                      </a:r>
                    </a:p>
                  </a:txBody>
                  <a:tcPr marL="91440" marR="91440" marT="45720" marB="45720">
                    <a:lnR w="9525">
                      <a:solidFill>
                        <a:srgbClr val="D9DEDA"/>
                      </a:solidFill>
                      <a:prstDash val="solid"/>
                    </a:lnR>
                    <a:lnT w="9525">
                      <a:solidFill>
                        <a:srgbClr val="D9DEDA"/>
                      </a:solidFill>
                      <a:prstDash val="solid"/>
                    </a:lnT>
                    <a:lnB w="9525">
                      <a:solidFill>
                        <a:srgbClr val="D9DEDA"/>
                      </a:solidFill>
                      <a:prstDash val="solid"/>
                    </a:lnB>
                    <a:solidFill>
                      <a:srgbClr val="112B35"/>
                    </a:solidFill>
                  </a:tcPr>
                </a:tc>
              </a:tr>
              <a:tr h="650875">
                <a:tc>
                  <a:txBody>
                    <a:bodyPr/>
                    <a:lstStyle/>
                    <a:p>
                      <a:r>
                        <a:rPr sz="1725" b="0">
                          <a:solidFill>
                            <a:srgbClr val="142B35"/>
                          </a:solidFill>
                          <a:latin typeface="DejaVu Sans"/>
                          <a:ea typeface="DejaVu Sans"/>
                          <a:cs typeface="DejaVu Sans"/>
                        </a:rPr>
                        <a:t>identity</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repo + commit + symbol_id</a:t>
                      </a:r>
                    </a:p>
                  </a:txBody>
                  <a:tcPr marL="91440" marR="91440" marT="45720" marB="45720">
                    <a:lnR w="9525">
                      <a:solidFill>
                        <a:srgbClr val="D9DEDA"/>
                      </a:solidFill>
                      <a:prstDash val="solid"/>
                    </a:lnR>
                    <a:lnB w="9525">
                      <a:solidFill>
                        <a:srgbClr val="D9DEDA"/>
                      </a:solidFill>
                      <a:prstDash val="solid"/>
                    </a:lnB>
                    <a:solidFill>
                      <a:srgbClr val="FFFFFF"/>
                    </a:solidFill>
                  </a:tcPr>
                </a:tc>
              </a:tr>
              <a:tr h="650875">
                <a:tc>
                  <a:txBody>
                    <a:bodyPr/>
                    <a:lstStyle/>
                    <a:p>
                      <a:r>
                        <a:rPr sz="1725" b="0">
                          <a:solidFill>
                            <a:srgbClr val="142B35"/>
                          </a:solidFill>
                          <a:latin typeface="DejaVu Sans"/>
                          <a:ea typeface="DejaVu Sans"/>
                          <a:cs typeface="DejaVu Sans"/>
                        </a:rPr>
                        <a:t>classification</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production / test / config / generated</a:t>
                      </a:r>
                    </a:p>
                  </a:txBody>
                  <a:tcPr marL="91440" marR="91440" marT="45720" marB="45720">
                    <a:lnR w="9525">
                      <a:solidFill>
                        <a:srgbClr val="D9DEDA"/>
                      </a:solidFill>
                      <a:prstDash val="solid"/>
                    </a:lnR>
                    <a:lnB w="9525">
                      <a:solidFill>
                        <a:srgbClr val="D9DEDA"/>
                      </a:solidFill>
                      <a:prstDash val="solid"/>
                    </a:lnB>
                    <a:solidFill>
                      <a:srgbClr val="EAEFEA"/>
                    </a:solidFill>
                  </a:tcPr>
                </a:tc>
              </a:tr>
              <a:tr h="650875">
                <a:tc>
                  <a:txBody>
                    <a:bodyPr/>
                    <a:lstStyle/>
                    <a:p>
                      <a:r>
                        <a:rPr sz="1725" b="0">
                          <a:solidFill>
                            <a:srgbClr val="142B35"/>
                          </a:solidFill>
                          <a:latin typeface="DejaVu Sans"/>
                          <a:ea typeface="DejaVu Sans"/>
                          <a:cs typeface="DejaVu Sans"/>
                        </a:rPr>
                        <a:t>evidence</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path + řádky + content_hash + extractor</a:t>
                      </a:r>
                    </a:p>
                  </a:txBody>
                  <a:tcPr marL="91440" marR="91440" marT="45720" marB="45720">
                    <a:lnR w="9525">
                      <a:solidFill>
                        <a:srgbClr val="D9DEDA"/>
                      </a:solidFill>
                      <a:prstDash val="solid"/>
                    </a:lnR>
                    <a:lnB w="9525">
                      <a:solidFill>
                        <a:srgbClr val="D9DEDA"/>
                      </a:solidFill>
                      <a:prstDash val="solid"/>
                    </a:lnB>
                    <a:solidFill>
                      <a:srgbClr val="FFFFFF"/>
                    </a:solidFill>
                  </a:tcPr>
                </a:tc>
              </a:tr>
              <a:tr h="650875">
                <a:tc>
                  <a:txBody>
                    <a:bodyPr/>
                    <a:lstStyle/>
                    <a:p>
                      <a:r>
                        <a:rPr sz="1725" b="0">
                          <a:solidFill>
                            <a:srgbClr val="142B35"/>
                          </a:solidFill>
                          <a:latin typeface="DejaVu Sans"/>
                          <a:ea typeface="DejaVu Sans"/>
                          <a:cs typeface="DejaVu Sans"/>
                        </a:rPr>
                        <a:t>relation</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EAEFEA"/>
                    </a:solidFill>
                  </a:tcPr>
                </a:tc>
                <a:tc>
                  <a:txBody>
                    <a:bodyPr/>
                    <a:lstStyle/>
                    <a:p>
                      <a:r>
                        <a:rPr sz="1725" b="0">
                          <a:solidFill>
                            <a:srgbClr val="142B35"/>
                          </a:solidFill>
                          <a:latin typeface="DejaVu Sans"/>
                          <a:ea typeface="DejaVu Sans"/>
                          <a:cs typeface="DejaVu Sans"/>
                        </a:rPr>
                        <a:t>calls / maps_to / alters / supersedes</a:t>
                      </a:r>
                    </a:p>
                  </a:txBody>
                  <a:tcPr marL="91440" marR="91440" marT="45720" marB="45720">
                    <a:lnR w="9525">
                      <a:solidFill>
                        <a:srgbClr val="D9DEDA"/>
                      </a:solidFill>
                      <a:prstDash val="solid"/>
                    </a:lnR>
                    <a:lnB w="9525">
                      <a:solidFill>
                        <a:srgbClr val="D9DEDA"/>
                      </a:solidFill>
                      <a:prstDash val="solid"/>
                    </a:lnB>
                    <a:solidFill>
                      <a:srgbClr val="EAEFEA"/>
                    </a:solidFill>
                  </a:tcPr>
                </a:tc>
              </a:tr>
              <a:tr h="650875">
                <a:tc>
                  <a:txBody>
                    <a:bodyPr/>
                    <a:lstStyle/>
                    <a:p>
                      <a:r>
                        <a:rPr sz="1725" b="0">
                          <a:solidFill>
                            <a:srgbClr val="142B35"/>
                          </a:solidFill>
                          <a:latin typeface="DejaVu Sans"/>
                          <a:ea typeface="DejaVu Sans"/>
                          <a:cs typeface="DejaVu Sans"/>
                        </a:rPr>
                        <a:t>validity</a:t>
                      </a:r>
                    </a:p>
                  </a:txBody>
                  <a:tcPr marL="91440" marR="91440" marT="45720" marB="45720">
                    <a:lnL w="9525">
                      <a:solidFill>
                        <a:srgbClr val="D9DEDA"/>
                      </a:solidFill>
                      <a:prstDash val="solid"/>
                    </a:lnL>
                    <a:lnR w="9525">
                      <a:solidFill>
                        <a:srgbClr val="D9DEDA"/>
                      </a:solidFill>
                      <a:prstDash val="solid"/>
                    </a:lnR>
                    <a:lnB w="9525">
                      <a:solidFill>
                        <a:srgbClr val="D9DEDA"/>
                      </a:solidFill>
                      <a:prstDash val="solid"/>
                    </a:lnB>
                    <a:solidFill>
                      <a:srgbClr val="FFFFFF"/>
                    </a:solidFill>
                  </a:tcPr>
                </a:tc>
                <a:tc>
                  <a:txBody>
                    <a:bodyPr/>
                    <a:lstStyle/>
                    <a:p>
                      <a:r>
                        <a:rPr sz="1725" b="0">
                          <a:solidFill>
                            <a:srgbClr val="142B35"/>
                          </a:solidFill>
                          <a:latin typeface="DejaVu Sans"/>
                          <a:ea typeface="DejaVu Sans"/>
                          <a:cs typeface="DejaVu Sans"/>
                        </a:rPr>
                        <a:t>valid_from + valid_to + resolution_status</a:t>
                      </a:r>
                    </a:p>
                  </a:txBody>
                  <a:tcPr marL="91440" marR="91440" marT="45720" marB="45720">
                    <a:lnR w="9525">
                      <a:solidFill>
                        <a:srgbClr val="D9DEDA"/>
                      </a:solidFill>
                      <a:prstDash val="solid"/>
                    </a:lnR>
                    <a:lnB w="9525">
                      <a:solidFill>
                        <a:srgbClr val="D9DE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D679799-E0D1-4DEB-8C67-8F43C61D6A0C}"/>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Návrh schématu. Nejde o existující API konkrétního nástroje.</a:t>
            </a:r>
          </a:p>
        </p:txBody>
      </p:sp>
    </p:spTree>
    <p:extLst>
      <p:ext uri="{BB962C8B-B14F-4D97-AF65-F5344CB8AC3E}">
        <p14:creationId xmlns:p14="http://schemas.microsoft.com/office/powerpoint/2010/main" val="553985457"/>
      </p:ext>
    </p:extLst>
  </p:cSld>
</p:sld>
</file>

<file path=ppt/slides/slide2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6D3961-6B70-4516-A75E-AAA5A5640990}"/>
              </a:ext>
            </a:extLst>
          </p:cNvPr>
          <p:cNvSpPr>
            <a:spLocks xmlns:a="http://schemas.openxmlformats.org/drawingml/2006/main" noGrp="1"/>
          </p:cNvSpPr>
          <p:nvPr/>
        </p:nvSpPr>
        <p:spPr>
          <a:xfrm xmlns:a="http://schemas.openxmlformats.org/drawingml/2006/main">
            <a:off x="11144250" y="62293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52666C"/>
                </a:solidFill>
                <a:latin typeface="DejaVu Sans"/>
                <a:ea typeface="DejaVu Sans"/>
                <a:cs typeface="DejaVu Sans"/>
              </a:defRPr>
            </a:defPPr>
          </a:lstStyle>
          <a:p xmlns:a="http://schemas.openxmlformats.org/drawingml/2006/main">
            <a:pPr>
              <a:defRPr sz="1275" b="0">
                <a:solidFill>
                  <a:srgbClr val="52666C"/>
                </a:solidFill>
                <a:latin typeface="DejaVu Sans"/>
                <a:ea typeface="DejaVu Sans"/>
                <a:cs typeface="DejaVu Sans"/>
              </a:defRPr>
            </a:pPr>
            <a:r>
              <a:rPr sz="1275" b="0">
                <a:solidFill>
                  <a:srgbClr val="52666C"/>
                </a:solidFill>
                <a:latin typeface="DejaVu Sans"/>
                <a:ea typeface="DejaVu Sans"/>
                <a:cs typeface="DejaVu Sans"/>
              </a:rPr>
              <a:t>25</a:t>
            </a:r>
          </a:p>
        </p:txBody>
      </p:sp>
      <p:sp>
        <p:nvSpPr>
          <p:cNvPr id="2" name="">
            <a:extLst xmlns:a="http://schemas.openxmlformats.org/drawingml/2006/main">
              <a:ext uri="{FF2B5EF4-FFF2-40B4-BE49-F238E27FC236}">
                <a16:creationId xmlns:a16="http://schemas.microsoft.com/office/drawing/2014/main" id="{E198EEE4-45E0-427E-90E6-1097F4114A71}"/>
              </a:ext>
            </a:extLst>
          </p:cNvPr>
          <p:cNvSpPr>
            <a:spLocks xmlns:a="http://schemas.openxmlformats.org/drawingml/2006/main" noGrp="1"/>
          </p:cNvSpPr>
          <p:nvPr/>
        </p:nvSpPr>
        <p:spPr>
          <a:xfrm xmlns:a="http://schemas.openxmlformats.org/drawingml/2006/main">
            <a:off x="685800" y="5143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42B35"/>
                </a:solidFill>
                <a:latin typeface="DejaVu Sans"/>
                <a:ea typeface="DejaVu Sans"/>
                <a:cs typeface="DejaVu Sans"/>
              </a:defRPr>
            </a:defPPr>
          </a:lstStyle>
          <a:p xmlns:a="http://schemas.openxmlformats.org/drawingml/2006/main">
            <a:pPr>
              <a:defRPr sz="3225" b="1">
                <a:solidFill>
                  <a:srgbClr val="142B35"/>
                </a:solidFill>
                <a:latin typeface="DejaVu Sans"/>
                <a:ea typeface="DejaVu Sans"/>
                <a:cs typeface="DejaVu Sans"/>
              </a:defRPr>
            </a:pPr>
            <a:r>
              <a:rPr sz="3225" b="1">
                <a:solidFill>
                  <a:srgbClr val="142B35"/>
                </a:solidFill>
                <a:latin typeface="DejaVu Sans"/>
                <a:ea typeface="DejaVu Sans"/>
                <a:cs typeface="DejaVu Sans"/>
              </a:rPr>
              <a:t>Příloha: zdroje a metodika</a:t>
            </a:r>
          </a:p>
        </p:txBody>
      </p:sp>
      <p:sp>
        <p:nvSpPr>
          <p:cNvPr id="3" name="">
            <a:extLst xmlns:a="http://schemas.openxmlformats.org/drawingml/2006/main">
              <a:ext uri="{FF2B5EF4-FFF2-40B4-BE49-F238E27FC236}">
                <a16:creationId xmlns:a16="http://schemas.microsoft.com/office/drawing/2014/main" id="{75343B7D-36EA-4111-8CCB-D8CA28B69445}"/>
              </a:ext>
            </a:extLst>
          </p:cNvPr>
          <p:cNvSpPr>
            <a:spLocks xmlns:a="http://schemas.openxmlformats.org/drawingml/2006/main" noGrp="1"/>
          </p:cNvSpPr>
          <p:nvPr/>
        </p:nvSpPr>
        <p:spPr>
          <a:xfrm xmlns:a="http://schemas.openxmlformats.org/drawingml/2006/main">
            <a:off x="685800" y="1952625"/>
            <a:ext cx="533400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35"/>
                </a:solidFill>
                <a:latin typeface="DejaVu Sans"/>
                <a:ea typeface="DejaVu Sans"/>
                <a:cs typeface="DejaVu Sans"/>
              </a:defRPr>
            </a:defPPr>
          </a:lstStyle>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Graphify-Labs/graphify · README</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Aider · Repository map</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Microsoft GraphRAG · Query overview</a:t>
            </a:r>
          </a:p>
          <a:p xmlns:a="http://schemas.openxmlformats.org/drawingml/2006/main">
            <a:r>
              <a:t/>
            </a:r>
          </a:p>
          <a:p xmlns:a="http://schemas.openxmlformats.org/drawingml/2006/main">
            <a:pPr>
              <a:defRPr sz="2025" b="0">
                <a:solidFill>
                  <a:srgbClr val="142B35"/>
                </a:solidFill>
                <a:latin typeface="DejaVu Sans"/>
                <a:ea typeface="DejaVu Sans"/>
                <a:cs typeface="DejaVu Sans"/>
              </a:defRPr>
            </a:pPr>
            <a:r>
              <a:rPr sz="2025" b="0">
                <a:solidFill>
                  <a:srgbClr val="142B35"/>
                </a:solidFill>
                <a:latin typeface="DejaVu Sans"/>
                <a:ea typeface="DejaVu Sans"/>
                <a:cs typeface="DejaVu Sans"/>
              </a:rPr>
              <a:t>getzep/graphiti · README</a:t>
            </a:r>
          </a:p>
        </p:txBody>
      </p:sp>
      <p:sp>
        <p:nvSpPr>
          <p:cNvPr id="4" name="">
            <a:extLst xmlns:a="http://schemas.openxmlformats.org/drawingml/2006/main">
              <a:ext uri="{FF2B5EF4-FFF2-40B4-BE49-F238E27FC236}">
                <a16:creationId xmlns:a16="http://schemas.microsoft.com/office/drawing/2014/main" id="{713F9E1A-3904-420E-A476-655BAE362BA9}"/>
              </a:ext>
            </a:extLst>
          </p:cNvPr>
          <p:cNvSpPr>
            <a:spLocks xmlns:a="http://schemas.openxmlformats.org/drawingml/2006/main" noGrp="1"/>
          </p:cNvSpPr>
          <p:nvPr/>
        </p:nvSpPr>
        <p:spPr>
          <a:xfrm xmlns:a="http://schemas.openxmlformats.org/drawingml/2006/main">
            <a:off x="6724650" y="1952625"/>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D80"/>
                </a:solidFill>
                <a:latin typeface="DejaVu Sans"/>
                <a:ea typeface="DejaVu Sans"/>
                <a:cs typeface="DejaVu Sans"/>
              </a:defRPr>
            </a:defPPr>
          </a:lstStyle>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pgvector · README</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Qdrant · Hybrid queries</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LangChain · Memory overview</a:t>
            </a:r>
          </a:p>
          <a:p xmlns:a="http://schemas.openxmlformats.org/drawingml/2006/main">
            <a:pPr>
              <a:defRPr sz="2400" b="1">
                <a:solidFill>
                  <a:srgbClr val="087D80"/>
                </a:solidFill>
                <a:latin typeface="DejaVu Sans"/>
                <a:ea typeface="DejaVu Sans"/>
                <a:cs typeface="DejaVu Sans"/>
              </a:defRPr>
            </a:pPr>
            <a:r>
              <a:rPr sz="2400" b="1">
                <a:solidFill>
                  <a:srgbClr val="087D80"/>
                </a:solidFill>
                <a:latin typeface="DejaVu Sans"/>
                <a:ea typeface="DejaVu Sans"/>
                <a:cs typeface="DejaVu Sans"/>
              </a:rPr>
              <a:t>Mem0 · arXiv:2504.19413</a:t>
            </a:r>
          </a:p>
        </p:txBody>
      </p:sp>
      <p:sp>
        <p:nvSpPr>
          <p:cNvPr id="5" name="">
            <a:extLst xmlns:a="http://schemas.openxmlformats.org/drawingml/2006/main">
              <a:ext uri="{FF2B5EF4-FFF2-40B4-BE49-F238E27FC236}">
                <a16:creationId xmlns:a16="http://schemas.microsoft.com/office/drawing/2014/main" id="{5574DEE4-5686-46E1-96D8-B1EA003898A1}"/>
              </a:ext>
            </a:extLst>
          </p:cNvPr>
          <p:cNvSpPr>
            <a:spLocks xmlns:a="http://schemas.openxmlformats.org/drawingml/2006/main" noGrp="1"/>
          </p:cNvSpPr>
          <p:nvPr/>
        </p:nvSpPr>
        <p:spPr>
          <a:xfrm xmlns:a="http://schemas.openxmlformats.org/drawingml/2006/main">
            <a:off x="685800" y="5819775"/>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2666C"/>
                </a:solidFill>
                <a:latin typeface="DejaVu Sans"/>
                <a:ea typeface="DejaVu Sans"/>
                <a:cs typeface="DejaVu Sans"/>
              </a:defRPr>
            </a:defPPr>
          </a:lstStyle>
          <a:p xmlns:a="http://schemas.openxmlformats.org/drawingml/2006/main">
            <a:pPr>
              <a:defRPr sz="1350" b="0">
                <a:solidFill>
                  <a:srgbClr val="52666C"/>
                </a:solidFill>
                <a:latin typeface="DejaVu Sans"/>
                <a:ea typeface="DejaVu Sans"/>
                <a:cs typeface="DejaVu Sans"/>
              </a:defRPr>
            </a:pPr>
            <a:r>
              <a:rPr sz="1350" b="0">
                <a:solidFill>
                  <a:srgbClr val="52666C"/>
                </a:solidFill>
                <a:latin typeface="DejaVu Sans"/>
                <a:ea typeface="DejaVu Sans"/>
                <a:cs typeface="DejaVu Sans"/>
              </a:rPr>
              <a:t>Zdroje ověřeny 13. 10. 2026. Přímé odkazy jsou v poznámkách příslušných snímků.</a:t>
            </a:r>
          </a:p>
        </p:txBody>
      </p:sp>
    </p:spTree>
    <p:extLst>
      <p:ext uri="{BB962C8B-B14F-4D97-AF65-F5344CB8AC3E}">
        <p14:creationId xmlns:p14="http://schemas.microsoft.com/office/powerpoint/2010/main" val="18572531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2026-10-13T13:04:08.4850000Z</dcterms:created>
  <dcterms:modified xsi:type="dcterms:W3CDTF">2026-10-13T13:04:08.4850000Z</dcterms:modified>
</coreProperties>
</file>